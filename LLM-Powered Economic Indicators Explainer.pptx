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166638"/>
            <a:ext cx="6449244" cy="68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4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154162"/>
            <a:ext cx="10769600" cy="489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166638"/>
            <a:ext cx="6449244" cy="68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4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154162"/>
            <a:ext cx="10769600" cy="489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905000"/>
            <a:ext cx="88900" cy="3048000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206500" y="2632472"/>
            <a:ext cx="10985500" cy="6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LLM-Powered Economic Indicators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06500" y="3468638"/>
            <a:ext cx="1047788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indicators of the business cycle, built from earnings-call language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6500" y="3976638"/>
            <a:ext cx="1047788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209,000 transcripts from 22,000 US firms, 2010 to 2026. Every one is read and recorded by an LLM.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0" y="0"/>
            <a:ext cx="12192000" cy="1016000"/>
          </a:xfrm>
          <a:prstGeom prst="rect">
            <a:avLst/>
          </a:prstGeom>
          <a:noFill/>
          <a:ln/>
        </p:spPr>
        <p:txBody>
          <a:bodyPr wrap="square" lIns="609600" tIns="0" rIns="4228783" bIns="0" rtlCol="0" anchor="ctr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2400" b="1" i="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problem:</a:t>
            </a:r>
            <a:endParaRPr lang="en-US" sz="2400" dirty="0"/>
          </a:p>
          <a:p>
            <a:pPr algn="l" indent="0" marL="0">
              <a:lnSpc>
                <a:spcPts val="2688"/>
              </a:lnSpc>
              <a:buNone/>
            </a:pPr>
            <a:r>
              <a:rPr lang="en-US" sz="2400" b="1" i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it all by hand would take ~70 intern-years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2775" y="1247775"/>
            <a:ext cx="2385864" cy="155823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5950" y="1250950"/>
            <a:ext cx="2379514" cy="508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6" name="Text 4"/>
          <p:cNvSpPr/>
          <p:nvPr/>
        </p:nvSpPr>
        <p:spPr>
          <a:xfrm>
            <a:off x="793750" y="1454150"/>
            <a:ext cx="20846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93750" y="1885950"/>
            <a:ext cx="2084631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call transcripts, 22,000 firms, 2010 to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214" y="1831330"/>
            <a:ext cx="2139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72954" y="1247775"/>
            <a:ext cx="2385913" cy="155823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6129" y="1250950"/>
            <a:ext cx="2379563" cy="50800"/>
          </a:xfrm>
          <a:prstGeom prst="rect">
            <a:avLst/>
          </a:prstGeom>
          <a:solidFill>
            <a:srgbClr val="2A8A80"/>
          </a:solidFill>
          <a:ln/>
        </p:spPr>
      </p:sp>
      <p:sp>
        <p:nvSpPr>
          <p:cNvPr id="11" name="Text 9"/>
          <p:cNvSpPr/>
          <p:nvPr/>
        </p:nvSpPr>
        <p:spPr>
          <a:xfrm>
            <a:off x="3653929" y="1454150"/>
            <a:ext cx="2084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A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min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3929" y="1885950"/>
            <a:ext cx="2084682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read each one (about 9,000 words)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14442" y="1831330"/>
            <a:ext cx="2139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33182" y="1247775"/>
            <a:ext cx="2385864" cy="155823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6357" y="1250950"/>
            <a:ext cx="2379514" cy="50800"/>
          </a:xfrm>
          <a:prstGeom prst="rect">
            <a:avLst/>
          </a:prstGeom>
          <a:solidFill>
            <a:srgbClr val="163D6B"/>
          </a:solidFill>
          <a:ln/>
        </p:spPr>
      </p:sp>
      <p:sp>
        <p:nvSpPr>
          <p:cNvPr id="16" name="Text 14"/>
          <p:cNvSpPr/>
          <p:nvPr/>
        </p:nvSpPr>
        <p:spPr>
          <a:xfrm>
            <a:off x="6514157" y="1454150"/>
            <a:ext cx="208463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~139,000 hrs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14157" y="2241550"/>
            <a:ext cx="2084631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reading time, before taking a single note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74621" y="1831330"/>
            <a:ext cx="2139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193361" y="1247775"/>
            <a:ext cx="2385864" cy="155823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96536" y="1250950"/>
            <a:ext cx="2379514" cy="50800"/>
          </a:xfrm>
          <a:prstGeom prst="rect">
            <a:avLst/>
          </a:prstGeom>
          <a:solidFill>
            <a:srgbClr val="E38B2C"/>
          </a:solidFill>
          <a:ln/>
        </p:spPr>
      </p:sp>
      <p:sp>
        <p:nvSpPr>
          <p:cNvPr id="21" name="Text 19"/>
          <p:cNvSpPr/>
          <p:nvPr/>
        </p:nvSpPr>
        <p:spPr>
          <a:xfrm>
            <a:off x="9374336" y="1454150"/>
            <a:ext cx="20846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85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 years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374336" y="1885950"/>
            <a:ext cx="208463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one full-time intern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600" y="2986980"/>
            <a:ext cx="113019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read, by scenario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600" y="3431480"/>
            <a:ext cx="34010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209,000 transcripts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9600" y="3662611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intern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64000" y="3513981"/>
            <a:ext cx="4826000" cy="2794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27" name="Text 25"/>
          <p:cNvSpPr/>
          <p:nvPr/>
        </p:nvSpPr>
        <p:spPr>
          <a:xfrm>
            <a:off x="9042400" y="3529261"/>
            <a:ext cx="9788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 years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9600" y="3964831"/>
            <a:ext cx="34010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209,000 transcripts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9600" y="4195961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of 10 interns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064000" y="4047331"/>
            <a:ext cx="482600" cy="279400"/>
          </a:xfrm>
          <a:prstGeom prst="rect">
            <a:avLst/>
          </a:prstGeom>
          <a:solidFill>
            <a:srgbClr val="2A8A80"/>
          </a:solidFill>
          <a:ln/>
        </p:spPr>
      </p:sp>
      <p:sp>
        <p:nvSpPr>
          <p:cNvPr id="31" name="Text 29"/>
          <p:cNvSpPr/>
          <p:nvPr/>
        </p:nvSpPr>
        <p:spPr>
          <a:xfrm>
            <a:off x="4699000" y="4062611"/>
            <a:ext cx="8602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 years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9600" y="4498181"/>
            <a:ext cx="34010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10% (20,900 transcripts)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9600" y="4729311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intern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64000" y="4580682"/>
            <a:ext cx="482600" cy="279400"/>
          </a:xfrm>
          <a:prstGeom prst="rect">
            <a:avLst/>
          </a:prstGeom>
          <a:solidFill>
            <a:srgbClr val="2A8A80"/>
          </a:solidFill>
          <a:ln/>
        </p:spPr>
      </p:sp>
      <p:sp>
        <p:nvSpPr>
          <p:cNvPr id="35" name="Text 33"/>
          <p:cNvSpPr/>
          <p:nvPr/>
        </p:nvSpPr>
        <p:spPr>
          <a:xfrm>
            <a:off x="4699000" y="4595961"/>
            <a:ext cx="8602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 years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9600" y="5120432"/>
            <a:ext cx="10972800" cy="476845"/>
          </a:xfrm>
          <a:prstGeom prst="rect">
            <a:avLst/>
          </a:prstGeom>
          <a:solidFill>
            <a:srgbClr val="FDF0DE"/>
          </a:solidFill>
          <a:ln/>
        </p:spPr>
      </p:sp>
      <p:sp>
        <p:nvSpPr>
          <p:cNvPr id="37" name="Shape 35"/>
          <p:cNvSpPr/>
          <p:nvPr/>
        </p:nvSpPr>
        <p:spPr>
          <a:xfrm>
            <a:off x="609600" y="5120432"/>
            <a:ext cx="63500" cy="476845"/>
          </a:xfrm>
          <a:prstGeom prst="rect">
            <a:avLst/>
          </a:prstGeom>
          <a:solidFill>
            <a:srgbClr val="E38B2C"/>
          </a:solidFill>
          <a:ln/>
        </p:spPr>
      </p:sp>
      <p:sp>
        <p:nvSpPr>
          <p:cNvPr id="38" name="Text 36"/>
          <p:cNvSpPr/>
          <p:nvPr/>
        </p:nvSpPr>
        <p:spPr>
          <a:xfrm>
            <a:off x="850900" y="5247432"/>
            <a:ext cx="895171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 is only the reading.</a:t>
            </a: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LLM reads every call and records 20 fields across 4 topics, at scale.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09600" y="651768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Illustrative: ~9,000 words per transcript, ~225 words per minute and 2,000 working hours per intern-year. 209,000 × 40 min ≈ 139,000 hours.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0" y="0"/>
            <a:ext cx="12192000" cy="1016000"/>
          </a:xfrm>
          <a:prstGeom prst="rect">
            <a:avLst/>
          </a:prstGeom>
          <a:noFill/>
          <a:ln/>
        </p:spPr>
        <p:txBody>
          <a:bodyPr wrap="square" lIns="609600" tIns="0" rIns="6749992" bIns="0" rtlCol="0" anchor="ctr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2400" b="1" i="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2400" dirty="0"/>
          </a:p>
          <a:p>
            <a:pPr algn="l" indent="0" marL="0">
              <a:lnSpc>
                <a:spcPts val="2688"/>
              </a:lnSpc>
              <a:buNone/>
            </a:pPr>
            <a:r>
              <a:rPr lang="en-US" sz="2400" b="1" i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records every data point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2775" y="1247775"/>
            <a:ext cx="3261767" cy="160397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5950" y="1250950"/>
            <a:ext cx="3255417" cy="508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6" name="Text 4"/>
          <p:cNvSpPr/>
          <p:nvPr/>
        </p:nvSpPr>
        <p:spPr>
          <a:xfrm>
            <a:off x="793750" y="145415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hR="165100" wR="165100" stAng="16200000" swAng="5400000"/>
                <a:lnTo>
                  <a:pt x="330200" y="165100"/>
                </a:lnTo>
                <a:arcTo hR="165100" wR="165100" stAng="0" swAng="5400000"/>
                <a:lnTo>
                  <a:pt x="165100" y="330200"/>
                </a:lnTo>
                <a:arcTo hR="165100" wR="165100" stAng="5400000" swAng="5400000"/>
                <a:lnTo>
                  <a:pt x="0" y="165100"/>
                </a:lnTo>
                <a:arcTo hR="165100" wR="165100" stAng="10800000" swAng="5400000"/>
                <a:close/>
              </a:path>
            </a:pathLst>
          </a:custGeom>
          <a:solidFill>
            <a:srgbClr val="1B5E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25550" y="1489720"/>
            <a:ext cx="76295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3750" y="1860550"/>
            <a:ext cx="2986811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FactSet transcripts via Snowflake. 18-pattern SQL keyword filter. US-domiciled firms, since 2010.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30117" y="185420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65092" y="1247775"/>
            <a:ext cx="3261816" cy="160397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8267" y="1250950"/>
            <a:ext cx="3255466" cy="50800"/>
          </a:xfrm>
          <a:prstGeom prst="rect">
            <a:avLst/>
          </a:prstGeom>
          <a:solidFill>
            <a:srgbClr val="E38B2C"/>
          </a:solidFill>
          <a:ln/>
        </p:spPr>
      </p:sp>
      <p:sp>
        <p:nvSpPr>
          <p:cNvPr id="12" name="Text 10"/>
          <p:cNvSpPr/>
          <p:nvPr/>
        </p:nvSpPr>
        <p:spPr>
          <a:xfrm>
            <a:off x="4646067" y="145415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hR="165100" wR="165100" stAng="16200000" swAng="5400000"/>
                <a:lnTo>
                  <a:pt x="330200" y="165100"/>
                </a:lnTo>
                <a:arcTo hR="165100" wR="165100" stAng="0" swAng="5400000"/>
                <a:lnTo>
                  <a:pt x="165100" y="330200"/>
                </a:lnTo>
                <a:arcTo hR="165100" wR="165100" stAng="5400000" swAng="5400000"/>
                <a:lnTo>
                  <a:pt x="0" y="165100"/>
                </a:lnTo>
                <a:arcTo hR="165100" wR="165100" stAng="10800000" swAng="5400000"/>
                <a:close/>
              </a:path>
            </a:pathLst>
          </a:custGeom>
          <a:solidFill>
            <a:srgbClr val="E38B2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7867" y="1489720"/>
            <a:ext cx="165532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(LLM)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6067" y="1860550"/>
            <a:ext cx="2986862" cy="84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reads each transcript: 20 fields × 4 topics (capex, hiring, demand, M&amp;A). Schema-validated, with automated recovery.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82483" y="185420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17458" y="1247775"/>
            <a:ext cx="3261767" cy="160397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0633" y="1250950"/>
            <a:ext cx="3255417" cy="50800"/>
          </a:xfrm>
          <a:prstGeom prst="rect">
            <a:avLst/>
          </a:prstGeom>
          <a:solidFill>
            <a:srgbClr val="2A8A80"/>
          </a:solidFill>
          <a:ln/>
        </p:spPr>
      </p:sp>
      <p:sp>
        <p:nvSpPr>
          <p:cNvPr id="18" name="Text 16"/>
          <p:cNvSpPr/>
          <p:nvPr/>
        </p:nvSpPr>
        <p:spPr>
          <a:xfrm>
            <a:off x="8498433" y="145415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hR="165100" wR="165100" stAng="16200000" swAng="5400000"/>
                <a:lnTo>
                  <a:pt x="330200" y="165100"/>
                </a:lnTo>
                <a:arcTo hR="165100" wR="165100" stAng="0" swAng="5400000"/>
                <a:lnTo>
                  <a:pt x="165100" y="330200"/>
                </a:lnTo>
                <a:arcTo hR="165100" wR="165100" stAng="5400000" swAng="5400000"/>
                <a:lnTo>
                  <a:pt x="0" y="165100"/>
                </a:lnTo>
                <a:arcTo hR="165100" wR="165100" stAng="10800000" swAng="5400000"/>
                <a:close/>
              </a:path>
            </a:pathLst>
          </a:custGeom>
          <a:solidFill>
            <a:srgbClr val="2A8A8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30233" y="1489720"/>
            <a:ext cx="128123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98433" y="1860550"/>
            <a:ext cx="2986811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Firm-level records roll up into 655 monthly series that feed the indicators.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3032720"/>
            <a:ext cx="113019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LLM records, per transcript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2775" y="3480395"/>
            <a:ext cx="3549650" cy="1230561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5950" y="3483570"/>
            <a:ext cx="3543300" cy="508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24" name="Text 22"/>
          <p:cNvSpPr/>
          <p:nvPr/>
        </p:nvSpPr>
        <p:spPr>
          <a:xfrm>
            <a:off x="781050" y="3661370"/>
            <a:ext cx="33094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signals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1050" y="3950891"/>
            <a:ext cx="3309493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(accelerate, maintain, defer, cut), horizon, and project status (delayed, accelerated, on track).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21175" y="3480395"/>
            <a:ext cx="3549650" cy="1230561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4350" y="3483570"/>
            <a:ext cx="3543300" cy="50800"/>
          </a:xfrm>
          <a:prstGeom prst="rect">
            <a:avLst/>
          </a:prstGeom>
          <a:solidFill>
            <a:srgbClr val="E38B2C"/>
          </a:solidFill>
          <a:ln/>
        </p:spPr>
      </p:sp>
      <p:sp>
        <p:nvSpPr>
          <p:cNvPr id="28" name="Text 26"/>
          <p:cNvSpPr/>
          <p:nvPr/>
        </p:nvSpPr>
        <p:spPr>
          <a:xfrm>
            <a:off x="4489450" y="3661370"/>
            <a:ext cx="33094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85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signals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9450" y="3950891"/>
            <a:ext cx="3309493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language flags, Q&amp;A deflection when analysts press, CEO vs CFO tone divergence.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29575" y="3480395"/>
            <a:ext cx="3549650" cy="1230561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32750" y="3483570"/>
            <a:ext cx="3543300" cy="50800"/>
          </a:xfrm>
          <a:prstGeom prst="rect">
            <a:avLst/>
          </a:prstGeom>
          <a:solidFill>
            <a:srgbClr val="2A8A80"/>
          </a:solidFill>
          <a:ln/>
        </p:spPr>
      </p:sp>
      <p:sp>
        <p:nvSpPr>
          <p:cNvPr id="32" name="Text 30"/>
          <p:cNvSpPr/>
          <p:nvPr/>
        </p:nvSpPr>
        <p:spPr>
          <a:xfrm>
            <a:off x="8197850" y="3661370"/>
            <a:ext cx="33094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features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97850" y="3950891"/>
            <a:ext cx="3309493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Hedging density per 1,000 words, postponement verbs, 12 conditioning drivers (trade, policy, financial).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9600" y="4891931"/>
            <a:ext cx="10972800" cy="476845"/>
          </a:xfrm>
          <a:prstGeom prst="rect">
            <a:avLst/>
          </a:prstGeom>
          <a:solidFill>
            <a:srgbClr val="FDF0DE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600" y="4891931"/>
            <a:ext cx="63500" cy="476845"/>
          </a:xfrm>
          <a:prstGeom prst="rect">
            <a:avLst/>
          </a:prstGeom>
          <a:solidFill>
            <a:srgbClr val="E38B2C"/>
          </a:solidFill>
          <a:ln/>
        </p:spPr>
      </p:sp>
      <p:sp>
        <p:nvSpPr>
          <p:cNvPr id="36" name="Text 34"/>
          <p:cNvSpPr/>
          <p:nvPr/>
        </p:nvSpPr>
        <p:spPr>
          <a:xfrm>
            <a:off x="850900" y="5018931"/>
            <a:ext cx="107315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keyword-matched or hand-coded.</a:t>
            </a: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LLM interprets context and writes down what each firm says it is doing.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0" y="0"/>
            <a:ext cx="12192000" cy="1016000"/>
          </a:xfrm>
          <a:prstGeom prst="rect">
            <a:avLst/>
          </a:prstGeom>
          <a:noFill/>
          <a:ln/>
        </p:spPr>
        <p:txBody>
          <a:bodyPr wrap="square" lIns="609600" tIns="0" rIns="6191393" bIns="0" rtlCol="0" anchor="ctr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2400" b="1" i="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signals are made of:</a:t>
            </a:r>
            <a:endParaRPr lang="en-US" sz="2400" dirty="0"/>
          </a:p>
          <a:p>
            <a:pPr algn="l" indent="0" marL="0">
              <a:lnSpc>
                <a:spcPts val="2688"/>
              </a:lnSpc>
              <a:buNone/>
            </a:pPr>
            <a:r>
              <a:rPr lang="en-US" sz="2400" b="1" i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families, all recorded by the LLM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2775" y="1247775"/>
            <a:ext cx="10966450" cy="101977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5950" y="1250950"/>
            <a:ext cx="10960100" cy="50800"/>
          </a:xfrm>
          <a:prstGeom prst="rect">
            <a:avLst/>
          </a:prstGeom>
          <a:solidFill>
            <a:srgbClr val="163D6B"/>
          </a:solidFill>
          <a:ln/>
        </p:spPr>
      </p:sp>
      <p:sp>
        <p:nvSpPr>
          <p:cNvPr id="6" name="Text 4"/>
          <p:cNvSpPr/>
          <p:nvPr/>
        </p:nvSpPr>
        <p:spPr>
          <a:xfrm>
            <a:off x="793750" y="1428750"/>
            <a:ext cx="48458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Residualize: strip out what macro already tells 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3750" y="1695450"/>
            <a:ext cx="4845897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i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x − E[ x | Ω ]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752505" y="1429990"/>
            <a:ext cx="581511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a firm reports (capex intent, hiring, demand)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52505" y="1673820"/>
            <a:ext cx="581511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macro variables used to forecast the economy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52505" y="1917650"/>
            <a:ext cx="581511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surprise: stronger or weaker than macro alone predicts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775" y="2451695"/>
            <a:ext cx="3549650" cy="102483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5950" y="2454870"/>
            <a:ext cx="3543300" cy="508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13" name="Text 11"/>
          <p:cNvSpPr/>
          <p:nvPr/>
        </p:nvSpPr>
        <p:spPr>
          <a:xfrm>
            <a:off x="781050" y="2632670"/>
            <a:ext cx="33094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1050" y="2922191"/>
            <a:ext cx="3309493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firms accelerating, deferring or hiring. Bounded 0 to 1.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1175" y="2451695"/>
            <a:ext cx="3549650" cy="102483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4350" y="2454870"/>
            <a:ext cx="3543300" cy="50800"/>
          </a:xfrm>
          <a:prstGeom prst="rect">
            <a:avLst/>
          </a:prstGeom>
          <a:solidFill>
            <a:srgbClr val="E38B2C"/>
          </a:solidFill>
          <a:ln/>
        </p:spPr>
      </p:sp>
      <p:sp>
        <p:nvSpPr>
          <p:cNvPr id="17" name="Text 15"/>
          <p:cNvSpPr/>
          <p:nvPr/>
        </p:nvSpPr>
        <p:spPr>
          <a:xfrm>
            <a:off x="4489450" y="2632670"/>
            <a:ext cx="33094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85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Residualized surprise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9450" y="2922191"/>
            <a:ext cx="3309493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Breadth, turning points and skew of surprises, net of macro.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29575" y="2451695"/>
            <a:ext cx="3549650" cy="102483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32750" y="2454870"/>
            <a:ext cx="3543300" cy="50800"/>
          </a:xfrm>
          <a:prstGeom prst="rect">
            <a:avLst/>
          </a:prstGeom>
          <a:solidFill>
            <a:srgbClr val="2A8A80"/>
          </a:solidFill>
          <a:ln/>
        </p:spPr>
      </p:sp>
      <p:sp>
        <p:nvSpPr>
          <p:cNvPr id="21" name="Text 19"/>
          <p:cNvSpPr/>
          <p:nvPr/>
        </p:nvSpPr>
        <p:spPr>
          <a:xfrm>
            <a:off x="8197850" y="2632670"/>
            <a:ext cx="33094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A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97850" y="2922191"/>
            <a:ext cx="3309493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Acceleration of project and hiring activity.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775" y="3660676"/>
            <a:ext cx="3549650" cy="102483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950" y="3663851"/>
            <a:ext cx="3543300" cy="50800"/>
          </a:xfrm>
          <a:prstGeom prst="rect">
            <a:avLst/>
          </a:prstGeom>
          <a:solidFill>
            <a:srgbClr val="163D6B"/>
          </a:solidFill>
          <a:ln/>
        </p:spPr>
      </p:sp>
      <p:sp>
        <p:nvSpPr>
          <p:cNvPr id="25" name="Text 23"/>
          <p:cNvSpPr/>
          <p:nvPr/>
        </p:nvSpPr>
        <p:spPr>
          <a:xfrm>
            <a:off x="781050" y="3841651"/>
            <a:ext cx="33094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dynamics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1050" y="4131171"/>
            <a:ext cx="3309493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Delayed, on-track and accelerating projects; delay share.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1175" y="3660676"/>
            <a:ext cx="3549650" cy="102483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24350" y="3663851"/>
            <a:ext cx="3543300" cy="508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29" name="Text 27"/>
          <p:cNvSpPr/>
          <p:nvPr/>
        </p:nvSpPr>
        <p:spPr>
          <a:xfrm>
            <a:off x="4489450" y="3841651"/>
            <a:ext cx="33094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Hesitation and exposure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9450" y="4131171"/>
            <a:ext cx="3309493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Hedging, financial and external risks, weighted by BEA sector capex.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29575" y="3660676"/>
            <a:ext cx="3549650" cy="102483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32750" y="3663851"/>
            <a:ext cx="3543300" cy="50800"/>
          </a:xfrm>
          <a:prstGeom prst="rect">
            <a:avLst/>
          </a:prstGeom>
          <a:solidFill>
            <a:srgbClr val="E38B2C"/>
          </a:solidFill>
          <a:ln/>
        </p:spPr>
      </p:sp>
      <p:sp>
        <p:nvSpPr>
          <p:cNvPr id="33" name="Text 31"/>
          <p:cNvSpPr/>
          <p:nvPr/>
        </p:nvSpPr>
        <p:spPr>
          <a:xfrm>
            <a:off x="8197850" y="3841651"/>
            <a:ext cx="33094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85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Cross-topic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97850" y="4131171"/>
            <a:ext cx="3309493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 and breadth across capex, hiring, demand and M&amp;A.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9600" y="4866481"/>
            <a:ext cx="10972800" cy="476845"/>
          </a:xfrm>
          <a:prstGeom prst="rect">
            <a:avLst/>
          </a:prstGeom>
          <a:solidFill>
            <a:srgbClr val="FDF0DE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600" y="4866481"/>
            <a:ext cx="63500" cy="476845"/>
          </a:xfrm>
          <a:prstGeom prst="rect">
            <a:avLst/>
          </a:prstGeom>
          <a:solidFill>
            <a:srgbClr val="E38B2C"/>
          </a:solidFill>
          <a:ln/>
        </p:spPr>
      </p:sp>
      <p:sp>
        <p:nvSpPr>
          <p:cNvPr id="37" name="Text 35"/>
          <p:cNvSpPr/>
          <p:nvPr/>
        </p:nvSpPr>
        <p:spPr>
          <a:xfrm>
            <a:off x="850900" y="4993481"/>
            <a:ext cx="1014186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test:</a:t>
            </a: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aggregated surprises still help forecast macro outcomes, the transcripts hold genuinely new information.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0" y="0"/>
            <a:ext cx="12192000" cy="1016000"/>
          </a:xfrm>
          <a:prstGeom prst="rect">
            <a:avLst/>
          </a:prstGeom>
          <a:noFill/>
          <a:ln/>
        </p:spPr>
        <p:txBody>
          <a:bodyPr wrap="square" lIns="609600" tIns="0" rIns="5650575" bIns="0" rtlCol="0" anchor="ctr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2400" b="1" i="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655 signals to two indicators:</a:t>
            </a:r>
            <a:endParaRPr lang="en-US" sz="2400" dirty="0"/>
          </a:p>
          <a:p>
            <a:pPr algn="l" indent="0" marL="0">
              <a:lnSpc>
                <a:spcPts val="2688"/>
              </a:lnSpc>
              <a:buNone/>
            </a:pPr>
            <a:r>
              <a:rPr lang="en-US" sz="2400" b="1" i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by Lasso, tested out of sample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2775" y="1247775"/>
            <a:ext cx="3261767" cy="139824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5950" y="1250950"/>
            <a:ext cx="3255417" cy="508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6" name="Text 4"/>
          <p:cNvSpPr/>
          <p:nvPr/>
        </p:nvSpPr>
        <p:spPr>
          <a:xfrm>
            <a:off x="793750" y="145415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hR="165100" wR="165100" stAng="16200000" swAng="5400000"/>
                <a:lnTo>
                  <a:pt x="330200" y="165100"/>
                </a:lnTo>
                <a:arcTo hR="165100" wR="165100" stAng="0" swAng="5400000"/>
                <a:lnTo>
                  <a:pt x="165100" y="330200"/>
                </a:lnTo>
                <a:arcTo hR="165100" wR="165100" stAng="5400000" swAng="5400000"/>
                <a:lnTo>
                  <a:pt x="0" y="165100"/>
                </a:lnTo>
                <a:arcTo hR="165100" wR="165100" stAng="10800000" swAng="5400000"/>
                <a:close/>
              </a:path>
            </a:pathLst>
          </a:custGeom>
          <a:solidFill>
            <a:srgbClr val="1B5E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25550" y="1489720"/>
            <a:ext cx="64758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3750" y="1860550"/>
            <a:ext cx="2986811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655 monthly series from the extractions, smoothed over 3, 6 and 12 months.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30117" y="175131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65092" y="1247775"/>
            <a:ext cx="3261816" cy="139824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8267" y="1250950"/>
            <a:ext cx="3255466" cy="50800"/>
          </a:xfrm>
          <a:prstGeom prst="rect">
            <a:avLst/>
          </a:prstGeom>
          <a:solidFill>
            <a:srgbClr val="E38B2C"/>
          </a:solidFill>
          <a:ln/>
        </p:spPr>
      </p:sp>
      <p:sp>
        <p:nvSpPr>
          <p:cNvPr id="12" name="Text 10"/>
          <p:cNvSpPr/>
          <p:nvPr/>
        </p:nvSpPr>
        <p:spPr>
          <a:xfrm>
            <a:off x="4646067" y="145415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hR="165100" wR="165100" stAng="16200000" swAng="5400000"/>
                <a:lnTo>
                  <a:pt x="330200" y="165100"/>
                </a:lnTo>
                <a:arcTo hR="165100" wR="165100" stAng="0" swAng="5400000"/>
                <a:lnTo>
                  <a:pt x="165100" y="330200"/>
                </a:lnTo>
                <a:arcTo hR="165100" wR="165100" stAng="5400000" swAng="5400000"/>
                <a:lnTo>
                  <a:pt x="0" y="165100"/>
                </a:lnTo>
                <a:arcTo hR="165100" wR="165100" stAng="10800000" swAng="5400000"/>
                <a:close/>
              </a:path>
            </a:pathLst>
          </a:custGeom>
          <a:solidFill>
            <a:srgbClr val="E38B2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7867" y="1489720"/>
            <a:ext cx="76336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6067" y="1860550"/>
            <a:ext cx="2986862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Expanding-window LassoCV with a minimum 48-month training window keeps a sparse set.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82483" y="175131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17458" y="1247775"/>
            <a:ext cx="3261767" cy="1398240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0633" y="1250950"/>
            <a:ext cx="3255417" cy="50800"/>
          </a:xfrm>
          <a:prstGeom prst="rect">
            <a:avLst/>
          </a:prstGeom>
          <a:solidFill>
            <a:srgbClr val="2A8A80"/>
          </a:solidFill>
          <a:ln/>
        </p:spPr>
      </p:sp>
      <p:sp>
        <p:nvSpPr>
          <p:cNvPr id="18" name="Text 16"/>
          <p:cNvSpPr/>
          <p:nvPr/>
        </p:nvSpPr>
        <p:spPr>
          <a:xfrm>
            <a:off x="8498433" y="145415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hR="165100" wR="165100" stAng="16200000" swAng="5400000"/>
                <a:lnTo>
                  <a:pt x="330200" y="165100"/>
                </a:lnTo>
                <a:arcTo hR="165100" wR="165100" stAng="0" swAng="5400000"/>
                <a:lnTo>
                  <a:pt x="165100" y="330200"/>
                </a:lnTo>
                <a:arcTo hR="165100" wR="165100" stAng="5400000" swAng="5400000"/>
                <a:lnTo>
                  <a:pt x="0" y="165100"/>
                </a:lnTo>
                <a:arcTo hR="165100" wR="165100" stAng="10800000" swAng="5400000"/>
                <a:close/>
              </a:path>
            </a:pathLst>
          </a:custGeom>
          <a:solidFill>
            <a:srgbClr val="2A8A8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30233" y="1489720"/>
            <a:ext cx="51351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98433" y="1860550"/>
            <a:ext cx="2986811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out-of-sample correlation counts: each forecast uses data available at the time.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775" y="2830165"/>
            <a:ext cx="5403850" cy="1487091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5950" y="2833340"/>
            <a:ext cx="5397500" cy="508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23" name="Text 21"/>
          <p:cNvSpPr/>
          <p:nvPr/>
        </p:nvSpPr>
        <p:spPr>
          <a:xfrm>
            <a:off x="793750" y="3036540"/>
            <a:ext cx="51931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1: ISM Manufacturing PMI YoY%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3750" y="3341340"/>
            <a:ext cx="51931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target, 10-month lead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3750" y="3630861"/>
            <a:ext cx="16467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B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+0.762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93750" y="3935661"/>
            <a:ext cx="1646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OOS correlation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16684" y="3630861"/>
            <a:ext cx="16467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B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516684" y="3935661"/>
            <a:ext cx="1646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OOS months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39667" y="3630861"/>
            <a:ext cx="16467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B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239667" y="3935661"/>
            <a:ext cx="1646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kept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5375" y="2830165"/>
            <a:ext cx="5403850" cy="1487091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8550" y="2833340"/>
            <a:ext cx="5397500" cy="50800"/>
          </a:xfrm>
          <a:prstGeom prst="rect">
            <a:avLst/>
          </a:prstGeom>
          <a:solidFill>
            <a:srgbClr val="E38B2C"/>
          </a:solidFill>
          <a:ln/>
        </p:spPr>
      </p:sp>
      <p:sp>
        <p:nvSpPr>
          <p:cNvPr id="33" name="Text 31"/>
          <p:cNvSpPr/>
          <p:nvPr/>
        </p:nvSpPr>
        <p:spPr>
          <a:xfrm>
            <a:off x="6356350" y="3036540"/>
            <a:ext cx="51931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2: IP investment YoY%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56350" y="3341340"/>
            <a:ext cx="51931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target, 12-month lead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6350" y="3630861"/>
            <a:ext cx="16467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B85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+0.828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356350" y="3935661"/>
            <a:ext cx="1646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OOS correlation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79284" y="3630861"/>
            <a:ext cx="16467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B85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079284" y="3935661"/>
            <a:ext cx="1646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OOS quarters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02267" y="3630861"/>
            <a:ext cx="16467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B85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802267" y="3935661"/>
            <a:ext cx="1646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kept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9600" y="4498231"/>
            <a:ext cx="10972800" cy="476845"/>
          </a:xfrm>
          <a:prstGeom prst="rect">
            <a:avLst/>
          </a:prstGeom>
          <a:solidFill>
            <a:srgbClr val="FDF0DE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600" y="4498231"/>
            <a:ext cx="63500" cy="476845"/>
          </a:xfrm>
          <a:prstGeom prst="rect">
            <a:avLst/>
          </a:prstGeom>
          <a:solidFill>
            <a:srgbClr val="E38B2C"/>
          </a:solidFill>
          <a:ln/>
        </p:spPr>
      </p:sp>
      <p:sp>
        <p:nvSpPr>
          <p:cNvPr id="43" name="Text 41"/>
          <p:cNvSpPr/>
          <p:nvPr/>
        </p:nvSpPr>
        <p:spPr>
          <a:xfrm>
            <a:off x="850900" y="4625231"/>
            <a:ext cx="107315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linear and transparent:</a:t>
            </a: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weighted sum of LLM-recorded signals, with higher readings meaning stronger activity ahead.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09600" y="651768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Lasso (l1_ratio = 1.0), full grid of 141 runs. Out-of-sample = expanding window. Indicator 2 has only 13 observations: interpret with caution.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0" y="0"/>
            <a:ext cx="12192000" cy="1016000"/>
          </a:xfrm>
          <a:prstGeom prst="rect">
            <a:avLst/>
          </a:prstGeom>
          <a:noFill/>
          <a:ln/>
        </p:spPr>
        <p:txBody>
          <a:bodyPr wrap="square" lIns="609600" tIns="0" rIns="609600" bIns="0" rtlCol="0" anchor="ctr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2400" b="1" i="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1: </a:t>
            </a:r>
            <a:r>
              <a:rPr lang="en-US" sz="2400" b="1" i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transcript-based lead on manufacturing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244600"/>
            <a:ext cx="2647950" cy="459730"/>
          </a:xfrm>
          <a:prstGeom prst="rect">
            <a:avLst/>
          </a:prstGeom>
          <a:solidFill>
            <a:srgbClr val="DCE8F5"/>
          </a:solidFill>
          <a:ln/>
        </p:spPr>
        <p:txBody>
          <a:bodyPr wrap="square" lIns="152400" tIns="114300" rIns="82106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 Mfg PMI YoY%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4550" y="1244600"/>
            <a:ext cx="2647950" cy="459730"/>
          </a:xfrm>
          <a:prstGeom prst="rect">
            <a:avLst/>
          </a:prstGeom>
          <a:solidFill>
            <a:srgbClr val="DCE8F5"/>
          </a:solidFill>
          <a:ln/>
        </p:spPr>
        <p:txBody>
          <a:bodyPr wrap="square" lIns="152400" tIns="114300" rIns="82106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months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59500" y="1244600"/>
            <a:ext cx="2647950" cy="459730"/>
          </a:xfrm>
          <a:prstGeom prst="rect">
            <a:avLst/>
          </a:prstGeom>
          <a:solidFill>
            <a:srgbClr val="DCE8F5"/>
          </a:solidFill>
          <a:ln/>
        </p:spPr>
        <p:txBody>
          <a:bodyPr wrap="square" lIns="152400" tIns="114300" rIns="82106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+0.762 (91 obs)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34450" y="1244600"/>
            <a:ext cx="2647950" cy="459730"/>
          </a:xfrm>
          <a:prstGeom prst="rect">
            <a:avLst/>
          </a:prstGeom>
          <a:solidFill>
            <a:srgbClr val="DCE8F5"/>
          </a:solidFill>
          <a:ln/>
        </p:spPr>
        <p:txBody>
          <a:bodyPr wrap="square" lIns="152400" tIns="114300" rIns="82106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of 655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300" y="1894830"/>
            <a:ext cx="6451600" cy="4016425"/>
          </a:xfrm>
          <a:prstGeom prst="rect">
            <a:avLst/>
          </a:prstGeom>
          <a:solidFill>
            <a:srgbClr val="F2F4F7"/>
          </a:solidFill>
          <a:ln w="25400">
            <a:solidFill>
              <a:srgbClr val="8EA7C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391911" y="3586807"/>
            <a:ext cx="2912328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B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indicator 1 here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84139" y="3988098"/>
            <a:ext cx="43279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 Manufacturing PMI YoY%, shifted 10 months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67575" y="1885305"/>
            <a:ext cx="4311650" cy="4035475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70750" y="1888480"/>
            <a:ext cx="4305300" cy="50800"/>
          </a:xfrm>
          <a:prstGeom prst="rect">
            <a:avLst/>
          </a:prstGeom>
          <a:solidFill>
            <a:srgbClr val="163D6B"/>
          </a:solidFill>
          <a:ln/>
        </p:spPr>
      </p:sp>
      <p:sp>
        <p:nvSpPr>
          <p:cNvPr id="13" name="Text 11"/>
          <p:cNvSpPr/>
          <p:nvPr/>
        </p:nvSpPr>
        <p:spPr>
          <a:xfrm>
            <a:off x="7448550" y="2091680"/>
            <a:ext cx="4068191" cy="169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976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signals by standardized weight</a:t>
            </a:r>
            <a:endParaRPr lang="en-US" sz="976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61250" y="2324745"/>
          <a:ext cx="3937000" cy="2934543"/>
        </p:xfrm>
        <a:graphic>
          <a:graphicData uri="http://schemas.openxmlformats.org/drawingml/2006/table">
            <a:tbl>
              <a:tblPr/>
              <a:tblGrid>
                <a:gridCol w="1968500"/>
                <a:gridCol w="1968500"/>
              </a:tblGrid>
              <a:tr h="352772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4F5F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4F5F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E5"/>
                    </a:solidFill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project breadth (3m)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B85F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−2.68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project delays (6m)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B5E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+1.55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262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accelerating capex (6m)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B85F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−1.51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262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Cross-industry surprise breadth (12m)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B85F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262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delay acceleration (12m)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B85F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7448550" y="5335488"/>
            <a:ext cx="4068191" cy="4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983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Negative: broad activity today predicts slower ISM later (mean reversion). Positive: delays today mean pent-up demand released later.</a:t>
            </a:r>
            <a:endParaRPr lang="en-US" sz="983" dirty="0"/>
          </a:p>
        </p:txBody>
      </p:sp>
      <p:sp>
        <p:nvSpPr>
          <p:cNvPr id="16" name="Shape 13"/>
          <p:cNvSpPr/>
          <p:nvPr/>
        </p:nvSpPr>
        <p:spPr>
          <a:xfrm>
            <a:off x="609600" y="6101755"/>
            <a:ext cx="10972800" cy="476845"/>
          </a:xfrm>
          <a:prstGeom prst="rect">
            <a:avLst/>
          </a:prstGeom>
          <a:solidFill>
            <a:srgbClr val="FDF0DE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600" y="6101755"/>
            <a:ext cx="63500" cy="476845"/>
          </a:xfrm>
          <a:prstGeom prst="rect">
            <a:avLst/>
          </a:prstGeom>
          <a:solidFill>
            <a:srgbClr val="E38B2C"/>
          </a:solidFill>
          <a:ln/>
        </p:spPr>
      </p:sp>
      <p:sp>
        <p:nvSpPr>
          <p:cNvPr id="18" name="Text 15"/>
          <p:cNvSpPr/>
          <p:nvPr/>
        </p:nvSpPr>
        <p:spPr>
          <a:xfrm>
            <a:off x="850900" y="6228755"/>
            <a:ext cx="1005387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it:</a:t>
            </a: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readings mean firms are signalling stronger manufacturing activity about ten months ahead.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B5EA8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0" y="0"/>
            <a:ext cx="12192000" cy="1016000"/>
          </a:xfrm>
          <a:prstGeom prst="rect">
            <a:avLst/>
          </a:prstGeom>
          <a:noFill/>
          <a:ln/>
        </p:spPr>
        <p:txBody>
          <a:bodyPr wrap="square" lIns="609600" tIns="0" rIns="609600" bIns="0" rtlCol="0" anchor="ctr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2400" b="1" i="0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2: </a:t>
            </a:r>
            <a:r>
              <a:rPr lang="en-US" sz="2400" b="1" i="1" dirty="0">
                <a:solidFill>
                  <a:srgbClr val="F7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transcript-based lead on IP investment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244600"/>
            <a:ext cx="2647950" cy="459730"/>
          </a:xfrm>
          <a:prstGeom prst="rect">
            <a:avLst/>
          </a:prstGeom>
          <a:solidFill>
            <a:srgbClr val="DCE8F5"/>
          </a:solidFill>
          <a:ln/>
        </p:spPr>
        <p:txBody>
          <a:bodyPr wrap="square" lIns="152400" tIns="114300" rIns="82106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investment YoY%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4550" y="1244600"/>
            <a:ext cx="2647950" cy="459730"/>
          </a:xfrm>
          <a:prstGeom prst="rect">
            <a:avLst/>
          </a:prstGeom>
          <a:solidFill>
            <a:srgbClr val="DCE8F5"/>
          </a:solidFill>
          <a:ln/>
        </p:spPr>
        <p:txBody>
          <a:bodyPr wrap="square" lIns="152400" tIns="114300" rIns="82106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59500" y="1244600"/>
            <a:ext cx="2647950" cy="459730"/>
          </a:xfrm>
          <a:prstGeom prst="rect">
            <a:avLst/>
          </a:prstGeom>
          <a:solidFill>
            <a:srgbClr val="DCE8F5"/>
          </a:solidFill>
          <a:ln/>
        </p:spPr>
        <p:txBody>
          <a:bodyPr wrap="square" lIns="152400" tIns="114300" rIns="82106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+0.828 (13 obs)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34450" y="1244600"/>
            <a:ext cx="2647950" cy="459730"/>
          </a:xfrm>
          <a:prstGeom prst="rect">
            <a:avLst/>
          </a:prstGeom>
          <a:solidFill>
            <a:srgbClr val="DCE8F5"/>
          </a:solidFill>
          <a:ln/>
        </p:spPr>
        <p:txBody>
          <a:bodyPr wrap="square" lIns="152400" tIns="114300" rIns="82106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of 655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300" y="1894830"/>
            <a:ext cx="6451600" cy="4016425"/>
          </a:xfrm>
          <a:prstGeom prst="rect">
            <a:avLst/>
          </a:prstGeom>
          <a:solidFill>
            <a:srgbClr val="F2F4F7"/>
          </a:solidFill>
          <a:ln w="25400">
            <a:solidFill>
              <a:srgbClr val="8EA7C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391911" y="3586807"/>
            <a:ext cx="2912328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B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indicator 2 here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40274" y="3988098"/>
            <a:ext cx="521565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investment in IP (software, R&amp;D), shifted 12 months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67575" y="1885305"/>
            <a:ext cx="4311650" cy="4035475"/>
          </a:xfrm>
          <a:prstGeom prst="rect">
            <a:avLst/>
          </a:prstGeom>
          <a:solidFill>
            <a:srgbClr val="F2F4F7"/>
          </a:solidFill>
          <a:ln w="6350">
            <a:solidFill>
              <a:srgbClr val="D5DC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70750" y="1888480"/>
            <a:ext cx="4305300" cy="50800"/>
          </a:xfrm>
          <a:prstGeom prst="rect">
            <a:avLst/>
          </a:prstGeom>
          <a:solidFill>
            <a:srgbClr val="163D6B"/>
          </a:solidFill>
          <a:ln/>
        </p:spPr>
      </p:sp>
      <p:sp>
        <p:nvSpPr>
          <p:cNvPr id="13" name="Text 11"/>
          <p:cNvSpPr/>
          <p:nvPr/>
        </p:nvSpPr>
        <p:spPr>
          <a:xfrm>
            <a:off x="7448550" y="2091680"/>
            <a:ext cx="4068191" cy="169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976" b="1" dirty="0">
                <a:solidFill>
                  <a:srgbClr val="16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signals by standardized weight</a:t>
            </a:r>
            <a:endParaRPr lang="en-US" sz="976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61250" y="2324745"/>
          <a:ext cx="3937000" cy="2934543"/>
        </p:xfrm>
        <a:graphic>
          <a:graphicData uri="http://schemas.openxmlformats.org/drawingml/2006/table">
            <a:tbl>
              <a:tblPr/>
              <a:tblGrid>
                <a:gridCol w="1968500"/>
                <a:gridCol w="1968500"/>
              </a:tblGrid>
              <a:tr h="348059">
                <a:tc>
                  <a:txBody>
                    <a:bodyPr/>
                    <a:lstStyle/>
                    <a:p>
                      <a:pPr indent="0" marL="0">
                        <a:lnSpc>
                          <a:spcPts val="1666"/>
                        </a:lnSpc>
                        <a:buNone/>
                      </a:pPr>
                      <a:r>
                        <a:rPr lang="en-US" sz="1190" b="1" dirty="0">
                          <a:solidFill>
                            <a:srgbClr val="4F5F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2896" marR="52896" marT="52896" marB="52896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6"/>
                        </a:lnSpc>
                        <a:buNone/>
                      </a:pPr>
                      <a:r>
                        <a:rPr lang="en-US" sz="1190" b="1" dirty="0">
                          <a:solidFill>
                            <a:srgbClr val="4F5F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2896" marR="52896" marT="52896" marB="52896" anchor="t">
                    <a:lnL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E5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indent="0" marL="0">
                        <a:lnSpc>
                          <a:spcPts val="1666"/>
                        </a:lnSpc>
                        <a:buNone/>
                      </a:pPr>
                      <a:r>
                        <a:rPr lang="en-US" sz="1190" dirty="0">
                          <a:solidFill>
                            <a:srgbClr val="1E2A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project delay share (12m)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2896" marR="52896" marT="52896" marB="52896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6"/>
                        </a:lnSpc>
                        <a:buNone/>
                      </a:pPr>
                      <a:r>
                        <a:rPr lang="en-US" sz="1190" dirty="0">
                          <a:solidFill>
                            <a:srgbClr val="1B5E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+0.85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2896" marR="52896" marT="52896" marB="52896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indent="0" marL="0">
                        <a:lnSpc>
                          <a:spcPts val="1666"/>
                        </a:lnSpc>
                        <a:buNone/>
                      </a:pPr>
                      <a:r>
                        <a:rPr lang="en-US" sz="1190" dirty="0">
                          <a:solidFill>
                            <a:srgbClr val="1E2A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turning-point breadth (12m)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2896" marR="52896" marT="52896" marB="52896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6"/>
                        </a:lnSpc>
                        <a:buNone/>
                      </a:pPr>
                      <a:r>
                        <a:rPr lang="en-US" sz="1190" dirty="0">
                          <a:solidFill>
                            <a:srgbClr val="1B5E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+0.81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2896" marR="52896" marT="52896" marB="52896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indent="0" marL="0">
                        <a:lnSpc>
                          <a:spcPts val="1666"/>
                        </a:lnSpc>
                        <a:buNone/>
                      </a:pPr>
                      <a:r>
                        <a:rPr lang="en-US" sz="1190" dirty="0">
                          <a:solidFill>
                            <a:srgbClr val="1E2A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direction reversal rate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2896" marR="52896" marT="52896" marB="52896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6"/>
                        </a:lnSpc>
                        <a:buNone/>
                      </a:pPr>
                      <a:r>
                        <a:rPr lang="en-US" sz="1190" dirty="0">
                          <a:solidFill>
                            <a:srgbClr val="1B5E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+0.27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2896" marR="52896" marT="52896" marB="52896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059">
                <a:tc>
                  <a:txBody>
                    <a:bodyPr/>
                    <a:lstStyle/>
                    <a:p>
                      <a:pPr indent="0" marL="0">
                        <a:lnSpc>
                          <a:spcPts val="1666"/>
                        </a:lnSpc>
                        <a:buNone/>
                      </a:pPr>
                      <a:r>
                        <a:rPr lang="en-US" sz="1190" dirty="0">
                          <a:solidFill>
                            <a:srgbClr val="1E2A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inventory posture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2896" marR="52896" marT="52896" marB="52896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6"/>
                        </a:lnSpc>
                        <a:buNone/>
                      </a:pPr>
                      <a:r>
                        <a:rPr lang="en-US" sz="1190" dirty="0">
                          <a:solidFill>
                            <a:srgbClr val="1B5E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+0.23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2896" marR="52896" marT="52896" marB="52896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9643">
                <a:tc>
                  <a:txBody>
                    <a:bodyPr/>
                    <a:lstStyle/>
                    <a:p>
                      <a:pPr indent="0" marL="0">
                        <a:lnSpc>
                          <a:spcPts val="1666"/>
                        </a:lnSpc>
                        <a:buNone/>
                      </a:pPr>
                      <a:r>
                        <a:rPr lang="en-US" sz="1190" dirty="0">
                          <a:solidFill>
                            <a:srgbClr val="1E2A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on-track share (6m)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2896" marR="52896" marT="52896" marB="52896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6"/>
                        </a:lnSpc>
                        <a:buNone/>
                      </a:pPr>
                      <a:r>
                        <a:rPr lang="en-US" sz="1190" dirty="0">
                          <a:solidFill>
                            <a:srgbClr val="B85F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−0.14</a:t>
                      </a:r>
                      <a:endParaRPr lang="en-US" sz="11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2896" marR="52896" marT="52896" marB="52896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7448550" y="5335488"/>
            <a:ext cx="4068191" cy="4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4"/>
              </a:lnSpc>
              <a:buNone/>
            </a:pPr>
            <a:r>
              <a:rPr lang="en-US" sz="1144" dirty="0">
                <a:solidFill>
                  <a:srgbClr val="4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two signals: capex delays and demand recovery today predict IP investment a year out, plus 10 small corrections.</a:t>
            </a:r>
            <a:endParaRPr lang="en-US" sz="1144" dirty="0"/>
          </a:p>
        </p:txBody>
      </p:sp>
      <p:sp>
        <p:nvSpPr>
          <p:cNvPr id="16" name="Shape 13"/>
          <p:cNvSpPr/>
          <p:nvPr/>
        </p:nvSpPr>
        <p:spPr>
          <a:xfrm>
            <a:off x="609600" y="6101755"/>
            <a:ext cx="10972800" cy="476845"/>
          </a:xfrm>
          <a:prstGeom prst="rect">
            <a:avLst/>
          </a:prstGeom>
          <a:solidFill>
            <a:srgbClr val="FDF0DE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600" y="6101755"/>
            <a:ext cx="63500" cy="476845"/>
          </a:xfrm>
          <a:prstGeom prst="rect">
            <a:avLst/>
          </a:prstGeom>
          <a:solidFill>
            <a:srgbClr val="E38B2C"/>
          </a:solidFill>
          <a:ln/>
        </p:spPr>
      </p:sp>
      <p:sp>
        <p:nvSpPr>
          <p:cNvPr id="18" name="Text 15"/>
          <p:cNvSpPr/>
          <p:nvPr/>
        </p:nvSpPr>
        <p:spPr>
          <a:xfrm>
            <a:off x="850900" y="6228755"/>
            <a:ext cx="866632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Caution:</a:t>
            </a: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13 quarterly out-of-sample observations. r = +0.83 is promising but not yet validated.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-Powered Economic Indicators: Explainer">
  <a:themeElements>
    <a:clrScheme name="LLM-Powered Economic Indicators: Explainer">
      <a:dk1>
        <a:srgbClr val="4F5F73"/>
      </a:dk1>
      <a:lt1>
        <a:srgbClr val="FFFFFF"/>
      </a:lt1>
      <a:dk2>
        <a:srgbClr val="7B8796"/>
      </a:dk2>
      <a:lt2>
        <a:srgbClr val="EDEFF1"/>
      </a:lt2>
      <a:accent1>
        <a:srgbClr val="163D6B"/>
      </a:accent1>
      <a:accent2>
        <a:srgbClr val="1B5EA8"/>
      </a:accent2>
      <a:accent3>
        <a:srgbClr val="E38B2C"/>
      </a:accent3>
      <a:accent4>
        <a:srgbClr val="2A8A80"/>
      </a:accent4>
      <a:accent5>
        <a:srgbClr val="B85F0E"/>
      </a:accent5>
      <a:accent6>
        <a:srgbClr val="F2B33D"/>
      </a:accent6>
      <a:hlink>
        <a:srgbClr val="0563C1"/>
      </a:hlink>
      <a:folHlink>
        <a:srgbClr val="954F72"/>
      </a:folHlink>
    </a:clrScheme>
    <a:fontScheme name="LLM-Powered Economic Indicators: Explain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LLM-Powered Economic Indicators: Explainer</dc:title>
  <dc:subject/>
  <dc:creator/>
  <cp:lastModifiedBy/>
  <cp:revision>1</cp:revision>
  <dcterms:created xsi:type="dcterms:W3CDTF">2026-10-19T20:29:43Z</dcterms:created>
  <dcterms:modified xsi:type="dcterms:W3CDTF">2026-10-19T20:29:43Z</dcterms:modified>
</cp:coreProperties>
</file>