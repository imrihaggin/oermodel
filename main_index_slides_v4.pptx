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406F"/>
                </a:solidFill>
                <a:latin typeface="Arial"/>
              </a:defRPr>
            </a:pPr>
            <a:r>
              <a:rPr sz="1200" b="0" i="0" u="none" strike="noStrike">
                <a:solidFill>
                  <a:srgbClr val="16406F"/>
                </a:solidFill>
                <a:latin typeface="Arial"/>
              </a:rPr>
              <a:t>Out-of-sample R² by forecast horizon (target: ISM Mfg PMI YoY%)</a:t>
            </a:r>
          </a:p>
        </c:rich>
      </c:tx>
      <c:layout/>
      <c:overlay val="0"/>
    </c:title>
    <c:autoTitleDeleted val="0"/>
    <c:plotArea>
      <c:layout/>
      <c:barChart>
        <c:barDir val="col"/>
        <c:grouping val="clustered"/>
        <c:varyColors val="0"/>
        <c:ser>
          <c:idx val="0"/>
          <c:order val="0"/>
          <c:tx>
            <c:strRef>
              <c:f>Sheet1!$B$1</c:f>
              <c:strCache>
                <c:ptCount val="1"/>
                <c:pt idx="0">
                  <c:v>AR(2)</c:v>
                </c:pt>
              </c:strCache>
            </c:strRef>
          </c:tx>
          <c:spPr>
            <a:solidFill>
              <a:srgbClr val="B4BDC8"/>
            </a:solidFill>
            <a:effectLst/>
          </c:spPr>
          <c:invertIfNegative val="0"/>
          <c:dLbls>
            <c:numFmt formatCode="0.00" sourceLinked="0"/>
            <c:txPr>
              <a:bodyPr/>
              <a:lstStyle/>
              <a:p>
                <a:pPr>
                  <a:defRPr b="0" i="0" strike="noStrike" sz="1100" u="none">
                    <a:solidFill>
                      <a:srgbClr val="1F2933"/>
                    </a:solidFill>
                    <a:latin typeface="Arial"/>
                  </a:defRPr>
                </a:pPr>
              </a:p>
            </c:txPr>
            <c:showLegendKey val="0"/>
            <c:showVal val="1"/>
            <c:showCatName val="0"/>
            <c:showSerName val="0"/>
            <c:showPercent val="0"/>
            <c:showBubbleSize val="0"/>
            <c:showLeaderLines val="0"/>
          </c:dLbls>
          <c:cat>
            <c:multiLvlStrRef>
              <c:f>Sheet1!$A$2:$A$4</c:f>
              <c:multiLvlStrCache>
                <c:ptCount val="3"/>
                <c:lvl>
                  <c:pt idx="0">
                    <c:v>3m</c:v>
                  </c:pt>
                  <c:pt idx="1">
                    <c:v>6m</c:v>
                  </c:pt>
                  <c:pt idx="2">
                    <c:v>10m</c:v>
                  </c:pt>
                </c:lvl>
              </c:multiLvlStrCache>
            </c:multiLvlStrRef>
          </c:cat>
          <c:val>
            <c:numRef>
              <c:f>Sheet1!$B$2:$B$4</c:f>
              <c:numCache>
                <c:formatCode>General</c:formatCode>
                <c:ptCount val="3"/>
                <c:pt idx="0">
                  <c:v>0.48</c:v>
                </c:pt>
                <c:pt idx="1">
                  <c:v>0.23</c:v>
                </c:pt>
                <c:pt idx="2">
                  <c:v>0.07</c:v>
                </c:pt>
              </c:numCache>
            </c:numRef>
          </c:val>
        </c:ser>
        <c:ser>
          <c:idx val="1"/>
          <c:order val="1"/>
          <c:tx>
            <c:strRef>
              <c:f>Sheet1!$C$1</c:f>
              <c:strCache>
                <c:ptCount val="1"/>
                <c:pt idx="0">
                  <c:v>AR(2) + ISM level</c:v>
                </c:pt>
              </c:strCache>
            </c:strRef>
          </c:tx>
          <c:spPr>
            <a:solidFill>
              <a:srgbClr val="6E9AD1"/>
            </a:solidFill>
            <a:effectLst/>
          </c:spPr>
          <c:invertIfNegative val="0"/>
          <c:dLbls>
            <c:numFmt formatCode="0.00" sourceLinked="0"/>
            <c:txPr>
              <a:bodyPr/>
              <a:lstStyle/>
              <a:p>
                <a:pPr>
                  <a:defRPr b="0" i="0" strike="noStrike" sz="1100" u="none">
                    <a:solidFill>
                      <a:srgbClr val="1F2933"/>
                    </a:solidFill>
                    <a:latin typeface="Arial"/>
                  </a:defRPr>
                </a:pPr>
              </a:p>
            </c:txPr>
            <c:showLegendKey val="0"/>
            <c:showVal val="1"/>
            <c:showCatName val="0"/>
            <c:showSerName val="0"/>
            <c:showPercent val="0"/>
            <c:showBubbleSize val="0"/>
            <c:showLeaderLines val="0"/>
          </c:dLbls>
          <c:cat>
            <c:multiLvlStrRef>
              <c:f>Sheet1!$A$2:$A$4</c:f>
              <c:multiLvlStrCache>
                <c:ptCount val="3"/>
                <c:lvl>
                  <c:pt idx="0">
                    <c:v>3m</c:v>
                  </c:pt>
                  <c:pt idx="1">
                    <c:v>6m</c:v>
                  </c:pt>
                  <c:pt idx="2">
                    <c:v>10m</c:v>
                  </c:pt>
                </c:lvl>
              </c:multiLvlStrCache>
            </c:multiLvlStrRef>
          </c:cat>
          <c:val>
            <c:numRef>
              <c:f>Sheet1!$C$2:$C$4</c:f>
              <c:numCache>
                <c:formatCode>General</c:formatCode>
                <c:ptCount val="3"/>
                <c:pt idx="0">
                  <c:v>0.52</c:v>
                </c:pt>
                <c:pt idx="1">
                  <c:v>0.39</c:v>
                </c:pt>
                <c:pt idx="2">
                  <c:v>0.34</c:v>
                </c:pt>
              </c:numCache>
            </c:numRef>
          </c:val>
        </c:ser>
        <c:ser>
          <c:idx val="2"/>
          <c:order val="2"/>
          <c:tx>
            <c:strRef>
              <c:f>Sheet1!$D$1</c:f>
              <c:strCache>
                <c:ptCount val="1"/>
                <c:pt idx="0">
                  <c:v>AR(2) + ISM + Capex acceleration</c:v>
                </c:pt>
              </c:strCache>
            </c:strRef>
          </c:tx>
          <c:spPr>
            <a:solidFill>
              <a:srgbClr val="E58A2B"/>
            </a:solidFill>
            <a:effectLst/>
          </c:spPr>
          <c:invertIfNegative val="0"/>
          <c:dLbls>
            <c:numFmt formatCode="0.00" sourceLinked="0"/>
            <c:txPr>
              <a:bodyPr/>
              <a:lstStyle/>
              <a:p>
                <a:pPr>
                  <a:defRPr b="0" i="0" strike="noStrike" sz="1100" u="none">
                    <a:solidFill>
                      <a:srgbClr val="1F2933"/>
                    </a:solidFill>
                    <a:latin typeface="Arial"/>
                  </a:defRPr>
                </a:pPr>
              </a:p>
            </c:txPr>
            <c:showLegendKey val="0"/>
            <c:showVal val="1"/>
            <c:showCatName val="0"/>
            <c:showSerName val="0"/>
            <c:showPercent val="0"/>
            <c:showBubbleSize val="0"/>
            <c:showLeaderLines val="0"/>
          </c:dLbls>
          <c:cat>
            <c:multiLvlStrRef>
              <c:f>Sheet1!$A$2:$A$4</c:f>
              <c:multiLvlStrCache>
                <c:ptCount val="3"/>
                <c:lvl>
                  <c:pt idx="0">
                    <c:v>3m</c:v>
                  </c:pt>
                  <c:pt idx="1">
                    <c:v>6m</c:v>
                  </c:pt>
                  <c:pt idx="2">
                    <c:v>10m</c:v>
                  </c:pt>
                </c:lvl>
              </c:multiLvlStrCache>
            </c:multiLvlStrRef>
          </c:cat>
          <c:val>
            <c:numRef>
              <c:f>Sheet1!$D$2:$D$4</c:f>
              <c:numCache>
                <c:formatCode>General</c:formatCode>
                <c:ptCount val="3"/>
                <c:pt idx="0">
                  <c:v>0.63</c:v>
                </c:pt>
                <c:pt idx="1">
                  <c:v>0.7</c:v>
                </c:pt>
                <c:pt idx="2">
                  <c:v>0.69</c:v>
                </c:pt>
              </c:numCache>
            </c:numRef>
          </c:val>
        </c:ser>
        <c:dLbls>
          <c:numFmt formatCode="0.00" sourceLinked="0"/>
          <c:txPr>
            <a:bodyPr/>
            <a:lstStyle/>
            <a:p>
              <a:pPr>
                <a:defRPr b="0" i="0" strike="noStrike" sz="1100" u="none">
                  <a:solidFill>
                    <a:srgbClr val="1F2933"/>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5B6772"/>
                    </a:solidFill>
                    <a:latin typeface="Arial"/>
                  </a:defRPr>
                </a:pPr>
                <a:r>
                  <a:rPr sz="1000" b="0" i="0" u="none" strike="noStrike">
                    <a:solidFill>
                      <a:srgbClr val="5B6772"/>
                    </a:solidFill>
                    <a:latin typeface="Arial"/>
                  </a:rPr>
                  <a:t>Forecast horizon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3"/>
                </a:solidFill>
                <a:latin typeface="Arial"/>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6350" cap="flat">
              <a:solidFill>
                <a:srgbClr val="E3E7E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772"/>
                </a:solidFill>
                <a:latin typeface="Arial"/>
              </a:defRPr>
            </a:pPr>
            <a:endParaRPr lang="en-US"/>
          </a:p>
        </c:txPr>
        <c:crossAx val="2094734554"/>
        <c:crosses val="autoZero"/>
        <c:crossBetween val="between"/>
        <c:majorUnit val="0.1"/>
      </c:valAx>
      <c:spPr>
        <a:noFill/>
        <a:ln>
          <a:noFill/>
        </a:ln>
        <a:effectLst/>
      </c:spPr>
    </c:plotArea>
    <c:legend>
      <c:legendPos val="b"/>
      <c:overlay val="0"/>
      <c:txPr>
        <a:bodyPr/>
        <a:lstStyle/>
        <a:p>
          <a:pPr>
            <a:defRPr sz="1100">
              <a:solidFill>
                <a:srgbClr val="1F2933"/>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Replaces the old "Isolating what transcripts know" slide. The old example described an inflation surprise; this version frames the surprise in terms of what firms report (capex, hiring, demand), which is what the index is built from. Three kinds of signals feed the index: diffusion measures (observed directly), residualized measures (firm surprises net of macro) and a cross-topic divergence measure. The next slides show how they are combined and what they add to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Construction walk-through. 8 candidates -&gt; diffusion series pre-smoothed with a 24-month MA (to match the dashboard headline), inverted series use 1 - x so higher = more positive -&gt; Lasso (chosen for parsimony) targeting ISM Manufacturing PMI YoY% at a 10-month lead. 7 of 8 have non-zero weights (turning-point breadth is dropped); intercept -193.25. The weights span a very wide range (+248 to -1.8) and several are negative even after inversion, which is typical with correlated inputs measured in their own units. The point is that the composite, not any single coefficient, is what we validate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plots as the previous Main Index slide; only the framing changes. The subtitle chips make explicit that this is an elastic net composite of signals built from the transcripts, not a single raw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Out-of-sample R2 for AR(2) / AR(2)+ISM / AR(2)+ISM+CapexAccel: 3m 0.48/0.52/0.63; 6m 0.23/0.39/0.70; 10m 0.07/0.34/0.69. Added over AR(2)+ISM: +11, +31 and +35 pts. At 10m (expanding window, N=133): RMSE 11.57 / 9.78 / 6.72 and correlation 0.28 / 0.62 / 0.83 for the three models; the capex signal cuts RMSE by about 3 points (31%) versus AR(2)+ISM. Versus AR(2) alone the out-of-sample gain at 10m is +62 pts. 10 months is the horizon where we use the signal as a lead indicator. Earlier runs also showed 9m (+38 pts) and 12m (+27 pts) gains, and in-sample incremental R2 over AR(2)+ISM of +12, +28, +36 and +23 pts at 3/6/9/12m, so the result is not specific to one horizon.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A5FAF"/>
          </a:solidFill>
          <a:ln w="12700">
            <a:solidFill>
              <a:srgbClr val="1A5FAF"/>
            </a:solidFill>
            <a:prstDash val="solid"/>
          </a:ln>
        </p:spPr>
      </p:sp>
      <p:sp>
        <p:nvSpPr>
          <p:cNvPr id="3" name="Text 1"/>
          <p:cNvSpPr txBox="1"/>
          <p:nvPr/>
        </p:nvSpPr>
        <p:spPr>
          <a:xfrm>
            <a:off x="548640" y="73152"/>
            <a:ext cx="11091672" cy="859536"/>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Isolating what transcripts know that macro data doesn’t</a:t>
            </a:r>
            <a:endParaRPr lang="en-US" sz="2600" dirty="0"/>
          </a:p>
        </p:txBody>
      </p:sp>
      <p:sp>
        <p:nvSpPr>
          <p:cNvPr id="4" name="Shape 2"/>
          <p:cNvSpPr/>
          <p:nvPr/>
        </p:nvSpPr>
        <p:spPr>
          <a:xfrm>
            <a:off x="548640" y="1280160"/>
            <a:ext cx="6675120" cy="2468880"/>
          </a:xfrm>
          <a:prstGeom prst="rect">
            <a:avLst/>
          </a:prstGeom>
          <a:solidFill>
            <a:srgbClr val="F3F5F8"/>
          </a:solidFill>
          <a:ln w="9525">
            <a:solidFill>
              <a:srgbClr val="D5DBE3"/>
            </a:solidFill>
            <a:prstDash val="solid"/>
          </a:ln>
        </p:spPr>
      </p:sp>
      <p:sp>
        <p:nvSpPr>
          <p:cNvPr id="5" name="Shape 3"/>
          <p:cNvSpPr/>
          <p:nvPr/>
        </p:nvSpPr>
        <p:spPr>
          <a:xfrm>
            <a:off x="548640" y="1280160"/>
            <a:ext cx="6675120" cy="54864"/>
          </a:xfrm>
          <a:prstGeom prst="rect">
            <a:avLst/>
          </a:prstGeom>
          <a:solidFill>
            <a:srgbClr val="16406F"/>
          </a:solidFill>
          <a:ln w="12700">
            <a:solidFill>
              <a:srgbClr val="16406F"/>
            </a:solidFill>
            <a:prstDash val="solid"/>
          </a:ln>
        </p:spPr>
      </p:sp>
      <p:sp>
        <p:nvSpPr>
          <p:cNvPr id="6" name="Shape 4"/>
          <p:cNvSpPr/>
          <p:nvPr/>
        </p:nvSpPr>
        <p:spPr>
          <a:xfrm>
            <a:off x="777240" y="1481328"/>
            <a:ext cx="384048" cy="384048"/>
          </a:xfrm>
          <a:prstGeom prst="ellipse">
            <a:avLst/>
          </a:prstGeom>
          <a:solidFill>
            <a:srgbClr val="16406F"/>
          </a:solidFill>
          <a:ln w="12700">
            <a:solidFill>
              <a:srgbClr val="16406F"/>
            </a:solidFill>
            <a:prstDash val="solid"/>
          </a:ln>
        </p:spPr>
      </p:sp>
      <p:sp>
        <p:nvSpPr>
          <p:cNvPr id="7" name="Text 5"/>
          <p:cNvSpPr txBox="1"/>
          <p:nvPr/>
        </p:nvSpPr>
        <p:spPr>
          <a:xfrm>
            <a:off x="777240" y="14813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280160" y="1481328"/>
            <a:ext cx="5760720" cy="384048"/>
          </a:xfrm>
          <a:prstGeom prst="rect">
            <a:avLst/>
          </a:prstGeom>
          <a:noFill/>
          <a:ln/>
        </p:spPr>
        <p:txBody>
          <a:bodyPr wrap="square" lIns="0" tIns="0" rIns="0" bIns="0" rtlCol="0" anchor="ctr"/>
          <a:lstStyle/>
          <a:p>
            <a:pPr indent="0" marL="0">
              <a:buNone/>
            </a:pPr>
            <a:r>
              <a:rPr lang="en-US" sz="1500" b="1" dirty="0">
                <a:solidFill>
                  <a:srgbClr val="16406F"/>
                </a:solidFill>
                <a:latin typeface="Arial" pitchFamily="34" charset="0"/>
                <a:ea typeface="Arial" pitchFamily="34" charset="-122"/>
                <a:cs typeface="Arial" pitchFamily="34" charset="-120"/>
              </a:rPr>
              <a:t>Residualize: strip out what macro already tells us</a:t>
            </a:r>
            <a:endParaRPr lang="en-US" sz="1500" dirty="0"/>
          </a:p>
        </p:txBody>
      </p:sp>
      <p:sp>
        <p:nvSpPr>
          <p:cNvPr id="9" name="Text 7"/>
          <p:cNvSpPr txBox="1"/>
          <p:nvPr/>
        </p:nvSpPr>
        <p:spPr>
          <a:xfrm>
            <a:off x="777240" y="1965960"/>
            <a:ext cx="6217920" cy="548640"/>
          </a:xfrm>
          <a:prstGeom prst="rect">
            <a:avLst/>
          </a:prstGeom>
          <a:noFill/>
          <a:ln/>
        </p:spPr>
        <p:txBody>
          <a:bodyPr wrap="square" lIns="0" tIns="0" rIns="0" bIns="0" rtlCol="0" anchor="ctr"/>
          <a:lstStyle/>
          <a:p>
            <a:pPr indent="0" marL="0">
              <a:buNone/>
            </a:pPr>
            <a:r>
              <a:rPr lang="en-US" sz="2600" i="1" dirty="0">
                <a:solidFill>
                  <a:srgbClr val="1F2933"/>
                </a:solidFill>
                <a:latin typeface="Cambria" pitchFamily="34" charset="0"/>
                <a:ea typeface="Cambria" pitchFamily="34" charset="-122"/>
                <a:cs typeface="Cambria" pitchFamily="34" charset="-120"/>
              </a:rPr>
              <a:t>S</a:t>
            </a:r>
            <a:pPr indent="0" marL="0">
              <a:buNone/>
            </a:pPr>
            <a:r>
              <a:rPr lang="en-US" sz="2600" i="1" baseline="-40000" dirty="0">
                <a:solidFill>
                  <a:srgbClr val="1F2933"/>
                </a:solidFill>
                <a:latin typeface="Cambria" pitchFamily="34" charset="0"/>
                <a:ea typeface="Cambria" pitchFamily="34" charset="-122"/>
                <a:cs typeface="Cambria" pitchFamily="34" charset="-120"/>
              </a:rPr>
              <a:t>i,t</a:t>
            </a:r>
            <a:pPr indent="0" marL="0">
              <a:buNone/>
            </a:pPr>
            <a:r>
              <a:rPr lang="en-US" sz="2600" i="1" dirty="0">
                <a:solidFill>
                  <a:srgbClr val="1F2933"/>
                </a:solidFill>
                <a:latin typeface="Cambria" pitchFamily="34" charset="0"/>
                <a:ea typeface="Cambria" pitchFamily="34" charset="-122"/>
                <a:cs typeface="Cambria" pitchFamily="34" charset="-120"/>
              </a:rPr>
              <a:t>  =  x</a:t>
            </a:r>
            <a:pPr indent="0" marL="0">
              <a:buNone/>
            </a:pPr>
            <a:r>
              <a:rPr lang="en-US" sz="2600" i="1" baseline="-40000" dirty="0">
                <a:solidFill>
                  <a:srgbClr val="1F2933"/>
                </a:solidFill>
                <a:latin typeface="Cambria" pitchFamily="34" charset="0"/>
                <a:ea typeface="Cambria" pitchFamily="34" charset="-122"/>
                <a:cs typeface="Cambria" pitchFamily="34" charset="-120"/>
              </a:rPr>
              <a:t>i,t</a:t>
            </a:r>
            <a:pPr indent="0" marL="0">
              <a:buNone/>
            </a:pPr>
            <a:r>
              <a:rPr lang="en-US" sz="2600" i="1" dirty="0">
                <a:solidFill>
                  <a:srgbClr val="1F2933"/>
                </a:solidFill>
                <a:latin typeface="Cambria" pitchFamily="34" charset="0"/>
                <a:ea typeface="Cambria" pitchFamily="34" charset="-122"/>
                <a:cs typeface="Cambria" pitchFamily="34" charset="-120"/>
              </a:rPr>
              <a:t>  −  E[ x</a:t>
            </a:r>
            <a:pPr indent="0" marL="0">
              <a:buNone/>
            </a:pPr>
            <a:r>
              <a:rPr lang="en-US" sz="2600" i="1" baseline="-40000" dirty="0">
                <a:solidFill>
                  <a:srgbClr val="1F2933"/>
                </a:solidFill>
                <a:latin typeface="Cambria" pitchFamily="34" charset="0"/>
                <a:ea typeface="Cambria" pitchFamily="34" charset="-122"/>
                <a:cs typeface="Cambria" pitchFamily="34" charset="-120"/>
              </a:rPr>
              <a:t>i,t</a:t>
            </a:r>
            <a:pPr indent="0" marL="0">
              <a:buNone/>
            </a:pPr>
            <a:r>
              <a:rPr lang="en-US" sz="2600" i="1" dirty="0">
                <a:solidFill>
                  <a:srgbClr val="1F2933"/>
                </a:solidFill>
                <a:latin typeface="Cambria" pitchFamily="34" charset="0"/>
                <a:ea typeface="Cambria" pitchFamily="34" charset="-122"/>
                <a:cs typeface="Cambria" pitchFamily="34" charset="-120"/>
              </a:rPr>
              <a:t> | Ω</a:t>
            </a:r>
            <a:pPr indent="0" marL="0">
              <a:buNone/>
            </a:pPr>
            <a:r>
              <a:rPr lang="en-US" sz="2600" i="1" baseline="-40000" dirty="0">
                <a:solidFill>
                  <a:srgbClr val="1F2933"/>
                </a:solidFill>
                <a:latin typeface="Cambria" pitchFamily="34" charset="0"/>
                <a:ea typeface="Cambria" pitchFamily="34" charset="-122"/>
                <a:cs typeface="Cambria" pitchFamily="34" charset="-120"/>
              </a:rPr>
              <a:t>t</a:t>
            </a:r>
            <a:pPr indent="0" marL="0">
              <a:buNone/>
            </a:pPr>
            <a:r>
              <a:rPr lang="en-US" sz="2600" i="1" dirty="0">
                <a:solidFill>
                  <a:srgbClr val="1F2933"/>
                </a:solidFill>
                <a:latin typeface="Cambria" pitchFamily="34" charset="0"/>
                <a:ea typeface="Cambria" pitchFamily="34" charset="-122"/>
                <a:cs typeface="Cambria" pitchFamily="34" charset="-120"/>
              </a:rPr>
              <a:t> ]</a:t>
            </a:r>
            <a:endParaRPr lang="en-US" sz="2600" dirty="0"/>
          </a:p>
        </p:txBody>
      </p:sp>
      <p:sp>
        <p:nvSpPr>
          <p:cNvPr id="10" name="Text 8"/>
          <p:cNvSpPr txBox="1"/>
          <p:nvPr/>
        </p:nvSpPr>
        <p:spPr>
          <a:xfrm>
            <a:off x="777240" y="2606040"/>
            <a:ext cx="6263640" cy="1051560"/>
          </a:xfrm>
          <a:prstGeom prst="rect">
            <a:avLst/>
          </a:prstGeom>
          <a:noFill/>
          <a:ln/>
        </p:spPr>
        <p:txBody>
          <a:bodyPr wrap="square" lIns="0" tIns="0" rIns="0" bIns="0" rtlCol="0" anchor="t"/>
          <a:lstStyle/>
          <a:p>
            <a:pPr indent="0" marL="0">
              <a:spcAft>
                <a:spcPts val="400"/>
              </a:spcAft>
              <a:buNone/>
            </a:pPr>
            <a:r>
              <a:rPr lang="en-US" sz="1250" b="1" i="1" dirty="0">
                <a:solidFill>
                  <a:srgbClr val="1F2933"/>
                </a:solidFill>
                <a:latin typeface="Arial" pitchFamily="34" charset="0"/>
                <a:ea typeface="Arial" pitchFamily="34" charset="-122"/>
                <a:cs typeface="Arial" pitchFamily="34" charset="-120"/>
              </a:rPr>
              <a:t>x</a:t>
            </a:r>
            <a:pPr indent="0" marL="0">
              <a:spcAft>
                <a:spcPts val="400"/>
              </a:spcAft>
              <a:buNone/>
            </a:pPr>
            <a:r>
              <a:rPr lang="en-US" sz="1250" dirty="0">
                <a:solidFill>
                  <a:srgbClr val="1F2933"/>
                </a:solidFill>
                <a:latin typeface="Arial" pitchFamily="34" charset="0"/>
                <a:ea typeface="Arial" pitchFamily="34" charset="-122"/>
                <a:cs typeface="Arial" pitchFamily="34" charset="-120"/>
              </a:rPr>
              <a:t>  what firm i reports on its call (capex intent, hiring, demand)</a:t>
            </a:r>
            <a:endParaRPr lang="en-US" sz="1250" dirty="0"/>
          </a:p>
          <a:p>
            <a:pPr indent="0" marL="0">
              <a:spcAft>
                <a:spcPts val="400"/>
              </a:spcAft>
              <a:buNone/>
            </a:pPr>
            <a:r>
              <a:rPr lang="en-US" sz="1250" b="1" dirty="0">
                <a:solidFill>
                  <a:srgbClr val="1F2933"/>
                </a:solidFill>
                <a:latin typeface="Arial" pitchFamily="34" charset="0"/>
                <a:ea typeface="Arial" pitchFamily="34" charset="-122"/>
                <a:cs typeface="Arial" pitchFamily="34" charset="-120"/>
              </a:rPr>
              <a:t>Ω</a:t>
            </a:r>
            <a:pPr indent="0" marL="0">
              <a:spcAft>
                <a:spcPts val="400"/>
              </a:spcAft>
              <a:buNone/>
            </a:pPr>
            <a:r>
              <a:rPr lang="en-US" sz="1250" dirty="0">
                <a:solidFill>
                  <a:srgbClr val="1F2933"/>
                </a:solidFill>
                <a:latin typeface="Arial" pitchFamily="34" charset="0"/>
                <a:ea typeface="Arial" pitchFamily="34" charset="-122"/>
                <a:cs typeface="Arial" pitchFamily="34" charset="-120"/>
              </a:rPr>
              <a:t>  the macro variables typically used to forecast the economy</a:t>
            </a:r>
            <a:endParaRPr lang="en-US" sz="1250" dirty="0"/>
          </a:p>
          <a:p>
            <a:pPr indent="0" marL="0">
              <a:spcAft>
                <a:spcPts val="400"/>
              </a:spcAft>
              <a:buNone/>
            </a:pPr>
            <a:r>
              <a:rPr lang="en-US" sz="1250" b="1" i="1" dirty="0">
                <a:solidFill>
                  <a:srgbClr val="1F2933"/>
                </a:solidFill>
                <a:latin typeface="Arial" pitchFamily="34" charset="0"/>
                <a:ea typeface="Arial" pitchFamily="34" charset="-122"/>
                <a:cs typeface="Arial" pitchFamily="34" charset="-120"/>
              </a:rPr>
              <a:t>S</a:t>
            </a:r>
            <a:pPr indent="0" marL="0">
              <a:spcAft>
                <a:spcPts val="400"/>
              </a:spcAft>
              <a:buNone/>
            </a:pPr>
            <a:r>
              <a:rPr lang="en-US" sz="1250" dirty="0">
                <a:solidFill>
                  <a:srgbClr val="1F2933"/>
                </a:solidFill>
                <a:latin typeface="Arial" pitchFamily="34" charset="0"/>
                <a:ea typeface="Arial" pitchFamily="34" charset="-122"/>
                <a:cs typeface="Arial" pitchFamily="34" charset="-120"/>
              </a:rPr>
              <a:t>  the surprise: how much stronger (or weaker) the firm sounds than macro conditions alone would predict</a:t>
            </a:r>
            <a:endParaRPr lang="en-US" sz="1250" dirty="0"/>
          </a:p>
        </p:txBody>
      </p:sp>
      <p:sp>
        <p:nvSpPr>
          <p:cNvPr id="11" name="Shape 9"/>
          <p:cNvSpPr/>
          <p:nvPr/>
        </p:nvSpPr>
        <p:spPr>
          <a:xfrm>
            <a:off x="7406640" y="1280160"/>
            <a:ext cx="4233672" cy="2468880"/>
          </a:xfrm>
          <a:prstGeom prst="rect">
            <a:avLst/>
          </a:prstGeom>
          <a:solidFill>
            <a:srgbClr val="F3F5F8"/>
          </a:solidFill>
          <a:ln w="9525">
            <a:solidFill>
              <a:srgbClr val="D5DBE3"/>
            </a:solidFill>
            <a:prstDash val="solid"/>
          </a:ln>
        </p:spPr>
      </p:sp>
      <p:sp>
        <p:nvSpPr>
          <p:cNvPr id="12" name="Shape 10"/>
          <p:cNvSpPr/>
          <p:nvPr/>
        </p:nvSpPr>
        <p:spPr>
          <a:xfrm>
            <a:off x="7406640" y="1280160"/>
            <a:ext cx="4233672" cy="54864"/>
          </a:xfrm>
          <a:prstGeom prst="rect">
            <a:avLst/>
          </a:prstGeom>
          <a:solidFill>
            <a:srgbClr val="2E8B84"/>
          </a:solidFill>
          <a:ln w="12700">
            <a:solidFill>
              <a:srgbClr val="2E8B84"/>
            </a:solidFill>
            <a:prstDash val="solid"/>
          </a:ln>
        </p:spPr>
      </p:sp>
      <p:sp>
        <p:nvSpPr>
          <p:cNvPr id="13" name="Shape 11"/>
          <p:cNvSpPr/>
          <p:nvPr/>
        </p:nvSpPr>
        <p:spPr>
          <a:xfrm>
            <a:off x="7635240" y="1481328"/>
            <a:ext cx="384048" cy="384048"/>
          </a:xfrm>
          <a:prstGeom prst="ellipse">
            <a:avLst/>
          </a:prstGeom>
          <a:solidFill>
            <a:srgbClr val="2E8B84"/>
          </a:solidFill>
          <a:ln w="12700">
            <a:solidFill>
              <a:srgbClr val="2E8B84"/>
            </a:solidFill>
            <a:prstDash val="solid"/>
          </a:ln>
        </p:spPr>
      </p:sp>
      <p:sp>
        <p:nvSpPr>
          <p:cNvPr id="14" name="Text 12"/>
          <p:cNvSpPr txBox="1"/>
          <p:nvPr/>
        </p:nvSpPr>
        <p:spPr>
          <a:xfrm>
            <a:off x="7635240" y="14813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txBox="1"/>
          <p:nvPr/>
        </p:nvSpPr>
        <p:spPr>
          <a:xfrm>
            <a:off x="8138160" y="1481328"/>
            <a:ext cx="3383280" cy="384048"/>
          </a:xfrm>
          <a:prstGeom prst="rect">
            <a:avLst/>
          </a:prstGeom>
          <a:noFill/>
          <a:ln/>
        </p:spPr>
        <p:txBody>
          <a:bodyPr wrap="square" lIns="0" tIns="0" rIns="0" bIns="0" rtlCol="0" anchor="ctr"/>
          <a:lstStyle/>
          <a:p>
            <a:pPr indent="0" marL="0">
              <a:buNone/>
            </a:pPr>
            <a:r>
              <a:rPr lang="en-US" sz="1500" b="1" dirty="0">
                <a:solidFill>
                  <a:srgbClr val="2E8B84"/>
                </a:solidFill>
                <a:latin typeface="Arial" pitchFamily="34" charset="0"/>
                <a:ea typeface="Arial" pitchFamily="34" charset="-122"/>
                <a:cs typeface="Arial" pitchFamily="34" charset="-120"/>
              </a:rPr>
              <a:t>Aggregate across firms</a:t>
            </a:r>
            <a:endParaRPr lang="en-US" sz="1500" dirty="0"/>
          </a:p>
        </p:txBody>
      </p:sp>
      <p:sp>
        <p:nvSpPr>
          <p:cNvPr id="16" name="Text 14"/>
          <p:cNvSpPr txBox="1"/>
          <p:nvPr/>
        </p:nvSpPr>
        <p:spPr>
          <a:xfrm>
            <a:off x="7635240" y="1965960"/>
            <a:ext cx="3840480" cy="1737360"/>
          </a:xfrm>
          <a:prstGeom prst="rect">
            <a:avLst/>
          </a:prstGeom>
          <a:noFill/>
          <a:ln/>
        </p:spPr>
        <p:txBody>
          <a:bodyPr wrap="square" lIns="0" tIns="0" rIns="0" bIns="0" rtlCol="0" anchor="t"/>
          <a:lstStyle/>
          <a:p>
            <a:pPr indent="0" marL="0">
              <a:spcAft>
                <a:spcPts val="400"/>
              </a:spcAft>
              <a:buNone/>
            </a:pPr>
            <a:r>
              <a:rPr lang="en-US" sz="1250" dirty="0">
                <a:solidFill>
                  <a:srgbClr val="1F2933"/>
                </a:solidFill>
                <a:latin typeface="Arial" pitchFamily="34" charset="0"/>
                <a:ea typeface="Arial" pitchFamily="34" charset="-122"/>
                <a:cs typeface="Arial" pitchFamily="34" charset="-120"/>
              </a:rPr>
              <a:t>Thousands of firm-level surprises become one monthly series, smoothed over 6 months:</a:t>
            </a:r>
            <a:endParaRPr lang="en-US" sz="1250" dirty="0"/>
          </a:p>
          <a:p>
            <a:pPr marL="342900" indent="-342900">
              <a:spcAft>
                <a:spcPts val="400"/>
              </a:spcAft>
              <a:buSzPct val="100000"/>
              <a:buChar char="•"/>
            </a:pPr>
            <a:r>
              <a:rPr lang="en-US" sz="1250" dirty="0">
                <a:solidFill>
                  <a:srgbClr val="1F2933"/>
                </a:solidFill>
                <a:latin typeface="Arial" pitchFamily="34" charset="0"/>
                <a:ea typeface="Arial" pitchFamily="34" charset="-122"/>
                <a:cs typeface="Arial" pitchFamily="34" charset="-120"/>
              </a:rPr>
              <a:t>Breadth: do industries surprise in the same direction?</a:t>
            </a:r>
            <a:endParaRPr lang="en-US" sz="1250" dirty="0"/>
          </a:p>
          <a:p>
            <a:pPr marL="342900" indent="-342900">
              <a:spcAft>
                <a:spcPts val="400"/>
              </a:spcAft>
              <a:buSzPct val="100000"/>
              <a:buChar char="•"/>
            </a:pPr>
            <a:r>
              <a:rPr lang="en-US" sz="1250" dirty="0">
                <a:solidFill>
                  <a:srgbClr val="1F2933"/>
                </a:solidFill>
                <a:latin typeface="Arial" pitchFamily="34" charset="0"/>
                <a:ea typeface="Arial" pitchFamily="34" charset="-122"/>
                <a:cs typeface="Arial" pitchFamily="34" charset="-120"/>
              </a:rPr>
              <a:t>Downside: how weak are the weakest firms’ capex surprises (10th percentile)?</a:t>
            </a:r>
            <a:endParaRPr lang="en-US" sz="1250" dirty="0"/>
          </a:p>
          <a:p>
            <a:pPr marL="342900" indent="-342900">
              <a:spcAft>
                <a:spcPts val="400"/>
              </a:spcAft>
              <a:buSzPct val="100000"/>
              <a:buChar char="•"/>
            </a:pPr>
            <a:r>
              <a:rPr lang="en-US" sz="1250" dirty="0">
                <a:solidFill>
                  <a:srgbClr val="1F2933"/>
                </a:solidFill>
                <a:latin typeface="Arial" pitchFamily="34" charset="0"/>
                <a:ea typeface="Arial" pitchFamily="34" charset="-122"/>
                <a:cs typeface="Arial" pitchFamily="34" charset="-120"/>
              </a:rPr>
              <a:t>Turning points: how many firms flip from negative to positive?</a:t>
            </a:r>
            <a:endParaRPr lang="en-US" sz="1250" dirty="0"/>
          </a:p>
        </p:txBody>
      </p:sp>
      <p:sp>
        <p:nvSpPr>
          <p:cNvPr id="17" name="Shape 15"/>
          <p:cNvSpPr/>
          <p:nvPr/>
        </p:nvSpPr>
        <p:spPr>
          <a:xfrm>
            <a:off x="548640" y="3950208"/>
            <a:ext cx="3566160" cy="1572768"/>
          </a:xfrm>
          <a:prstGeom prst="rect">
            <a:avLst/>
          </a:prstGeom>
          <a:solidFill>
            <a:srgbClr val="F3F5F8"/>
          </a:solidFill>
          <a:ln w="9525">
            <a:solidFill>
              <a:srgbClr val="D5DBE3"/>
            </a:solidFill>
            <a:prstDash val="solid"/>
          </a:ln>
        </p:spPr>
      </p:sp>
      <p:sp>
        <p:nvSpPr>
          <p:cNvPr id="18" name="Shape 16"/>
          <p:cNvSpPr/>
          <p:nvPr/>
        </p:nvSpPr>
        <p:spPr>
          <a:xfrm>
            <a:off x="548640" y="3950208"/>
            <a:ext cx="3566160" cy="54864"/>
          </a:xfrm>
          <a:prstGeom prst="rect">
            <a:avLst/>
          </a:prstGeom>
          <a:solidFill>
            <a:srgbClr val="1A5FAF"/>
          </a:solidFill>
          <a:ln w="12700">
            <a:solidFill>
              <a:srgbClr val="1A5FAF"/>
            </a:solidFill>
            <a:prstDash val="solid"/>
          </a:ln>
        </p:spPr>
      </p:sp>
      <p:sp>
        <p:nvSpPr>
          <p:cNvPr id="19" name="Text 17"/>
          <p:cNvSpPr txBox="1"/>
          <p:nvPr/>
        </p:nvSpPr>
        <p:spPr>
          <a:xfrm>
            <a:off x="731520" y="4114800"/>
            <a:ext cx="3200400" cy="329184"/>
          </a:xfrm>
          <a:prstGeom prst="rect">
            <a:avLst/>
          </a:prstGeom>
          <a:noFill/>
          <a:ln/>
        </p:spPr>
        <p:txBody>
          <a:bodyPr wrap="square" lIns="0" tIns="0" rIns="0" bIns="0" rtlCol="0" anchor="ctr"/>
          <a:lstStyle/>
          <a:p>
            <a:pPr indent="0" marL="0">
              <a:buNone/>
            </a:pPr>
            <a:r>
              <a:rPr lang="en-US" sz="1350" b="1" dirty="0">
                <a:solidFill>
                  <a:srgbClr val="1A5FAF"/>
                </a:solidFill>
                <a:latin typeface="Arial" pitchFamily="34" charset="0"/>
                <a:ea typeface="Arial" pitchFamily="34" charset="-122"/>
                <a:cs typeface="Arial" pitchFamily="34" charset="-120"/>
              </a:rPr>
              <a:t>Diffusion: observed directly</a:t>
            </a:r>
            <a:endParaRPr lang="en-US" sz="1350" dirty="0"/>
          </a:p>
        </p:txBody>
      </p:sp>
      <p:sp>
        <p:nvSpPr>
          <p:cNvPr id="20" name="Text 18"/>
          <p:cNvSpPr txBox="1"/>
          <p:nvPr/>
        </p:nvSpPr>
        <p:spPr>
          <a:xfrm>
            <a:off x="731520" y="4480560"/>
            <a:ext cx="3200400" cy="987552"/>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Share of firms accelerating capex, accelerating or maintaining hiring, seeing accelerating demand, or with low capex visibility. Pre-smoothed over 24 months.</a:t>
            </a:r>
            <a:endParaRPr lang="en-US" sz="1150" dirty="0"/>
          </a:p>
        </p:txBody>
      </p:sp>
      <p:sp>
        <p:nvSpPr>
          <p:cNvPr id="21" name="Shape 19"/>
          <p:cNvSpPr/>
          <p:nvPr/>
        </p:nvSpPr>
        <p:spPr>
          <a:xfrm>
            <a:off x="4311396" y="3950208"/>
            <a:ext cx="3566160" cy="1572768"/>
          </a:xfrm>
          <a:prstGeom prst="rect">
            <a:avLst/>
          </a:prstGeom>
          <a:solidFill>
            <a:srgbClr val="F3F5F8"/>
          </a:solidFill>
          <a:ln w="9525">
            <a:solidFill>
              <a:srgbClr val="D5DBE3"/>
            </a:solidFill>
            <a:prstDash val="solid"/>
          </a:ln>
        </p:spPr>
      </p:sp>
      <p:sp>
        <p:nvSpPr>
          <p:cNvPr id="22" name="Shape 20"/>
          <p:cNvSpPr/>
          <p:nvPr/>
        </p:nvSpPr>
        <p:spPr>
          <a:xfrm>
            <a:off x="4311396" y="3950208"/>
            <a:ext cx="3566160" cy="54864"/>
          </a:xfrm>
          <a:prstGeom prst="rect">
            <a:avLst/>
          </a:prstGeom>
          <a:solidFill>
            <a:srgbClr val="E58A2B"/>
          </a:solidFill>
          <a:ln w="12700">
            <a:solidFill>
              <a:srgbClr val="E58A2B"/>
            </a:solidFill>
            <a:prstDash val="solid"/>
          </a:ln>
        </p:spPr>
      </p:sp>
      <p:sp>
        <p:nvSpPr>
          <p:cNvPr id="23" name="Text 21"/>
          <p:cNvSpPr txBox="1"/>
          <p:nvPr/>
        </p:nvSpPr>
        <p:spPr>
          <a:xfrm>
            <a:off x="4494276" y="4114800"/>
            <a:ext cx="3200400" cy="329184"/>
          </a:xfrm>
          <a:prstGeom prst="rect">
            <a:avLst/>
          </a:prstGeom>
          <a:noFill/>
          <a:ln/>
        </p:spPr>
        <p:txBody>
          <a:bodyPr wrap="square" lIns="0" tIns="0" rIns="0" bIns="0" rtlCol="0" anchor="ctr"/>
          <a:lstStyle/>
          <a:p>
            <a:pPr indent="0" marL="0">
              <a:buNone/>
            </a:pPr>
            <a:r>
              <a:rPr lang="en-US" sz="1350" b="1" dirty="0">
                <a:solidFill>
                  <a:srgbClr val="B8691A"/>
                </a:solidFill>
                <a:latin typeface="Arial" pitchFamily="34" charset="0"/>
                <a:ea typeface="Arial" pitchFamily="34" charset="-122"/>
                <a:cs typeface="Arial" pitchFamily="34" charset="-120"/>
              </a:rPr>
              <a:t>Residualized: net of macro</a:t>
            </a:r>
            <a:endParaRPr lang="en-US" sz="1350" dirty="0"/>
          </a:p>
        </p:txBody>
      </p:sp>
      <p:sp>
        <p:nvSpPr>
          <p:cNvPr id="24" name="Text 22"/>
          <p:cNvSpPr txBox="1"/>
          <p:nvPr/>
        </p:nvSpPr>
        <p:spPr>
          <a:xfrm>
            <a:off x="4494276" y="4480560"/>
            <a:ext cx="3200400" cy="987552"/>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Cross-industry surprise breadth, downside capex surprise (10th percentile) and turning-point breadth: firm surprises after removing what macro already explains.</a:t>
            </a:r>
            <a:endParaRPr lang="en-US" sz="1150" dirty="0"/>
          </a:p>
        </p:txBody>
      </p:sp>
      <p:sp>
        <p:nvSpPr>
          <p:cNvPr id="25" name="Shape 23"/>
          <p:cNvSpPr/>
          <p:nvPr/>
        </p:nvSpPr>
        <p:spPr>
          <a:xfrm>
            <a:off x="8074152" y="3950208"/>
            <a:ext cx="3566160" cy="1572768"/>
          </a:xfrm>
          <a:prstGeom prst="rect">
            <a:avLst/>
          </a:prstGeom>
          <a:solidFill>
            <a:srgbClr val="F3F5F8"/>
          </a:solidFill>
          <a:ln w="9525">
            <a:solidFill>
              <a:srgbClr val="D5DBE3"/>
            </a:solidFill>
            <a:prstDash val="solid"/>
          </a:ln>
        </p:spPr>
      </p:sp>
      <p:sp>
        <p:nvSpPr>
          <p:cNvPr id="26" name="Shape 24"/>
          <p:cNvSpPr/>
          <p:nvPr/>
        </p:nvSpPr>
        <p:spPr>
          <a:xfrm>
            <a:off x="8074152" y="3950208"/>
            <a:ext cx="3566160" cy="54864"/>
          </a:xfrm>
          <a:prstGeom prst="rect">
            <a:avLst/>
          </a:prstGeom>
          <a:solidFill>
            <a:srgbClr val="2E8B84"/>
          </a:solidFill>
          <a:ln w="12700">
            <a:solidFill>
              <a:srgbClr val="2E8B84"/>
            </a:solidFill>
            <a:prstDash val="solid"/>
          </a:ln>
        </p:spPr>
      </p:sp>
      <p:sp>
        <p:nvSpPr>
          <p:cNvPr id="27" name="Text 25"/>
          <p:cNvSpPr txBox="1"/>
          <p:nvPr/>
        </p:nvSpPr>
        <p:spPr>
          <a:xfrm>
            <a:off x="8257032" y="4114800"/>
            <a:ext cx="3200400" cy="329184"/>
          </a:xfrm>
          <a:prstGeom prst="rect">
            <a:avLst/>
          </a:prstGeom>
          <a:noFill/>
          <a:ln/>
        </p:spPr>
        <p:txBody>
          <a:bodyPr wrap="square" lIns="0" tIns="0" rIns="0" bIns="0" rtlCol="0" anchor="ctr"/>
          <a:lstStyle/>
          <a:p>
            <a:pPr indent="0" marL="0">
              <a:buNone/>
            </a:pPr>
            <a:r>
              <a:rPr lang="en-US" sz="1350" b="1" dirty="0">
                <a:solidFill>
                  <a:srgbClr val="2E8B84"/>
                </a:solidFill>
                <a:latin typeface="Arial" pitchFamily="34" charset="0"/>
                <a:ea typeface="Arial" pitchFamily="34" charset="-122"/>
                <a:cs typeface="Arial" pitchFamily="34" charset="-120"/>
              </a:rPr>
              <a:t>Cross-topic: divergence</a:t>
            </a:r>
            <a:endParaRPr lang="en-US" sz="1350" dirty="0"/>
          </a:p>
        </p:txBody>
      </p:sp>
      <p:sp>
        <p:nvSpPr>
          <p:cNvPr id="28" name="Text 26"/>
          <p:cNvSpPr txBox="1"/>
          <p:nvPr/>
        </p:nvSpPr>
        <p:spPr>
          <a:xfrm>
            <a:off x="8257032" y="4480560"/>
            <a:ext cx="3200400" cy="987552"/>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Cross-topic divergence across the themes firms discuss (6-month moving average), inverted so that higher means a stronger signal.</a:t>
            </a:r>
            <a:endParaRPr lang="en-US" sz="1150" dirty="0"/>
          </a:p>
        </p:txBody>
      </p:sp>
      <p:sp>
        <p:nvSpPr>
          <p:cNvPr id="29" name="Shape 27"/>
          <p:cNvSpPr/>
          <p:nvPr/>
        </p:nvSpPr>
        <p:spPr>
          <a:xfrm>
            <a:off x="548640" y="5742432"/>
            <a:ext cx="11091672" cy="777240"/>
          </a:xfrm>
          <a:prstGeom prst="rect">
            <a:avLst/>
          </a:prstGeom>
          <a:solidFill>
            <a:srgbClr val="FDF1DE"/>
          </a:solidFill>
          <a:ln w="12700">
            <a:solidFill>
              <a:srgbClr val="FDF1DE"/>
            </a:solidFill>
            <a:prstDash val="solid"/>
          </a:ln>
        </p:spPr>
      </p:sp>
      <p:sp>
        <p:nvSpPr>
          <p:cNvPr id="30" name="Shape 28"/>
          <p:cNvSpPr/>
          <p:nvPr/>
        </p:nvSpPr>
        <p:spPr>
          <a:xfrm>
            <a:off x="548640" y="5742432"/>
            <a:ext cx="64008" cy="777240"/>
          </a:xfrm>
          <a:prstGeom prst="rect">
            <a:avLst/>
          </a:prstGeom>
          <a:solidFill>
            <a:srgbClr val="E58A2B"/>
          </a:solidFill>
          <a:ln w="12700">
            <a:solidFill>
              <a:srgbClr val="E58A2B"/>
            </a:solidFill>
            <a:prstDash val="solid"/>
          </a:ln>
        </p:spPr>
      </p:sp>
      <p:sp>
        <p:nvSpPr>
          <p:cNvPr id="31" name="Text 29"/>
          <p:cNvSpPr txBox="1"/>
          <p:nvPr/>
        </p:nvSpPr>
        <p:spPr>
          <a:xfrm>
            <a:off x="777240" y="5742432"/>
            <a:ext cx="10698480" cy="777240"/>
          </a:xfrm>
          <a:prstGeom prst="rect">
            <a:avLst/>
          </a:prstGeom>
          <a:noFill/>
          <a:ln/>
        </p:spPr>
        <p:txBody>
          <a:bodyPr wrap="square" lIns="0" tIns="0" rIns="0" bIns="0" rtlCol="0" anchor="ctr"/>
          <a:lstStyle/>
          <a:p>
            <a:pPr indent="0" marL="0">
              <a:buNone/>
            </a:pPr>
            <a:r>
              <a:rPr lang="en-US" sz="1350" b="1" dirty="0">
                <a:solidFill>
                  <a:srgbClr val="1F2933"/>
                </a:solidFill>
                <a:latin typeface="Arial" pitchFamily="34" charset="0"/>
                <a:ea typeface="Arial" pitchFamily="34" charset="-122"/>
                <a:cs typeface="Arial" pitchFamily="34" charset="-120"/>
              </a:rPr>
              <a:t>The test: </a:t>
            </a:r>
            <a:pPr indent="0" marL="0">
              <a:buNone/>
            </a:pPr>
            <a:r>
              <a:rPr lang="en-US" sz="1350" dirty="0">
                <a:solidFill>
                  <a:srgbClr val="1F2933"/>
                </a:solidFill>
                <a:latin typeface="Arial" pitchFamily="34" charset="0"/>
                <a:ea typeface="Arial" pitchFamily="34" charset="-122"/>
                <a:cs typeface="Arial" pitchFamily="34" charset="-120"/>
              </a:rPr>
              <a:t>if aggregated surprises still help forecast macro outcomes, the transcripts hold genuinely new information, not a rediscovery of what common macro data already says.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A5FAF"/>
          </a:solidFill>
          <a:ln w="12700">
            <a:solidFill>
              <a:srgbClr val="1A5FAF"/>
            </a:solidFill>
            <a:prstDash val="solid"/>
          </a:ln>
        </p:spPr>
      </p:sp>
      <p:sp>
        <p:nvSpPr>
          <p:cNvPr id="3" name="Text 1"/>
          <p:cNvSpPr txBox="1"/>
          <p:nvPr/>
        </p:nvSpPr>
        <p:spPr>
          <a:xfrm>
            <a:off x="548640" y="73152"/>
            <a:ext cx="11091672" cy="859536"/>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How the Main Index is built</a:t>
            </a:r>
            <a:endParaRPr lang="en-US" sz="2600" dirty="0"/>
          </a:p>
        </p:txBody>
      </p:sp>
      <p:sp>
        <p:nvSpPr>
          <p:cNvPr id="4" name="Shape 2"/>
          <p:cNvSpPr/>
          <p:nvPr/>
        </p:nvSpPr>
        <p:spPr>
          <a:xfrm>
            <a:off x="548640" y="1234440"/>
            <a:ext cx="3429000" cy="1508760"/>
          </a:xfrm>
          <a:prstGeom prst="rect">
            <a:avLst/>
          </a:prstGeom>
          <a:solidFill>
            <a:srgbClr val="F3F5F8"/>
          </a:solidFill>
          <a:ln w="9525">
            <a:solidFill>
              <a:srgbClr val="D5DBE3"/>
            </a:solidFill>
            <a:prstDash val="solid"/>
          </a:ln>
        </p:spPr>
      </p:sp>
      <p:sp>
        <p:nvSpPr>
          <p:cNvPr id="5" name="Shape 3"/>
          <p:cNvSpPr/>
          <p:nvPr/>
        </p:nvSpPr>
        <p:spPr>
          <a:xfrm>
            <a:off x="548640" y="1234440"/>
            <a:ext cx="3429000" cy="54864"/>
          </a:xfrm>
          <a:prstGeom prst="rect">
            <a:avLst/>
          </a:prstGeom>
          <a:solidFill>
            <a:srgbClr val="1A5FAF"/>
          </a:solidFill>
          <a:ln w="12700">
            <a:solidFill>
              <a:srgbClr val="1A5FAF"/>
            </a:solidFill>
            <a:prstDash val="solid"/>
          </a:ln>
        </p:spPr>
      </p:sp>
      <p:sp>
        <p:nvSpPr>
          <p:cNvPr id="6" name="Shape 4"/>
          <p:cNvSpPr/>
          <p:nvPr/>
        </p:nvSpPr>
        <p:spPr>
          <a:xfrm>
            <a:off x="731520" y="1417320"/>
            <a:ext cx="384048" cy="384048"/>
          </a:xfrm>
          <a:prstGeom prst="ellipse">
            <a:avLst/>
          </a:prstGeom>
          <a:solidFill>
            <a:srgbClr val="1A5FAF"/>
          </a:solidFill>
          <a:ln w="12700">
            <a:solidFill>
              <a:srgbClr val="1A5FAF"/>
            </a:solidFill>
            <a:prstDash val="solid"/>
          </a:ln>
        </p:spPr>
      </p:sp>
      <p:sp>
        <p:nvSpPr>
          <p:cNvPr id="7" name="Text 5"/>
          <p:cNvSpPr txBox="1"/>
          <p:nvPr/>
        </p:nvSpPr>
        <p:spPr>
          <a:xfrm>
            <a:off x="731520" y="1417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txBox="1"/>
          <p:nvPr/>
        </p:nvSpPr>
        <p:spPr>
          <a:xfrm>
            <a:off x="1234440" y="1417320"/>
            <a:ext cx="2560320" cy="384048"/>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Collect</a:t>
            </a:r>
            <a:endParaRPr lang="en-US" sz="1500" dirty="0"/>
          </a:p>
        </p:txBody>
      </p:sp>
      <p:sp>
        <p:nvSpPr>
          <p:cNvPr id="9" name="Text 7"/>
          <p:cNvSpPr txBox="1"/>
          <p:nvPr/>
        </p:nvSpPr>
        <p:spPr>
          <a:xfrm>
            <a:off x="731520" y="1874520"/>
            <a:ext cx="3063240" cy="822960"/>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8 candidate monthly series from the transcript pipeline: diffusion, residualized surprise and cross-topic measures.</a:t>
            </a:r>
            <a:endParaRPr lang="en-US" sz="1150" dirty="0"/>
          </a:p>
        </p:txBody>
      </p:sp>
      <p:sp>
        <p:nvSpPr>
          <p:cNvPr id="10" name="Text 8"/>
          <p:cNvSpPr txBox="1"/>
          <p:nvPr/>
        </p:nvSpPr>
        <p:spPr>
          <a:xfrm>
            <a:off x="3977640" y="1737360"/>
            <a:ext cx="402336" cy="365760"/>
          </a:xfrm>
          <a:prstGeom prst="rect">
            <a:avLst/>
          </a:prstGeom>
          <a:noFill/>
          <a:ln/>
        </p:spPr>
        <p:txBody>
          <a:bodyPr wrap="square" lIns="0" tIns="0" rIns="0" bIns="0" rtlCol="0" anchor="ctr"/>
          <a:lstStyle/>
          <a:p>
            <a:pPr algn="ctr" indent="0" marL="0">
              <a:buNone/>
            </a:pPr>
            <a:r>
              <a:rPr lang="en-US" sz="2200" dirty="0">
                <a:solidFill>
                  <a:srgbClr val="5B6772"/>
                </a:solidFill>
                <a:latin typeface="Arial" pitchFamily="34" charset="0"/>
                <a:ea typeface="Arial" pitchFamily="34" charset="-122"/>
                <a:cs typeface="Arial" pitchFamily="34" charset="-120"/>
              </a:rPr>
              <a:t>→</a:t>
            </a:r>
            <a:endParaRPr lang="en-US" sz="2200" dirty="0"/>
          </a:p>
        </p:txBody>
      </p:sp>
      <p:sp>
        <p:nvSpPr>
          <p:cNvPr id="11" name="Shape 9"/>
          <p:cNvSpPr/>
          <p:nvPr/>
        </p:nvSpPr>
        <p:spPr>
          <a:xfrm>
            <a:off x="4379976" y="1234440"/>
            <a:ext cx="3429000" cy="1508760"/>
          </a:xfrm>
          <a:prstGeom prst="rect">
            <a:avLst/>
          </a:prstGeom>
          <a:solidFill>
            <a:srgbClr val="F3F5F8"/>
          </a:solidFill>
          <a:ln w="9525">
            <a:solidFill>
              <a:srgbClr val="D5DBE3"/>
            </a:solidFill>
            <a:prstDash val="solid"/>
          </a:ln>
        </p:spPr>
      </p:sp>
      <p:sp>
        <p:nvSpPr>
          <p:cNvPr id="12" name="Shape 10"/>
          <p:cNvSpPr/>
          <p:nvPr/>
        </p:nvSpPr>
        <p:spPr>
          <a:xfrm>
            <a:off x="4379976" y="1234440"/>
            <a:ext cx="3429000" cy="54864"/>
          </a:xfrm>
          <a:prstGeom prst="rect">
            <a:avLst/>
          </a:prstGeom>
          <a:solidFill>
            <a:srgbClr val="2E8B84"/>
          </a:solidFill>
          <a:ln w="12700">
            <a:solidFill>
              <a:srgbClr val="2E8B84"/>
            </a:solidFill>
            <a:prstDash val="solid"/>
          </a:ln>
        </p:spPr>
      </p:sp>
      <p:sp>
        <p:nvSpPr>
          <p:cNvPr id="13" name="Shape 11"/>
          <p:cNvSpPr/>
          <p:nvPr/>
        </p:nvSpPr>
        <p:spPr>
          <a:xfrm>
            <a:off x="4562856" y="1417320"/>
            <a:ext cx="384048" cy="384048"/>
          </a:xfrm>
          <a:prstGeom prst="ellipse">
            <a:avLst/>
          </a:prstGeom>
          <a:solidFill>
            <a:srgbClr val="2E8B84"/>
          </a:solidFill>
          <a:ln w="12700">
            <a:solidFill>
              <a:srgbClr val="2E8B84"/>
            </a:solidFill>
            <a:prstDash val="solid"/>
          </a:ln>
        </p:spPr>
      </p:sp>
      <p:sp>
        <p:nvSpPr>
          <p:cNvPr id="14" name="Text 12"/>
          <p:cNvSpPr txBox="1"/>
          <p:nvPr/>
        </p:nvSpPr>
        <p:spPr>
          <a:xfrm>
            <a:off x="4562856" y="1417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txBox="1"/>
          <p:nvPr/>
        </p:nvSpPr>
        <p:spPr>
          <a:xfrm>
            <a:off x="5065776" y="1417320"/>
            <a:ext cx="2560320" cy="384048"/>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Align</a:t>
            </a:r>
            <a:endParaRPr lang="en-US" sz="1500" dirty="0"/>
          </a:p>
        </p:txBody>
      </p:sp>
      <p:sp>
        <p:nvSpPr>
          <p:cNvPr id="16" name="Text 14"/>
          <p:cNvSpPr txBox="1"/>
          <p:nvPr/>
        </p:nvSpPr>
        <p:spPr>
          <a:xfrm>
            <a:off x="4562856" y="1874520"/>
            <a:ext cx="3063240" cy="822960"/>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Diffusion series are pre-smoothed (24-month MA). Inverted series use 1 − x, so higher always means a stronger economic signal.</a:t>
            </a:r>
            <a:endParaRPr lang="en-US" sz="1150" dirty="0"/>
          </a:p>
        </p:txBody>
      </p:sp>
      <p:sp>
        <p:nvSpPr>
          <p:cNvPr id="17" name="Text 15"/>
          <p:cNvSpPr txBox="1"/>
          <p:nvPr/>
        </p:nvSpPr>
        <p:spPr>
          <a:xfrm>
            <a:off x="7808976" y="1737360"/>
            <a:ext cx="402336" cy="365760"/>
          </a:xfrm>
          <a:prstGeom prst="rect">
            <a:avLst/>
          </a:prstGeom>
          <a:noFill/>
          <a:ln/>
        </p:spPr>
        <p:txBody>
          <a:bodyPr wrap="square" lIns="0" tIns="0" rIns="0" bIns="0" rtlCol="0" anchor="ctr"/>
          <a:lstStyle/>
          <a:p>
            <a:pPr algn="ctr" indent="0" marL="0">
              <a:buNone/>
            </a:pPr>
            <a:r>
              <a:rPr lang="en-US" sz="2200" dirty="0">
                <a:solidFill>
                  <a:srgbClr val="5B6772"/>
                </a:solidFill>
                <a:latin typeface="Arial" pitchFamily="34" charset="0"/>
                <a:ea typeface="Arial" pitchFamily="34" charset="-122"/>
                <a:cs typeface="Arial" pitchFamily="34" charset="-120"/>
              </a:rPr>
              <a:t>→</a:t>
            </a:r>
            <a:endParaRPr lang="en-US" sz="2200" dirty="0"/>
          </a:p>
        </p:txBody>
      </p:sp>
      <p:sp>
        <p:nvSpPr>
          <p:cNvPr id="18" name="Shape 16"/>
          <p:cNvSpPr/>
          <p:nvPr/>
        </p:nvSpPr>
        <p:spPr>
          <a:xfrm>
            <a:off x="8211312" y="1234440"/>
            <a:ext cx="3429000" cy="1508760"/>
          </a:xfrm>
          <a:prstGeom prst="rect">
            <a:avLst/>
          </a:prstGeom>
          <a:solidFill>
            <a:srgbClr val="F3F5F8"/>
          </a:solidFill>
          <a:ln w="9525">
            <a:solidFill>
              <a:srgbClr val="D5DBE3"/>
            </a:solidFill>
            <a:prstDash val="solid"/>
          </a:ln>
        </p:spPr>
      </p:sp>
      <p:sp>
        <p:nvSpPr>
          <p:cNvPr id="19" name="Shape 17"/>
          <p:cNvSpPr/>
          <p:nvPr/>
        </p:nvSpPr>
        <p:spPr>
          <a:xfrm>
            <a:off x="8211312" y="1234440"/>
            <a:ext cx="3429000" cy="54864"/>
          </a:xfrm>
          <a:prstGeom prst="rect">
            <a:avLst/>
          </a:prstGeom>
          <a:solidFill>
            <a:srgbClr val="E58A2B"/>
          </a:solidFill>
          <a:ln w="12700">
            <a:solidFill>
              <a:srgbClr val="E58A2B"/>
            </a:solidFill>
            <a:prstDash val="solid"/>
          </a:ln>
        </p:spPr>
      </p:sp>
      <p:sp>
        <p:nvSpPr>
          <p:cNvPr id="20" name="Shape 18"/>
          <p:cNvSpPr/>
          <p:nvPr/>
        </p:nvSpPr>
        <p:spPr>
          <a:xfrm>
            <a:off x="8394192" y="1417320"/>
            <a:ext cx="384048" cy="384048"/>
          </a:xfrm>
          <a:prstGeom prst="ellipse">
            <a:avLst/>
          </a:prstGeom>
          <a:solidFill>
            <a:srgbClr val="C9741C"/>
          </a:solidFill>
          <a:ln w="12700">
            <a:solidFill>
              <a:srgbClr val="C9741C"/>
            </a:solidFill>
            <a:prstDash val="solid"/>
          </a:ln>
        </p:spPr>
      </p:sp>
      <p:sp>
        <p:nvSpPr>
          <p:cNvPr id="21" name="Text 19"/>
          <p:cNvSpPr txBox="1"/>
          <p:nvPr/>
        </p:nvSpPr>
        <p:spPr>
          <a:xfrm>
            <a:off x="8394192" y="14173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2" name="Text 20"/>
          <p:cNvSpPr txBox="1"/>
          <p:nvPr/>
        </p:nvSpPr>
        <p:spPr>
          <a:xfrm>
            <a:off x="8897112" y="1417320"/>
            <a:ext cx="2560320" cy="384048"/>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Combine</a:t>
            </a:r>
            <a:endParaRPr lang="en-US" sz="1500" dirty="0"/>
          </a:p>
        </p:txBody>
      </p:sp>
      <p:sp>
        <p:nvSpPr>
          <p:cNvPr id="23" name="Text 21"/>
          <p:cNvSpPr txBox="1"/>
          <p:nvPr/>
        </p:nvSpPr>
        <p:spPr>
          <a:xfrm>
            <a:off x="8394192" y="1874520"/>
            <a:ext cx="3063240" cy="822960"/>
          </a:xfrm>
          <a:prstGeom prst="rect">
            <a:avLst/>
          </a:prstGeom>
          <a:noFill/>
          <a:ln/>
        </p:spPr>
        <p:txBody>
          <a:bodyPr wrap="square" lIns="0" tIns="0" rIns="0" bIns="0" rtlCol="0" anchor="t"/>
          <a:lstStyle/>
          <a:p>
            <a:pPr indent="0" marL="0">
              <a:buNone/>
            </a:pPr>
            <a:r>
              <a:rPr lang="en-US" sz="1150" dirty="0">
                <a:solidFill>
                  <a:srgbClr val="1F2933"/>
                </a:solidFill>
                <a:latin typeface="Arial" pitchFamily="34" charset="0"/>
                <a:ea typeface="Arial" pitchFamily="34" charset="-122"/>
                <a:cs typeface="Arial" pitchFamily="34" charset="-120"/>
              </a:rPr>
              <a:t>Lasso regression onto ISM Manufacturing PMI YoY% at a 10-month lead keeps a parsimonious set. 7 of 8 signals survive.</a:t>
            </a:r>
            <a:endParaRPr lang="en-US" sz="11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2926080"/>
          <a:ext cx="6949440" cy="914400"/>
        </p:xfrm>
        <a:graphic>
          <a:graphicData uri="http://schemas.openxmlformats.org/drawingml/2006/table">
            <a:tbl>
              <a:tblPr/>
              <a:tblGrid>
                <a:gridCol w="1554480"/>
                <a:gridCol w="3931920"/>
                <a:gridCol w="1463040"/>
              </a:tblGrid>
              <a:tr h="301752">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Family</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6406F"/>
                    </a:solidFill>
                  </a:tcPr>
                </a:tc>
                <a:tc>
                  <a:txBody>
                    <a:bodyPr/>
                    <a:lstStyle/>
                    <a:p>
                      <a:pPr algn="l" indent="0" marL="0">
                        <a:buNone/>
                      </a:pPr>
                      <a:r>
                        <a:rPr lang="en-US" sz="1100" b="1" dirty="0">
                          <a:solidFill>
                            <a:srgbClr val="FFFFFF"/>
                          </a:solidFill>
                          <a:latin typeface="Arial" pitchFamily="34" charset="0"/>
                          <a:ea typeface="Arial" pitchFamily="34" charset="-122"/>
                          <a:cs typeface="Arial" pitchFamily="34" charset="-120"/>
                        </a:rPr>
                        <a:t>Signal</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6406F"/>
                    </a:solidFill>
                  </a:tcPr>
                </a:tc>
                <a:tc>
                  <a:txBody>
                    <a:bodyPr/>
                    <a:lstStyle/>
                    <a:p>
                      <a:pPr algn="r" indent="0" marL="0">
                        <a:buNone/>
                      </a:pPr>
                      <a:r>
                        <a:rPr lang="en-US" sz="1100" b="1" dirty="0">
                          <a:solidFill>
                            <a:srgbClr val="FFFFFF"/>
                          </a:solidFill>
                          <a:latin typeface="Arial" pitchFamily="34" charset="0"/>
                          <a:ea typeface="Arial" pitchFamily="34" charset="-122"/>
                          <a:cs typeface="Arial" pitchFamily="34" charset="-120"/>
                        </a:rPr>
                        <a:t>Lasso weight</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6406F"/>
                    </a:solidFill>
                  </a:tcPr>
                </a:tc>
              </a:tr>
              <a:tr h="301752">
                <a:tc>
                  <a:txBody>
                    <a:bodyPr/>
                    <a:lstStyle/>
                    <a:p>
                      <a:pPr indent="0" marL="0">
                        <a:buNone/>
                      </a:pPr>
                      <a:r>
                        <a:rPr lang="en-US" sz="1100" b="1" dirty="0">
                          <a:solidFill>
                            <a:srgbClr val="1A5FAF"/>
                          </a:solidFill>
                          <a:latin typeface="Arial" pitchFamily="34" charset="0"/>
                          <a:ea typeface="Arial" pitchFamily="34" charset="-122"/>
                          <a:cs typeface="Arial" pitchFamily="34" charset="-120"/>
                        </a:rPr>
                        <a:t>Diffusion</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F2933"/>
                          </a:solidFill>
                          <a:latin typeface="Arial" pitchFamily="34" charset="0"/>
                          <a:ea typeface="Arial" pitchFamily="34" charset="-122"/>
                          <a:cs typeface="Arial" pitchFamily="34" charset="-120"/>
                        </a:rPr>
                        <a:t>Capex accelerating share (inverted)</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c>
                  <a:txBody>
                    <a:bodyPr/>
                    <a:lstStyle/>
                    <a:p>
                      <a:pPr algn="r" indent="0" marL="0">
                        <a:buNone/>
                      </a:pPr>
                      <a:r>
                        <a:rPr lang="en-US" sz="1100" b="1" dirty="0">
                          <a:solidFill>
                            <a:srgbClr val="1F2933"/>
                          </a:solidFill>
                          <a:latin typeface="Arial" pitchFamily="34" charset="0"/>
                          <a:ea typeface="Arial" pitchFamily="34" charset="-122"/>
                          <a:cs typeface="Arial" pitchFamily="34" charset="-120"/>
                        </a:rPr>
                        <a:t>+248.38</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r>
              <a:tr h="301752">
                <a:tc>
                  <a:txBody>
                    <a:bodyPr/>
                    <a:lstStyle/>
                    <a:p>
                      <a:pPr indent="0" marL="0">
                        <a:buNone/>
                      </a:pPr>
                      <a:r>
                        <a:rPr lang="en-US" sz="1100" b="1" dirty="0">
                          <a:solidFill>
                            <a:srgbClr val="1A5FAF"/>
                          </a:solidFill>
                          <a:latin typeface="Arial" pitchFamily="34" charset="0"/>
                          <a:ea typeface="Arial" pitchFamily="34" charset="-122"/>
                          <a:cs typeface="Arial" pitchFamily="34" charset="-120"/>
                        </a:rPr>
                        <a:t>Diffusion</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Arial" pitchFamily="34" charset="0"/>
                          <a:ea typeface="Arial" pitchFamily="34" charset="-122"/>
                          <a:cs typeface="Arial" pitchFamily="34" charset="-120"/>
                        </a:rPr>
                        <a:t>Hiring accelerating / maintaining share</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2933"/>
                          </a:solidFill>
                          <a:latin typeface="Arial" pitchFamily="34" charset="0"/>
                          <a:ea typeface="Arial" pitchFamily="34" charset="-122"/>
                          <a:cs typeface="Arial" pitchFamily="34" charset="-120"/>
                        </a:rPr>
                        <a:t>−15.99</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301752">
                <a:tc>
                  <a:txBody>
                    <a:bodyPr/>
                    <a:lstStyle/>
                    <a:p>
                      <a:pPr indent="0" marL="0">
                        <a:buNone/>
                      </a:pPr>
                      <a:r>
                        <a:rPr lang="en-US" sz="1100" b="1" dirty="0">
                          <a:solidFill>
                            <a:srgbClr val="1A5FAF"/>
                          </a:solidFill>
                          <a:latin typeface="Arial" pitchFamily="34" charset="0"/>
                          <a:ea typeface="Arial" pitchFamily="34" charset="-122"/>
                          <a:cs typeface="Arial" pitchFamily="34" charset="-120"/>
                        </a:rPr>
                        <a:t>Diffusion</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F2933"/>
                          </a:solidFill>
                          <a:latin typeface="Arial" pitchFamily="34" charset="0"/>
                          <a:ea typeface="Arial" pitchFamily="34" charset="-122"/>
                          <a:cs typeface="Arial" pitchFamily="34" charset="-120"/>
                        </a:rPr>
                        <a:t>Demand accelerating share</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c>
                  <a:txBody>
                    <a:bodyPr/>
                    <a:lstStyle/>
                    <a:p>
                      <a:pPr algn="r" indent="0" marL="0">
                        <a:buNone/>
                      </a:pPr>
                      <a:r>
                        <a:rPr lang="en-US" sz="1100" b="1" dirty="0">
                          <a:solidFill>
                            <a:srgbClr val="1F2933"/>
                          </a:solidFill>
                          <a:latin typeface="Arial" pitchFamily="34" charset="0"/>
                          <a:ea typeface="Arial" pitchFamily="34" charset="-122"/>
                          <a:cs typeface="Arial" pitchFamily="34" charset="-120"/>
                        </a:rPr>
                        <a:t>−58.17</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r>
              <a:tr h="301752">
                <a:tc>
                  <a:txBody>
                    <a:bodyPr/>
                    <a:lstStyle/>
                    <a:p>
                      <a:pPr indent="0" marL="0">
                        <a:buNone/>
                      </a:pPr>
                      <a:r>
                        <a:rPr lang="en-US" sz="1100" b="1" dirty="0">
                          <a:solidFill>
                            <a:srgbClr val="1A5FAF"/>
                          </a:solidFill>
                          <a:latin typeface="Arial" pitchFamily="34" charset="0"/>
                          <a:ea typeface="Arial" pitchFamily="34" charset="-122"/>
                          <a:cs typeface="Arial" pitchFamily="34" charset="-120"/>
                        </a:rPr>
                        <a:t>Diffusion</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Arial" pitchFamily="34" charset="0"/>
                          <a:ea typeface="Arial" pitchFamily="34" charset="-122"/>
                          <a:cs typeface="Arial" pitchFamily="34" charset="-120"/>
                        </a:rPr>
                        <a:t>Low capex visibility share (inverted)</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2933"/>
                          </a:solidFill>
                          <a:latin typeface="Arial" pitchFamily="34" charset="0"/>
                          <a:ea typeface="Arial" pitchFamily="34" charset="-122"/>
                          <a:cs typeface="Arial" pitchFamily="34" charset="-120"/>
                        </a:rPr>
                        <a:t>−1.83</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301752">
                <a:tc>
                  <a:txBody>
                    <a:bodyPr/>
                    <a:lstStyle/>
                    <a:p>
                      <a:pPr indent="0" marL="0">
                        <a:buNone/>
                      </a:pPr>
                      <a:r>
                        <a:rPr lang="en-US" sz="1100" b="1" dirty="0">
                          <a:solidFill>
                            <a:srgbClr val="B8691A"/>
                          </a:solidFill>
                          <a:latin typeface="Arial" pitchFamily="34" charset="0"/>
                          <a:ea typeface="Arial" pitchFamily="34" charset="-122"/>
                          <a:cs typeface="Arial" pitchFamily="34" charset="-120"/>
                        </a:rPr>
                        <a:t>Residualized</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1F2933"/>
                          </a:solidFill>
                          <a:latin typeface="Arial" pitchFamily="34" charset="0"/>
                          <a:ea typeface="Arial" pitchFamily="34" charset="-122"/>
                          <a:cs typeface="Arial" pitchFamily="34" charset="-120"/>
                        </a:rPr>
                        <a:t>Cross-industry surprise breadth</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c>
                  <a:txBody>
                    <a:bodyPr/>
                    <a:lstStyle/>
                    <a:p>
                      <a:pPr algn="r" indent="0" marL="0">
                        <a:buNone/>
                      </a:pPr>
                      <a:r>
                        <a:rPr lang="en-US" sz="1100" b="1" dirty="0">
                          <a:solidFill>
                            <a:srgbClr val="1F2933"/>
                          </a:solidFill>
                          <a:latin typeface="Arial" pitchFamily="34" charset="0"/>
                          <a:ea typeface="Arial" pitchFamily="34" charset="-122"/>
                          <a:cs typeface="Arial" pitchFamily="34" charset="-120"/>
                        </a:rPr>
                        <a:t>−13.27</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r>
              <a:tr h="301752">
                <a:tc>
                  <a:txBody>
                    <a:bodyPr/>
                    <a:lstStyle/>
                    <a:p>
                      <a:pPr indent="0" marL="0">
                        <a:buNone/>
                      </a:pPr>
                      <a:r>
                        <a:rPr lang="en-US" sz="1100" b="1" dirty="0">
                          <a:solidFill>
                            <a:srgbClr val="B8691A"/>
                          </a:solidFill>
                          <a:latin typeface="Arial" pitchFamily="34" charset="0"/>
                          <a:ea typeface="Arial" pitchFamily="34" charset="-122"/>
                          <a:cs typeface="Arial" pitchFamily="34" charset="-120"/>
                        </a:rPr>
                        <a:t>Residualized</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Arial" pitchFamily="34" charset="0"/>
                          <a:ea typeface="Arial" pitchFamily="34" charset="-122"/>
                          <a:cs typeface="Arial" pitchFamily="34" charset="-120"/>
                        </a:rPr>
                        <a:t>Downside capex surprise (p10)</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2933"/>
                          </a:solidFill>
                          <a:latin typeface="Arial" pitchFamily="34" charset="0"/>
                          <a:ea typeface="Arial" pitchFamily="34" charset="-122"/>
                          <a:cs typeface="Arial" pitchFamily="34" charset="-120"/>
                        </a:rPr>
                        <a:t>−6.73</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r h="301752">
                <a:tc>
                  <a:txBody>
                    <a:bodyPr/>
                    <a:lstStyle/>
                    <a:p>
                      <a:pPr indent="0" marL="0">
                        <a:buNone/>
                      </a:pPr>
                      <a:r>
                        <a:rPr lang="en-US" sz="1100" b="1" dirty="0">
                          <a:solidFill>
                            <a:srgbClr val="9AA5B1"/>
                          </a:solidFill>
                          <a:latin typeface="Arial" pitchFamily="34" charset="0"/>
                          <a:ea typeface="Arial" pitchFamily="34" charset="-122"/>
                          <a:cs typeface="Arial" pitchFamily="34" charset="-120"/>
                        </a:rPr>
                        <a:t>Residualized</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100" dirty="0">
                          <a:solidFill>
                            <a:srgbClr val="9AA5B1"/>
                          </a:solidFill>
                          <a:latin typeface="Arial" pitchFamily="34" charset="0"/>
                          <a:ea typeface="Arial" pitchFamily="34" charset="-122"/>
                          <a:cs typeface="Arial" pitchFamily="34" charset="-120"/>
                        </a:rPr>
                        <a:t>Turning-point breadth (neg→pos)</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c>
                  <a:txBody>
                    <a:bodyPr/>
                    <a:lstStyle/>
                    <a:p>
                      <a:pPr algn="r" indent="0" marL="0">
                        <a:buNone/>
                      </a:pPr>
                      <a:r>
                        <a:rPr lang="en-US" sz="1100" i="1" dirty="0">
                          <a:solidFill>
                            <a:srgbClr val="9AA5B1"/>
                          </a:solidFill>
                          <a:latin typeface="Arial" pitchFamily="34" charset="0"/>
                          <a:ea typeface="Arial" pitchFamily="34" charset="-122"/>
                          <a:cs typeface="Arial" pitchFamily="34" charset="-120"/>
                        </a:rPr>
                        <a:t>dropped</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3F5F8"/>
                    </a:solidFill>
                  </a:tcPr>
                </a:tc>
              </a:tr>
              <a:tr h="301752">
                <a:tc>
                  <a:txBody>
                    <a:bodyPr/>
                    <a:lstStyle/>
                    <a:p>
                      <a:pPr indent="0" marL="0">
                        <a:buNone/>
                      </a:pPr>
                      <a:r>
                        <a:rPr lang="en-US" sz="1100" b="1" dirty="0">
                          <a:solidFill>
                            <a:srgbClr val="2E8B84"/>
                          </a:solidFill>
                          <a:latin typeface="Arial" pitchFamily="34" charset="0"/>
                          <a:ea typeface="Arial" pitchFamily="34" charset="-122"/>
                          <a:cs typeface="Arial" pitchFamily="34" charset="-120"/>
                        </a:rPr>
                        <a:t>Cross-topic</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Arial" pitchFamily="34" charset="0"/>
                          <a:ea typeface="Arial" pitchFamily="34" charset="-122"/>
                          <a:cs typeface="Arial" pitchFamily="34" charset="-120"/>
                        </a:rPr>
                        <a:t>Cross-topic divergence (inverted)</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100" b="1" dirty="0">
                          <a:solidFill>
                            <a:srgbClr val="1F2933"/>
                          </a:solidFill>
                          <a:latin typeface="Arial" pitchFamily="34" charset="0"/>
                          <a:ea typeface="Arial" pitchFamily="34" charset="-122"/>
                          <a:cs typeface="Arial" pitchFamily="34" charset="-120"/>
                        </a:rPr>
                        <a:t>+4.45</a:t>
                      </a:r>
                      <a:endParaRPr lang="en-US" sz="1100" dirty="0">
                        <a:latin typeface="Arial" charset="0"/>
                        <a:ea typeface="Arial" charset="0"/>
                        <a:cs typeface="Arial" charset="0"/>
                      </a:endParaRPr>
                    </a:p>
                  </a:txBody>
                  <a:tcPr marL="91440" marR="91440" marT="0" marB="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FFFFF"/>
                    </a:solidFill>
                  </a:tcPr>
                </a:tc>
              </a:tr>
            </a:tbl>
          </a:graphicData>
        </a:graphic>
      </p:graphicFrame>
      <p:sp>
        <p:nvSpPr>
          <p:cNvPr id="25" name="Shape 22"/>
          <p:cNvSpPr/>
          <p:nvPr/>
        </p:nvSpPr>
        <p:spPr>
          <a:xfrm>
            <a:off x="7680960" y="2926080"/>
            <a:ext cx="3959352" cy="2715768"/>
          </a:xfrm>
          <a:prstGeom prst="rect">
            <a:avLst/>
          </a:prstGeom>
          <a:solidFill>
            <a:srgbClr val="F3F5F8"/>
          </a:solidFill>
          <a:ln w="9525">
            <a:solidFill>
              <a:srgbClr val="D5DBE3"/>
            </a:solidFill>
            <a:prstDash val="solid"/>
          </a:ln>
        </p:spPr>
      </p:sp>
      <p:sp>
        <p:nvSpPr>
          <p:cNvPr id="26" name="Shape 23"/>
          <p:cNvSpPr/>
          <p:nvPr/>
        </p:nvSpPr>
        <p:spPr>
          <a:xfrm>
            <a:off x="7680960" y="2926080"/>
            <a:ext cx="3959352" cy="54864"/>
          </a:xfrm>
          <a:prstGeom prst="rect">
            <a:avLst/>
          </a:prstGeom>
          <a:solidFill>
            <a:srgbClr val="16406F"/>
          </a:solidFill>
          <a:ln w="12700">
            <a:solidFill>
              <a:srgbClr val="16406F"/>
            </a:solidFill>
            <a:prstDash val="solid"/>
          </a:ln>
        </p:spPr>
      </p:sp>
      <p:sp>
        <p:nvSpPr>
          <p:cNvPr id="27" name="Text 24"/>
          <p:cNvSpPr txBox="1"/>
          <p:nvPr/>
        </p:nvSpPr>
        <p:spPr>
          <a:xfrm>
            <a:off x="7909560" y="3090672"/>
            <a:ext cx="3566160" cy="329184"/>
          </a:xfrm>
          <a:prstGeom prst="rect">
            <a:avLst/>
          </a:prstGeom>
          <a:noFill/>
          <a:ln/>
        </p:spPr>
        <p:txBody>
          <a:bodyPr wrap="square" lIns="0" tIns="0" rIns="0" bIns="0" rtlCol="0" anchor="ctr"/>
          <a:lstStyle/>
          <a:p>
            <a:pPr indent="0" marL="0">
              <a:buNone/>
            </a:pPr>
            <a:r>
              <a:rPr lang="en-US" sz="1400" b="1" dirty="0">
                <a:solidFill>
                  <a:srgbClr val="16406F"/>
                </a:solidFill>
                <a:latin typeface="Arial" pitchFamily="34" charset="0"/>
                <a:ea typeface="Arial" pitchFamily="34" charset="-122"/>
                <a:cs typeface="Arial" pitchFamily="34" charset="-120"/>
              </a:rPr>
              <a:t>Reading the index</a:t>
            </a:r>
            <a:endParaRPr lang="en-US" sz="1400" dirty="0"/>
          </a:p>
        </p:txBody>
      </p:sp>
      <p:sp>
        <p:nvSpPr>
          <p:cNvPr id="28" name="Text 25"/>
          <p:cNvSpPr txBox="1"/>
          <p:nvPr/>
        </p:nvSpPr>
        <p:spPr>
          <a:xfrm>
            <a:off x="7909560" y="3493008"/>
            <a:ext cx="3566160" cy="20574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1F2933"/>
                </a:solidFill>
                <a:latin typeface="Arial" pitchFamily="34" charset="0"/>
                <a:ea typeface="Arial" pitchFamily="34" charset="-122"/>
                <a:cs typeface="Arial" pitchFamily="34" charset="-120"/>
              </a:rPr>
              <a:t>Linear and transparent: intercept (−193.25) plus the weighted sum of the signals</a:t>
            </a:r>
            <a:endParaRPr lang="en-US" sz="1200" dirty="0"/>
          </a:p>
          <a:p>
            <a:pPr marL="342900" indent="-342900">
              <a:spcAft>
                <a:spcPts val="500"/>
              </a:spcAft>
              <a:buSzPct val="100000"/>
              <a:buChar char="•"/>
            </a:pPr>
            <a:r>
              <a:rPr lang="en-US" sz="1200" dirty="0">
                <a:solidFill>
                  <a:srgbClr val="1F2933"/>
                </a:solidFill>
                <a:latin typeface="Arial" pitchFamily="34" charset="0"/>
                <a:ea typeface="Arial" pitchFamily="34" charset="-122"/>
                <a:cs typeface="Arial" pitchFamily="34" charset="-120"/>
              </a:rPr>
              <a:t>Lasso keeps 7 of 8: turning-point breadth is zeroed out</a:t>
            </a:r>
            <a:endParaRPr lang="en-US" sz="1200" dirty="0"/>
          </a:p>
          <a:p>
            <a:pPr marL="342900" indent="-342900">
              <a:spcAft>
                <a:spcPts val="500"/>
              </a:spcAft>
              <a:buSzPct val="100000"/>
              <a:buChar char="•"/>
            </a:pPr>
            <a:r>
              <a:rPr lang="en-US" sz="1200" dirty="0">
                <a:solidFill>
                  <a:srgbClr val="1F2933"/>
                </a:solidFill>
                <a:latin typeface="Arial" pitchFamily="34" charset="0"/>
                <a:ea typeface="Arial" pitchFamily="34" charset="-122"/>
                <a:cs typeface="Arial" pitchFamily="34" charset="-120"/>
              </a:rPr>
              <a:t>All three families contribute to the final index</a:t>
            </a:r>
            <a:endParaRPr lang="en-US" sz="1200" dirty="0"/>
          </a:p>
          <a:p>
            <a:pPr marL="342900" indent="-342900">
              <a:spcAft>
                <a:spcPts val="500"/>
              </a:spcAft>
              <a:buSzPct val="100000"/>
              <a:buChar char="•"/>
            </a:pPr>
            <a:r>
              <a:rPr lang="en-US" sz="1200" dirty="0">
                <a:solidFill>
                  <a:srgbClr val="1F2933"/>
                </a:solidFill>
                <a:latin typeface="Arial" pitchFamily="34" charset="0"/>
                <a:ea typeface="Arial" pitchFamily="34" charset="-122"/>
                <a:cs typeface="Arial" pitchFamily="34" charset="-120"/>
              </a:rPr>
              <a:t>Weights are as fitted; we evaluate the composite, not individual coefficients</a:t>
            </a:r>
            <a:endParaRPr lang="en-US" sz="1200" dirty="0"/>
          </a:p>
        </p:txBody>
      </p:sp>
      <p:sp>
        <p:nvSpPr>
          <p:cNvPr id="29" name="Shape 26"/>
          <p:cNvSpPr/>
          <p:nvPr/>
        </p:nvSpPr>
        <p:spPr>
          <a:xfrm>
            <a:off x="548640" y="5852160"/>
            <a:ext cx="11091672" cy="621792"/>
          </a:xfrm>
          <a:prstGeom prst="rect">
            <a:avLst/>
          </a:prstGeom>
          <a:solidFill>
            <a:srgbClr val="FDF1DE"/>
          </a:solidFill>
          <a:ln w="12700">
            <a:solidFill>
              <a:srgbClr val="FDF1DE"/>
            </a:solidFill>
            <a:prstDash val="solid"/>
          </a:ln>
        </p:spPr>
      </p:sp>
      <p:sp>
        <p:nvSpPr>
          <p:cNvPr id="30" name="Shape 27"/>
          <p:cNvSpPr/>
          <p:nvPr/>
        </p:nvSpPr>
        <p:spPr>
          <a:xfrm>
            <a:off x="548640" y="5852160"/>
            <a:ext cx="64008" cy="621792"/>
          </a:xfrm>
          <a:prstGeom prst="rect">
            <a:avLst/>
          </a:prstGeom>
          <a:solidFill>
            <a:srgbClr val="E58A2B"/>
          </a:solidFill>
          <a:ln w="12700">
            <a:solidFill>
              <a:srgbClr val="E58A2B"/>
            </a:solidFill>
            <a:prstDash val="solid"/>
          </a:ln>
        </p:spPr>
      </p:sp>
      <p:sp>
        <p:nvSpPr>
          <p:cNvPr id="31" name="Text 28"/>
          <p:cNvSpPr txBox="1"/>
          <p:nvPr/>
        </p:nvSpPr>
        <p:spPr>
          <a:xfrm>
            <a:off x="777240" y="5852160"/>
            <a:ext cx="10698480" cy="621792"/>
          </a:xfrm>
          <a:prstGeom prst="rect">
            <a:avLst/>
          </a:prstGeom>
          <a:noFill/>
          <a:ln/>
        </p:spPr>
        <p:txBody>
          <a:bodyPr wrap="square" lIns="0" tIns="0" rIns="0" bIns="0" rtlCol="0" anchor="ctr"/>
          <a:lstStyle/>
          <a:p>
            <a:pPr indent="0" marL="0">
              <a:buNone/>
            </a:pPr>
            <a:r>
              <a:rPr lang="en-US" sz="1350" b="1" dirty="0">
                <a:solidFill>
                  <a:srgbClr val="1F2933"/>
                </a:solidFill>
                <a:latin typeface="Arial" pitchFamily="34" charset="0"/>
                <a:ea typeface="Arial" pitchFamily="34" charset="-122"/>
                <a:cs typeface="Arial" pitchFamily="34" charset="-120"/>
              </a:rPr>
              <a:t>Bottom line: </a:t>
            </a:r>
            <a:pPr indent="0" marL="0">
              <a:buNone/>
            </a:pPr>
            <a:r>
              <a:rPr lang="en-US" sz="1350" dirty="0">
                <a:solidFill>
                  <a:srgbClr val="1F2933"/>
                </a:solidFill>
                <a:latin typeface="Arial" pitchFamily="34" charset="0"/>
                <a:ea typeface="Arial" pitchFamily="34" charset="-122"/>
                <a:cs typeface="Arial" pitchFamily="34" charset="-120"/>
              </a:rPr>
              <a:t>a simple linear composite of 7 transcript-derived signals, weighted to line up with ISM PMI YoY% ten months ahead.</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A5FAF"/>
          </a:solidFill>
          <a:ln w="12700">
            <a:solidFill>
              <a:srgbClr val="1A5FAF"/>
            </a:solidFill>
            <a:prstDash val="solid"/>
          </a:ln>
        </p:spPr>
      </p:sp>
      <p:sp>
        <p:nvSpPr>
          <p:cNvPr id="3" name="Text 1"/>
          <p:cNvSpPr txBox="1"/>
          <p:nvPr/>
        </p:nvSpPr>
        <p:spPr>
          <a:xfrm>
            <a:off x="548640" y="73152"/>
            <a:ext cx="11091672" cy="859536"/>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The Main Index: </a:t>
            </a:r>
            <a:pPr indent="0" marL="0">
              <a:buNone/>
            </a:pPr>
            <a:r>
              <a:rPr lang="en-US" sz="2600" b="1" i="1" dirty="0">
                <a:solidFill>
                  <a:srgbClr val="FFFFFF"/>
                </a:solidFill>
                <a:latin typeface="Arial" pitchFamily="34" charset="0"/>
                <a:ea typeface="Arial" pitchFamily="34" charset="-122"/>
                <a:cs typeface="Arial" pitchFamily="34" charset="-120"/>
              </a:rPr>
              <a:t>a transcript-based leading indicator</a:t>
            </a:r>
            <a:endParaRPr lang="en-US" sz="2600" dirty="0"/>
          </a:p>
        </p:txBody>
      </p:sp>
      <p:sp>
        <p:nvSpPr>
          <p:cNvPr id="4" name="Shape 2"/>
          <p:cNvSpPr/>
          <p:nvPr/>
        </p:nvSpPr>
        <p:spPr>
          <a:xfrm>
            <a:off x="548640" y="1234440"/>
            <a:ext cx="3566160" cy="502920"/>
          </a:xfrm>
          <a:prstGeom prst="roundRect">
            <a:avLst>
              <a:gd name="adj" fmla="val 14545"/>
            </a:avLst>
          </a:prstGeom>
          <a:solidFill>
            <a:srgbClr val="E4EEF9"/>
          </a:solidFill>
          <a:ln w="12700">
            <a:solidFill>
              <a:srgbClr val="E4EEF9"/>
            </a:solidFill>
            <a:prstDash val="solid"/>
          </a:ln>
        </p:spPr>
      </p:sp>
      <p:sp>
        <p:nvSpPr>
          <p:cNvPr id="5" name="Text 3"/>
          <p:cNvSpPr txBox="1"/>
          <p:nvPr/>
        </p:nvSpPr>
        <p:spPr>
          <a:xfrm>
            <a:off x="685800" y="1234440"/>
            <a:ext cx="3291840" cy="502920"/>
          </a:xfrm>
          <a:prstGeom prst="rect">
            <a:avLst/>
          </a:prstGeom>
          <a:noFill/>
          <a:ln/>
        </p:spPr>
        <p:txBody>
          <a:bodyPr wrap="square" lIns="0" tIns="0" rIns="0" bIns="0" rtlCol="0" anchor="ctr"/>
          <a:lstStyle/>
          <a:p>
            <a:pPr indent="0" marL="0">
              <a:buNone/>
            </a:pPr>
            <a:r>
              <a:rPr lang="en-US" sz="1250" b="1" dirty="0">
                <a:solidFill>
                  <a:srgbClr val="16406F"/>
                </a:solidFill>
                <a:latin typeface="Arial" pitchFamily="34" charset="0"/>
                <a:ea typeface="Arial" pitchFamily="34" charset="-122"/>
                <a:cs typeface="Arial" pitchFamily="34" charset="-120"/>
              </a:rPr>
              <a:t>Method:  </a:t>
            </a:r>
            <a:pPr indent="0" marL="0">
              <a:buNone/>
            </a:pPr>
            <a:r>
              <a:rPr lang="en-US" sz="1250" dirty="0">
                <a:solidFill>
                  <a:srgbClr val="1F2933"/>
                </a:solidFill>
                <a:latin typeface="Arial" pitchFamily="34" charset="0"/>
                <a:ea typeface="Arial" pitchFamily="34" charset="-122"/>
                <a:cs typeface="Arial" pitchFamily="34" charset="-120"/>
              </a:rPr>
              <a:t>Lasso composite of 7 signals</a:t>
            </a:r>
            <a:endParaRPr lang="en-US" sz="1250" dirty="0"/>
          </a:p>
        </p:txBody>
      </p:sp>
      <p:sp>
        <p:nvSpPr>
          <p:cNvPr id="6" name="Shape 4"/>
          <p:cNvSpPr/>
          <p:nvPr/>
        </p:nvSpPr>
        <p:spPr>
          <a:xfrm>
            <a:off x="4311396" y="1234440"/>
            <a:ext cx="3566160" cy="502920"/>
          </a:xfrm>
          <a:prstGeom prst="roundRect">
            <a:avLst>
              <a:gd name="adj" fmla="val 14545"/>
            </a:avLst>
          </a:prstGeom>
          <a:solidFill>
            <a:srgbClr val="E4EEF9"/>
          </a:solidFill>
          <a:ln w="12700">
            <a:solidFill>
              <a:srgbClr val="E4EEF9"/>
            </a:solidFill>
            <a:prstDash val="solid"/>
          </a:ln>
        </p:spPr>
      </p:sp>
      <p:sp>
        <p:nvSpPr>
          <p:cNvPr id="7" name="Text 5"/>
          <p:cNvSpPr txBox="1"/>
          <p:nvPr/>
        </p:nvSpPr>
        <p:spPr>
          <a:xfrm>
            <a:off x="4448556" y="1234440"/>
            <a:ext cx="3291840" cy="502920"/>
          </a:xfrm>
          <a:prstGeom prst="rect">
            <a:avLst/>
          </a:prstGeom>
          <a:noFill/>
          <a:ln/>
        </p:spPr>
        <p:txBody>
          <a:bodyPr wrap="square" lIns="0" tIns="0" rIns="0" bIns="0" rtlCol="0" anchor="ctr"/>
          <a:lstStyle/>
          <a:p>
            <a:pPr indent="0" marL="0">
              <a:buNone/>
            </a:pPr>
            <a:r>
              <a:rPr lang="en-US" sz="1250" b="1" dirty="0">
                <a:solidFill>
                  <a:srgbClr val="16406F"/>
                </a:solidFill>
                <a:latin typeface="Arial" pitchFamily="34" charset="0"/>
                <a:ea typeface="Arial" pitchFamily="34" charset="-122"/>
                <a:cs typeface="Arial" pitchFamily="34" charset="-120"/>
              </a:rPr>
              <a:t>Target:  </a:t>
            </a:r>
            <a:pPr indent="0" marL="0">
              <a:buNone/>
            </a:pPr>
            <a:r>
              <a:rPr lang="en-US" sz="1250" dirty="0">
                <a:solidFill>
                  <a:srgbClr val="1F2933"/>
                </a:solidFill>
                <a:latin typeface="Arial" pitchFamily="34" charset="0"/>
                <a:ea typeface="Arial" pitchFamily="34" charset="-122"/>
                <a:cs typeface="Arial" pitchFamily="34" charset="-120"/>
              </a:rPr>
              <a:t>ISM Manufacturing PMI YoY%</a:t>
            </a:r>
            <a:endParaRPr lang="en-US" sz="1250" dirty="0"/>
          </a:p>
        </p:txBody>
      </p:sp>
      <p:sp>
        <p:nvSpPr>
          <p:cNvPr id="8" name="Shape 6"/>
          <p:cNvSpPr/>
          <p:nvPr/>
        </p:nvSpPr>
        <p:spPr>
          <a:xfrm>
            <a:off x="8074152" y="1234440"/>
            <a:ext cx="3566160" cy="502920"/>
          </a:xfrm>
          <a:prstGeom prst="roundRect">
            <a:avLst>
              <a:gd name="adj" fmla="val 14545"/>
            </a:avLst>
          </a:prstGeom>
          <a:solidFill>
            <a:srgbClr val="E4EEF9"/>
          </a:solidFill>
          <a:ln w="12700">
            <a:solidFill>
              <a:srgbClr val="E4EEF9"/>
            </a:solidFill>
            <a:prstDash val="solid"/>
          </a:ln>
        </p:spPr>
      </p:sp>
      <p:sp>
        <p:nvSpPr>
          <p:cNvPr id="9" name="Text 7"/>
          <p:cNvSpPr txBox="1"/>
          <p:nvPr/>
        </p:nvSpPr>
        <p:spPr>
          <a:xfrm>
            <a:off x="8211312" y="1234440"/>
            <a:ext cx="3291840" cy="502920"/>
          </a:xfrm>
          <a:prstGeom prst="rect">
            <a:avLst/>
          </a:prstGeom>
          <a:noFill/>
          <a:ln/>
        </p:spPr>
        <p:txBody>
          <a:bodyPr wrap="square" lIns="0" tIns="0" rIns="0" bIns="0" rtlCol="0" anchor="ctr"/>
          <a:lstStyle/>
          <a:p>
            <a:pPr indent="0" marL="0">
              <a:buNone/>
            </a:pPr>
            <a:r>
              <a:rPr lang="en-US" sz="1250" b="1" dirty="0">
                <a:solidFill>
                  <a:srgbClr val="16406F"/>
                </a:solidFill>
                <a:latin typeface="Arial" pitchFamily="34" charset="0"/>
                <a:ea typeface="Arial" pitchFamily="34" charset="-122"/>
                <a:cs typeface="Arial" pitchFamily="34" charset="-120"/>
              </a:rPr>
              <a:t>Lead:  </a:t>
            </a:r>
            <a:pPr indent="0" marL="0">
              <a:buNone/>
            </a:pPr>
            <a:r>
              <a:rPr lang="en-US" sz="1250" dirty="0">
                <a:solidFill>
                  <a:srgbClr val="1F2933"/>
                </a:solidFill>
                <a:latin typeface="Arial" pitchFamily="34" charset="0"/>
                <a:ea typeface="Arial" pitchFamily="34" charset="-122"/>
                <a:cs typeface="Arial" pitchFamily="34" charset="-120"/>
              </a:rPr>
              <a:t>10 months</a:t>
            </a:r>
            <a:endParaRPr lang="en-US" sz="1250" dirty="0"/>
          </a:p>
        </p:txBody>
      </p:sp>
      <p:sp>
        <p:nvSpPr>
          <p:cNvPr id="10" name="Shape 8"/>
          <p:cNvSpPr/>
          <p:nvPr/>
        </p:nvSpPr>
        <p:spPr>
          <a:xfrm>
            <a:off x="548640" y="1920240"/>
            <a:ext cx="11091672" cy="3749040"/>
          </a:xfrm>
          <a:prstGeom prst="rect">
            <a:avLst/>
          </a:prstGeom>
          <a:solidFill>
            <a:srgbClr val="F7F8FA"/>
          </a:solidFill>
          <a:ln w="15875">
            <a:solidFill>
              <a:srgbClr val="9AA5B1"/>
            </a:solidFill>
            <a:prstDash val="dash"/>
          </a:ln>
        </p:spPr>
      </p:sp>
      <p:sp>
        <p:nvSpPr>
          <p:cNvPr id="11" name="Text 9"/>
          <p:cNvSpPr txBox="1"/>
          <p:nvPr/>
        </p:nvSpPr>
        <p:spPr>
          <a:xfrm>
            <a:off x="548640" y="1920240"/>
            <a:ext cx="11091672" cy="3749040"/>
          </a:xfrm>
          <a:prstGeom prst="rect">
            <a:avLst/>
          </a:prstGeom>
          <a:noFill/>
          <a:ln/>
        </p:spPr>
        <p:txBody>
          <a:bodyPr wrap="square" lIns="0" tIns="0" rIns="0" bIns="0" rtlCol="0" anchor="ctr"/>
          <a:lstStyle/>
          <a:p>
            <a:pPr algn="ctr" indent="0" marL="0">
              <a:buNone/>
            </a:pPr>
            <a:r>
              <a:rPr lang="en-US" sz="1800" dirty="0">
                <a:solidFill>
                  <a:srgbClr val="9AA5B1"/>
                </a:solidFill>
                <a:latin typeface="Arial" pitchFamily="34" charset="0"/>
                <a:ea typeface="Arial" pitchFamily="34" charset="-122"/>
                <a:cs typeface="Arial" pitchFamily="34" charset="-120"/>
              </a:rPr>
              <a:t>Drop the existing Main Index chart(s) here</a:t>
            </a:r>
            <a:endParaRPr lang="en-US" sz="1800" dirty="0"/>
          </a:p>
        </p:txBody>
      </p:sp>
      <p:sp>
        <p:nvSpPr>
          <p:cNvPr id="12" name="Shape 10"/>
          <p:cNvSpPr/>
          <p:nvPr/>
        </p:nvSpPr>
        <p:spPr>
          <a:xfrm>
            <a:off x="548640" y="5852160"/>
            <a:ext cx="11091672" cy="685800"/>
          </a:xfrm>
          <a:prstGeom prst="rect">
            <a:avLst/>
          </a:prstGeom>
          <a:solidFill>
            <a:srgbClr val="FDF1DE"/>
          </a:solidFill>
          <a:ln w="12700">
            <a:solidFill>
              <a:srgbClr val="FDF1DE"/>
            </a:solidFill>
            <a:prstDash val="solid"/>
          </a:ln>
        </p:spPr>
      </p:sp>
      <p:sp>
        <p:nvSpPr>
          <p:cNvPr id="13" name="Shape 11"/>
          <p:cNvSpPr/>
          <p:nvPr/>
        </p:nvSpPr>
        <p:spPr>
          <a:xfrm>
            <a:off x="548640" y="5852160"/>
            <a:ext cx="64008" cy="685800"/>
          </a:xfrm>
          <a:prstGeom prst="rect">
            <a:avLst/>
          </a:prstGeom>
          <a:solidFill>
            <a:srgbClr val="E58A2B"/>
          </a:solidFill>
          <a:ln w="12700">
            <a:solidFill>
              <a:srgbClr val="E58A2B"/>
            </a:solidFill>
            <a:prstDash val="solid"/>
          </a:ln>
        </p:spPr>
      </p:sp>
      <p:sp>
        <p:nvSpPr>
          <p:cNvPr id="14" name="Text 12"/>
          <p:cNvSpPr txBox="1"/>
          <p:nvPr/>
        </p:nvSpPr>
        <p:spPr>
          <a:xfrm>
            <a:off x="777240" y="5852160"/>
            <a:ext cx="10698480" cy="685800"/>
          </a:xfrm>
          <a:prstGeom prst="rect">
            <a:avLst/>
          </a:prstGeom>
          <a:noFill/>
          <a:ln/>
        </p:spPr>
        <p:txBody>
          <a:bodyPr wrap="square" lIns="0" tIns="0" rIns="0" bIns="0" rtlCol="0" anchor="ctr"/>
          <a:lstStyle/>
          <a:p>
            <a:pPr indent="0" marL="0">
              <a:buNone/>
            </a:pPr>
            <a:r>
              <a:rPr lang="en-US" sz="1350" b="1" dirty="0">
                <a:solidFill>
                  <a:srgbClr val="1F2933"/>
                </a:solidFill>
                <a:latin typeface="Arial" pitchFamily="34" charset="0"/>
                <a:ea typeface="Arial" pitchFamily="34" charset="-122"/>
                <a:cs typeface="Arial" pitchFamily="34" charset="-120"/>
              </a:rPr>
              <a:t>How to read it: </a:t>
            </a:r>
            <a:pPr indent="0" marL="0">
              <a:buNone/>
            </a:pPr>
            <a:r>
              <a:rPr lang="en-US" sz="1350" dirty="0">
                <a:solidFill>
                  <a:srgbClr val="1F2933"/>
                </a:solidFill>
                <a:latin typeface="Arial" pitchFamily="34" charset="0"/>
                <a:ea typeface="Arial" pitchFamily="34" charset="-122"/>
                <a:cs typeface="Arial" pitchFamily="34" charset="-120"/>
              </a:rPr>
              <a:t>the index is built to lead ISM Manufacturing PMI YoY% by about ten months. Higher readings mean firms are signalling stronger activity ahead.</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0"/>
          </a:xfrm>
          <a:prstGeom prst="rect">
            <a:avLst/>
          </a:prstGeom>
          <a:solidFill>
            <a:srgbClr val="1A5FAF"/>
          </a:solidFill>
          <a:ln w="12700">
            <a:solidFill>
              <a:srgbClr val="1A5FAF"/>
            </a:solidFill>
            <a:prstDash val="solid"/>
          </a:ln>
        </p:spPr>
      </p:sp>
      <p:sp>
        <p:nvSpPr>
          <p:cNvPr id="3" name="Text 1"/>
          <p:cNvSpPr txBox="1"/>
          <p:nvPr/>
        </p:nvSpPr>
        <p:spPr>
          <a:xfrm>
            <a:off x="548640" y="73152"/>
            <a:ext cx="11091672" cy="859536"/>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What transcripts add to our forecasts:</a:t>
            </a:r>
            <a:endParaRPr lang="en-US" sz="2600" dirty="0"/>
          </a:p>
          <a:p>
            <a:pPr indent="0" marL="0">
              <a:buNone/>
            </a:pPr>
            <a:r>
              <a:rPr lang="en-US" sz="2600" b="1" i="1" dirty="0">
                <a:solidFill>
                  <a:srgbClr val="FFFFFF"/>
                </a:solidFill>
                <a:latin typeface="Arial" pitchFamily="34" charset="0"/>
                <a:ea typeface="Arial" pitchFamily="34" charset="-122"/>
                <a:cs typeface="Arial" pitchFamily="34" charset="-120"/>
              </a:rPr>
              <a:t>up to 35 points of out-of-sample R²</a:t>
            </a:r>
            <a:endParaRPr lang="en-US" sz="2600" dirty="0"/>
          </a:p>
        </p:txBody>
      </p:sp>
      <p:graphicFrame>
        <p:nvGraphicFramePr>
          <p:cNvPr id="4" name="Chart 0" descr=""/>
          <p:cNvGraphicFramePr/>
          <p:nvPr/>
        </p:nvGraphicFramePr>
        <p:xfrm>
          <a:off x="548640" y="1234440"/>
          <a:ext cx="7040880" cy="44348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818120" y="1234440"/>
            <a:ext cx="3822192" cy="594360"/>
          </a:xfrm>
          <a:prstGeom prst="rect">
            <a:avLst/>
          </a:prstGeom>
          <a:noFill/>
          <a:ln/>
        </p:spPr>
        <p:txBody>
          <a:bodyPr wrap="square" lIns="0" tIns="0" rIns="0" bIns="0" rtlCol="0" anchor="t"/>
          <a:lstStyle/>
          <a:p>
            <a:pPr indent="0" marL="0">
              <a:buNone/>
            </a:pPr>
            <a:r>
              <a:rPr lang="en-US" sz="1400" b="1" dirty="0">
                <a:solidFill>
                  <a:srgbClr val="16406F"/>
                </a:solidFill>
                <a:latin typeface="Arial" pitchFamily="34" charset="0"/>
                <a:ea typeface="Arial" pitchFamily="34" charset="-122"/>
                <a:cs typeface="Arial" pitchFamily="34" charset="-120"/>
              </a:rPr>
              <a:t>Added by capex acceleration</a:t>
            </a:r>
            <a:endParaRPr lang="en-US" sz="1400" dirty="0"/>
          </a:p>
          <a:p>
            <a:pPr indent="0" marL="0">
              <a:buNone/>
            </a:pPr>
            <a:r>
              <a:rPr lang="en-US" sz="1100" dirty="0">
                <a:solidFill>
                  <a:srgbClr val="5B6772"/>
                </a:solidFill>
                <a:latin typeface="Arial" pitchFamily="34" charset="0"/>
                <a:ea typeface="Arial" pitchFamily="34" charset="-122"/>
                <a:cs typeface="Arial" pitchFamily="34" charset="-120"/>
              </a:rPr>
              <a:t>on top of AR(2) + ISM level, out-of-sample</a:t>
            </a:r>
            <a:endParaRPr lang="en-US" sz="1400" dirty="0"/>
          </a:p>
        </p:txBody>
      </p:sp>
      <p:sp>
        <p:nvSpPr>
          <p:cNvPr id="6" name="Shape 3"/>
          <p:cNvSpPr/>
          <p:nvPr/>
        </p:nvSpPr>
        <p:spPr>
          <a:xfrm>
            <a:off x="7818120" y="1920240"/>
            <a:ext cx="3822192" cy="1143000"/>
          </a:xfrm>
          <a:prstGeom prst="rect">
            <a:avLst/>
          </a:prstGeom>
          <a:solidFill>
            <a:srgbClr val="F3F5F8"/>
          </a:solidFill>
          <a:ln w="9525">
            <a:solidFill>
              <a:srgbClr val="D5DBE3"/>
            </a:solidFill>
            <a:prstDash val="solid"/>
          </a:ln>
        </p:spPr>
      </p:sp>
      <p:sp>
        <p:nvSpPr>
          <p:cNvPr id="7" name="Text 4"/>
          <p:cNvSpPr txBox="1"/>
          <p:nvPr/>
        </p:nvSpPr>
        <p:spPr>
          <a:xfrm>
            <a:off x="7955280" y="1920240"/>
            <a:ext cx="731520" cy="1143000"/>
          </a:xfrm>
          <a:prstGeom prst="rect">
            <a:avLst/>
          </a:prstGeom>
          <a:noFill/>
          <a:ln/>
        </p:spPr>
        <p:txBody>
          <a:bodyPr wrap="square" lIns="0" tIns="0" rIns="0" bIns="0" rtlCol="0" anchor="ctr"/>
          <a:lstStyle/>
          <a:p>
            <a:pPr indent="0" marL="0">
              <a:buNone/>
            </a:pPr>
            <a:r>
              <a:rPr lang="en-US" sz="2000" b="1" dirty="0">
                <a:solidFill>
                  <a:srgbClr val="16406F"/>
                </a:solidFill>
                <a:latin typeface="Arial" pitchFamily="34" charset="0"/>
                <a:ea typeface="Arial" pitchFamily="34" charset="-122"/>
                <a:cs typeface="Arial" pitchFamily="34" charset="-120"/>
              </a:rPr>
              <a:t>3m</a:t>
            </a:r>
            <a:endParaRPr lang="en-US" sz="2000" dirty="0"/>
          </a:p>
        </p:txBody>
      </p:sp>
      <p:sp>
        <p:nvSpPr>
          <p:cNvPr id="8" name="Text 5"/>
          <p:cNvSpPr txBox="1"/>
          <p:nvPr/>
        </p:nvSpPr>
        <p:spPr>
          <a:xfrm>
            <a:off x="8686800" y="1920240"/>
            <a:ext cx="1600200" cy="1143000"/>
          </a:xfrm>
          <a:prstGeom prst="rect">
            <a:avLst/>
          </a:prstGeom>
          <a:noFill/>
          <a:ln/>
        </p:spPr>
        <p:txBody>
          <a:bodyPr wrap="square" lIns="0" tIns="0" rIns="0" bIns="0" rtlCol="0" anchor="ctr"/>
          <a:lstStyle/>
          <a:p>
            <a:pPr indent="0" marL="0">
              <a:buNone/>
            </a:pPr>
            <a:r>
              <a:rPr lang="en-US" sz="2800" b="1" dirty="0">
                <a:solidFill>
                  <a:srgbClr val="C9741C"/>
                </a:solidFill>
                <a:latin typeface="Arial" pitchFamily="34" charset="0"/>
                <a:ea typeface="Arial" pitchFamily="34" charset="-122"/>
                <a:cs typeface="Arial" pitchFamily="34" charset="-120"/>
              </a:rPr>
              <a:t>+11</a:t>
            </a:r>
            <a:pPr indent="0" marL="0">
              <a:buNone/>
            </a:pPr>
            <a:r>
              <a:rPr lang="en-US" sz="1100" dirty="0">
                <a:solidFill>
                  <a:srgbClr val="5B6772"/>
                </a:solidFill>
                <a:latin typeface="Arial" pitchFamily="34" charset="0"/>
                <a:ea typeface="Arial" pitchFamily="34" charset="-122"/>
                <a:cs typeface="Arial" pitchFamily="34" charset="-120"/>
              </a:rPr>
              <a:t> pts R²</a:t>
            </a:r>
            <a:endParaRPr lang="en-US" sz="2800" dirty="0"/>
          </a:p>
        </p:txBody>
      </p:sp>
      <p:sp>
        <p:nvSpPr>
          <p:cNvPr id="9" name="Text 6"/>
          <p:cNvSpPr txBox="1"/>
          <p:nvPr/>
        </p:nvSpPr>
        <p:spPr>
          <a:xfrm>
            <a:off x="10241280" y="1920240"/>
            <a:ext cx="1325880" cy="1143000"/>
          </a:xfrm>
          <a:prstGeom prst="rect">
            <a:avLst/>
          </a:prstGeom>
          <a:noFill/>
          <a:ln/>
        </p:spPr>
        <p:txBody>
          <a:bodyPr wrap="square" lIns="0" tIns="0" rIns="0" bIns="0" rtlCol="0" anchor="ctr"/>
          <a:lstStyle/>
          <a:p>
            <a:pPr indent="0" marL="0">
              <a:buNone/>
            </a:pPr>
            <a:r>
              <a:rPr lang="en-US" sz="1000" dirty="0">
                <a:solidFill>
                  <a:srgbClr val="5B6772"/>
                </a:solidFill>
                <a:latin typeface="Arial" pitchFamily="34" charset="0"/>
                <a:ea typeface="Arial" pitchFamily="34" charset="-122"/>
                <a:cs typeface="Arial" pitchFamily="34" charset="-120"/>
              </a:rPr>
              <a:t>R² before → after</a:t>
            </a:r>
            <a:endParaRPr lang="en-US" sz="1000" dirty="0"/>
          </a:p>
          <a:p>
            <a:pPr indent="0" marL="0">
              <a:buNone/>
            </a:pPr>
            <a:r>
              <a:rPr lang="en-US" sz="1300" b="1" dirty="0">
                <a:solidFill>
                  <a:srgbClr val="1F2933"/>
                </a:solidFill>
                <a:latin typeface="Arial" pitchFamily="34" charset="0"/>
                <a:ea typeface="Arial" pitchFamily="34" charset="-122"/>
                <a:cs typeface="Arial" pitchFamily="34" charset="-120"/>
              </a:rPr>
              <a:t>0.52 → 0.63</a:t>
            </a:r>
            <a:endParaRPr lang="en-US" sz="1000" dirty="0"/>
          </a:p>
        </p:txBody>
      </p:sp>
      <p:sp>
        <p:nvSpPr>
          <p:cNvPr id="10" name="Shape 7"/>
          <p:cNvSpPr/>
          <p:nvPr/>
        </p:nvSpPr>
        <p:spPr>
          <a:xfrm>
            <a:off x="7818120" y="3223260"/>
            <a:ext cx="3822192" cy="1143000"/>
          </a:xfrm>
          <a:prstGeom prst="rect">
            <a:avLst/>
          </a:prstGeom>
          <a:solidFill>
            <a:srgbClr val="F3F5F8"/>
          </a:solidFill>
          <a:ln w="9525">
            <a:solidFill>
              <a:srgbClr val="D5DBE3"/>
            </a:solidFill>
            <a:prstDash val="solid"/>
          </a:ln>
        </p:spPr>
      </p:sp>
      <p:sp>
        <p:nvSpPr>
          <p:cNvPr id="11" name="Text 8"/>
          <p:cNvSpPr txBox="1"/>
          <p:nvPr/>
        </p:nvSpPr>
        <p:spPr>
          <a:xfrm>
            <a:off x="7955280" y="3223260"/>
            <a:ext cx="731520" cy="1143000"/>
          </a:xfrm>
          <a:prstGeom prst="rect">
            <a:avLst/>
          </a:prstGeom>
          <a:noFill/>
          <a:ln/>
        </p:spPr>
        <p:txBody>
          <a:bodyPr wrap="square" lIns="0" tIns="0" rIns="0" bIns="0" rtlCol="0" anchor="ctr"/>
          <a:lstStyle/>
          <a:p>
            <a:pPr indent="0" marL="0">
              <a:buNone/>
            </a:pPr>
            <a:r>
              <a:rPr lang="en-US" sz="2000" b="1" dirty="0">
                <a:solidFill>
                  <a:srgbClr val="16406F"/>
                </a:solidFill>
                <a:latin typeface="Arial" pitchFamily="34" charset="0"/>
                <a:ea typeface="Arial" pitchFamily="34" charset="-122"/>
                <a:cs typeface="Arial" pitchFamily="34" charset="-120"/>
              </a:rPr>
              <a:t>6m</a:t>
            </a:r>
            <a:endParaRPr lang="en-US" sz="2000" dirty="0"/>
          </a:p>
        </p:txBody>
      </p:sp>
      <p:sp>
        <p:nvSpPr>
          <p:cNvPr id="12" name="Text 9"/>
          <p:cNvSpPr txBox="1"/>
          <p:nvPr/>
        </p:nvSpPr>
        <p:spPr>
          <a:xfrm>
            <a:off x="8686800" y="3223260"/>
            <a:ext cx="1600200" cy="1143000"/>
          </a:xfrm>
          <a:prstGeom prst="rect">
            <a:avLst/>
          </a:prstGeom>
          <a:noFill/>
          <a:ln/>
        </p:spPr>
        <p:txBody>
          <a:bodyPr wrap="square" lIns="0" tIns="0" rIns="0" bIns="0" rtlCol="0" anchor="ctr"/>
          <a:lstStyle/>
          <a:p>
            <a:pPr indent="0" marL="0">
              <a:buNone/>
            </a:pPr>
            <a:r>
              <a:rPr lang="en-US" sz="2800" b="1" dirty="0">
                <a:solidFill>
                  <a:srgbClr val="C9741C"/>
                </a:solidFill>
                <a:latin typeface="Arial" pitchFamily="34" charset="0"/>
                <a:ea typeface="Arial" pitchFamily="34" charset="-122"/>
                <a:cs typeface="Arial" pitchFamily="34" charset="-120"/>
              </a:rPr>
              <a:t>+31</a:t>
            </a:r>
            <a:pPr indent="0" marL="0">
              <a:buNone/>
            </a:pPr>
            <a:r>
              <a:rPr lang="en-US" sz="1100" dirty="0">
                <a:solidFill>
                  <a:srgbClr val="5B6772"/>
                </a:solidFill>
                <a:latin typeface="Arial" pitchFamily="34" charset="0"/>
                <a:ea typeface="Arial" pitchFamily="34" charset="-122"/>
                <a:cs typeface="Arial" pitchFamily="34" charset="-120"/>
              </a:rPr>
              <a:t> pts R²</a:t>
            </a:r>
            <a:endParaRPr lang="en-US" sz="2800" dirty="0"/>
          </a:p>
        </p:txBody>
      </p:sp>
      <p:sp>
        <p:nvSpPr>
          <p:cNvPr id="13" name="Text 10"/>
          <p:cNvSpPr txBox="1"/>
          <p:nvPr/>
        </p:nvSpPr>
        <p:spPr>
          <a:xfrm>
            <a:off x="10241280" y="3223260"/>
            <a:ext cx="1325880" cy="1143000"/>
          </a:xfrm>
          <a:prstGeom prst="rect">
            <a:avLst/>
          </a:prstGeom>
          <a:noFill/>
          <a:ln/>
        </p:spPr>
        <p:txBody>
          <a:bodyPr wrap="square" lIns="0" tIns="0" rIns="0" bIns="0" rtlCol="0" anchor="ctr"/>
          <a:lstStyle/>
          <a:p>
            <a:pPr indent="0" marL="0">
              <a:buNone/>
            </a:pPr>
            <a:r>
              <a:rPr lang="en-US" sz="1000" dirty="0">
                <a:solidFill>
                  <a:srgbClr val="5B6772"/>
                </a:solidFill>
                <a:latin typeface="Arial" pitchFamily="34" charset="0"/>
                <a:ea typeface="Arial" pitchFamily="34" charset="-122"/>
                <a:cs typeface="Arial" pitchFamily="34" charset="-120"/>
              </a:rPr>
              <a:t>R² before → after</a:t>
            </a:r>
            <a:endParaRPr lang="en-US" sz="1000" dirty="0"/>
          </a:p>
          <a:p>
            <a:pPr indent="0" marL="0">
              <a:buNone/>
            </a:pPr>
            <a:r>
              <a:rPr lang="en-US" sz="1300" b="1" dirty="0">
                <a:solidFill>
                  <a:srgbClr val="1F2933"/>
                </a:solidFill>
                <a:latin typeface="Arial" pitchFamily="34" charset="0"/>
                <a:ea typeface="Arial" pitchFamily="34" charset="-122"/>
                <a:cs typeface="Arial" pitchFamily="34" charset="-120"/>
              </a:rPr>
              <a:t>0.39 → 0.70</a:t>
            </a:r>
            <a:endParaRPr lang="en-US" sz="1000" dirty="0"/>
          </a:p>
        </p:txBody>
      </p:sp>
      <p:sp>
        <p:nvSpPr>
          <p:cNvPr id="14" name="Shape 11"/>
          <p:cNvSpPr/>
          <p:nvPr/>
        </p:nvSpPr>
        <p:spPr>
          <a:xfrm>
            <a:off x="7818120" y="4526280"/>
            <a:ext cx="3822192" cy="1143000"/>
          </a:xfrm>
          <a:prstGeom prst="rect">
            <a:avLst/>
          </a:prstGeom>
          <a:solidFill>
            <a:srgbClr val="FCE8CC"/>
          </a:solidFill>
          <a:ln w="15875">
            <a:solidFill>
              <a:srgbClr val="E58A2B"/>
            </a:solidFill>
            <a:prstDash val="solid"/>
          </a:ln>
        </p:spPr>
      </p:sp>
      <p:sp>
        <p:nvSpPr>
          <p:cNvPr id="15" name="Text 12"/>
          <p:cNvSpPr txBox="1"/>
          <p:nvPr/>
        </p:nvSpPr>
        <p:spPr>
          <a:xfrm>
            <a:off x="7955280" y="4526280"/>
            <a:ext cx="731520" cy="1143000"/>
          </a:xfrm>
          <a:prstGeom prst="rect">
            <a:avLst/>
          </a:prstGeom>
          <a:noFill/>
          <a:ln/>
        </p:spPr>
        <p:txBody>
          <a:bodyPr wrap="square" lIns="0" tIns="0" rIns="0" bIns="0" rtlCol="0" anchor="ctr"/>
          <a:lstStyle/>
          <a:p>
            <a:pPr indent="0" marL="0">
              <a:buNone/>
            </a:pPr>
            <a:r>
              <a:rPr lang="en-US" sz="2000" b="1" dirty="0">
                <a:solidFill>
                  <a:srgbClr val="16406F"/>
                </a:solidFill>
                <a:latin typeface="Arial" pitchFamily="34" charset="0"/>
                <a:ea typeface="Arial" pitchFamily="34" charset="-122"/>
                <a:cs typeface="Arial" pitchFamily="34" charset="-120"/>
              </a:rPr>
              <a:t>10m</a:t>
            </a:r>
            <a:endParaRPr lang="en-US" sz="2000" dirty="0"/>
          </a:p>
        </p:txBody>
      </p:sp>
      <p:sp>
        <p:nvSpPr>
          <p:cNvPr id="16" name="Text 13"/>
          <p:cNvSpPr txBox="1"/>
          <p:nvPr/>
        </p:nvSpPr>
        <p:spPr>
          <a:xfrm>
            <a:off x="8686800" y="4526280"/>
            <a:ext cx="1600200" cy="1143000"/>
          </a:xfrm>
          <a:prstGeom prst="rect">
            <a:avLst/>
          </a:prstGeom>
          <a:noFill/>
          <a:ln/>
        </p:spPr>
        <p:txBody>
          <a:bodyPr wrap="square" lIns="0" tIns="0" rIns="0" bIns="0" rtlCol="0" anchor="ctr"/>
          <a:lstStyle/>
          <a:p>
            <a:pPr indent="0" marL="0">
              <a:buNone/>
            </a:pPr>
            <a:r>
              <a:rPr lang="en-US" sz="2800" b="1" dirty="0">
                <a:solidFill>
                  <a:srgbClr val="C9741C"/>
                </a:solidFill>
                <a:latin typeface="Arial" pitchFamily="34" charset="0"/>
                <a:ea typeface="Arial" pitchFamily="34" charset="-122"/>
                <a:cs typeface="Arial" pitchFamily="34" charset="-120"/>
              </a:rPr>
              <a:t>+35</a:t>
            </a:r>
            <a:pPr indent="0" marL="0">
              <a:buNone/>
            </a:pPr>
            <a:r>
              <a:rPr lang="en-US" sz="1100" dirty="0">
                <a:solidFill>
                  <a:srgbClr val="5B6772"/>
                </a:solidFill>
                <a:latin typeface="Arial" pitchFamily="34" charset="0"/>
                <a:ea typeface="Arial" pitchFamily="34" charset="-122"/>
                <a:cs typeface="Arial" pitchFamily="34" charset="-120"/>
              </a:rPr>
              <a:t> pts R²</a:t>
            </a:r>
            <a:endParaRPr lang="en-US" sz="2800" dirty="0"/>
          </a:p>
        </p:txBody>
      </p:sp>
      <p:sp>
        <p:nvSpPr>
          <p:cNvPr id="17" name="Text 14"/>
          <p:cNvSpPr txBox="1"/>
          <p:nvPr/>
        </p:nvSpPr>
        <p:spPr>
          <a:xfrm>
            <a:off x="10241280" y="4526280"/>
            <a:ext cx="1325880" cy="1143000"/>
          </a:xfrm>
          <a:prstGeom prst="rect">
            <a:avLst/>
          </a:prstGeom>
          <a:noFill/>
          <a:ln/>
        </p:spPr>
        <p:txBody>
          <a:bodyPr wrap="square" lIns="0" tIns="0" rIns="0" bIns="0" rtlCol="0" anchor="ctr"/>
          <a:lstStyle/>
          <a:p>
            <a:pPr indent="0" marL="0">
              <a:buNone/>
            </a:pPr>
            <a:r>
              <a:rPr lang="en-US" sz="1000" dirty="0">
                <a:solidFill>
                  <a:srgbClr val="5B6772"/>
                </a:solidFill>
                <a:latin typeface="Arial" pitchFamily="34" charset="0"/>
                <a:ea typeface="Arial" pitchFamily="34" charset="-122"/>
                <a:cs typeface="Arial" pitchFamily="34" charset="-120"/>
              </a:rPr>
              <a:t>R² before → after</a:t>
            </a:r>
            <a:endParaRPr lang="en-US" sz="1000" dirty="0"/>
          </a:p>
          <a:p>
            <a:pPr indent="0" marL="0">
              <a:buNone/>
            </a:pPr>
            <a:r>
              <a:rPr lang="en-US" sz="1300" b="1" dirty="0">
                <a:solidFill>
                  <a:srgbClr val="1F2933"/>
                </a:solidFill>
                <a:latin typeface="Arial" pitchFamily="34" charset="0"/>
                <a:ea typeface="Arial" pitchFamily="34" charset="-122"/>
                <a:cs typeface="Arial" pitchFamily="34" charset="-120"/>
              </a:rPr>
              <a:t>0.34 → 0.69</a:t>
            </a:r>
            <a:endParaRPr lang="en-US" sz="1000" dirty="0"/>
          </a:p>
        </p:txBody>
      </p:sp>
      <p:sp>
        <p:nvSpPr>
          <p:cNvPr id="18" name="Shape 15"/>
          <p:cNvSpPr/>
          <p:nvPr/>
        </p:nvSpPr>
        <p:spPr>
          <a:xfrm>
            <a:off x="548640" y="5806440"/>
            <a:ext cx="11091672" cy="566928"/>
          </a:xfrm>
          <a:prstGeom prst="rect">
            <a:avLst/>
          </a:prstGeom>
          <a:solidFill>
            <a:srgbClr val="FDF1DE"/>
          </a:solidFill>
          <a:ln w="12700">
            <a:solidFill>
              <a:srgbClr val="FDF1DE"/>
            </a:solidFill>
            <a:prstDash val="solid"/>
          </a:ln>
        </p:spPr>
      </p:sp>
      <p:sp>
        <p:nvSpPr>
          <p:cNvPr id="19" name="Shape 16"/>
          <p:cNvSpPr/>
          <p:nvPr/>
        </p:nvSpPr>
        <p:spPr>
          <a:xfrm>
            <a:off x="548640" y="5806440"/>
            <a:ext cx="64008" cy="566928"/>
          </a:xfrm>
          <a:prstGeom prst="rect">
            <a:avLst/>
          </a:prstGeom>
          <a:solidFill>
            <a:srgbClr val="E58A2B"/>
          </a:solidFill>
          <a:ln w="12700">
            <a:solidFill>
              <a:srgbClr val="E58A2B"/>
            </a:solidFill>
            <a:prstDash val="solid"/>
          </a:ln>
        </p:spPr>
      </p:sp>
      <p:sp>
        <p:nvSpPr>
          <p:cNvPr id="20" name="Text 17"/>
          <p:cNvSpPr txBox="1"/>
          <p:nvPr/>
        </p:nvSpPr>
        <p:spPr>
          <a:xfrm>
            <a:off x="777240" y="5806440"/>
            <a:ext cx="10698480" cy="566928"/>
          </a:xfrm>
          <a:prstGeom prst="rect">
            <a:avLst/>
          </a:prstGeom>
          <a:noFill/>
          <a:ln/>
        </p:spPr>
        <p:txBody>
          <a:bodyPr wrap="square" lIns="0" tIns="0" rIns="0" bIns="0" rtlCol="0" anchor="ctr"/>
          <a:lstStyle/>
          <a:p>
            <a:pPr indent="0" marL="0">
              <a:buNone/>
            </a:pPr>
            <a:r>
              <a:rPr lang="en-US" sz="1350" b="1" dirty="0">
                <a:solidFill>
                  <a:srgbClr val="1F2933"/>
                </a:solidFill>
                <a:latin typeface="Arial" pitchFamily="34" charset="0"/>
                <a:ea typeface="Arial" pitchFamily="34" charset="-122"/>
                <a:cs typeface="Arial" pitchFamily="34" charset="-120"/>
              </a:rPr>
              <a:t>Bottom line: </a:t>
            </a:r>
            <a:pPr indent="0" marL="0">
              <a:buNone/>
            </a:pPr>
            <a:r>
              <a:rPr lang="en-US" sz="1350" dirty="0">
                <a:solidFill>
                  <a:srgbClr val="1F2933"/>
                </a:solidFill>
                <a:latin typeface="Arial" pitchFamily="34" charset="0"/>
                <a:ea typeface="Arial" pitchFamily="34" charset="-122"/>
                <a:cs typeface="Arial" pitchFamily="34" charset="-120"/>
              </a:rPr>
              <a:t>at the 10-month horizon, adding the transcript-derived capex acceleration signal lifts out-of-sample R² from 0.34 to 0.69, cuts RMSE from 9.78 to 6.72 and raises correlation from 0.62 to 0.83.</a:t>
            </a:r>
            <a:endParaRPr lang="en-US" sz="1350" dirty="0"/>
          </a:p>
        </p:txBody>
      </p:sp>
      <p:sp>
        <p:nvSpPr>
          <p:cNvPr id="21" name="Text 18"/>
          <p:cNvSpPr txBox="1"/>
          <p:nvPr/>
        </p:nvSpPr>
        <p:spPr>
          <a:xfrm>
            <a:off x="548640" y="6400800"/>
            <a:ext cx="11091672" cy="365760"/>
          </a:xfrm>
          <a:prstGeom prst="rect">
            <a:avLst/>
          </a:prstGeom>
          <a:noFill/>
          <a:ln/>
        </p:spPr>
        <p:txBody>
          <a:bodyPr wrap="square" lIns="0" tIns="0" rIns="0" bIns="0" rtlCol="0" anchor="t"/>
          <a:lstStyle/>
          <a:p>
            <a:pPr indent="0" marL="0">
              <a:buNone/>
            </a:pPr>
            <a:r>
              <a:rPr lang="en-US" sz="1000" i="1" dirty="0">
                <a:solidFill>
                  <a:srgbClr val="5B6772"/>
                </a:solidFill>
                <a:latin typeface="Arial" pitchFamily="34" charset="0"/>
                <a:ea typeface="Arial" pitchFamily="34" charset="-122"/>
                <a:cs typeface="Arial" pitchFamily="34" charset="-120"/>
              </a:rPr>
              <a:t>Expanding-window OLS forecasts of ISM Mfg PMI YoY% (N = 133 at 10m). Added = model with capex acceleration minus AR(2)+ISM. Capex acceleration = inverted share of firms accelerating capex (1 − x), 24-month MA.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 Index - replacement slides</dc:title>
  <dc:subject>PptxGenJS Presentation</dc:subject>
  <dc:creator>PptxGenJS</dc:creator>
  <cp:lastModifiedBy>PptxGenJS</cp:lastModifiedBy>
  <cp:revision>1</cp:revision>
  <dcterms:created xsi:type="dcterms:W3CDTF">2026-10-08T02:13:32Z</dcterms:created>
  <dcterms:modified xsi:type="dcterms:W3CDTF">2026-10-08T02:13:32Z</dcterms:modified>
</cp:coreProperties>
</file>