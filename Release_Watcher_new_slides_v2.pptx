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406F"/>
                </a:solidFill>
                <a:latin typeface="Arial"/>
              </a:defRPr>
            </a:pPr>
            <a:r>
              <a:rPr sz="1200" b="0" i="0" u="none" strike="noStrike">
                <a:solidFill>
                  <a:srgbClr val="16406F"/>
                </a:solidFill>
                <a:latin typeface="Arial"/>
              </a:rPr>
              <a:t>US private business investment, % change year over year</a:t>
            </a:r>
          </a:p>
        </c:rich>
      </c:tx>
      <c:layout/>
      <c:overlay val="0"/>
    </c:title>
    <c:autoTitleDeleted val="0"/>
    <c:plotArea>
      <c:layout/>
      <c:barChart>
        <c:barDir val="col"/>
        <c:grouping val="clustered"/>
        <c:varyColors val="0"/>
        <c:ser>
          <c:idx val="0"/>
          <c:order val="0"/>
          <c:tx>
            <c:strRef>
              <c:f>Sheet1!$B$1</c:f>
              <c:strCache>
                <c:ptCount val="1"/>
                <c:pt idx="0">
                  <c:v>Earlier quarters</c:v>
                </c:pt>
              </c:strCache>
            </c:strRef>
          </c:tx>
          <c:spPr>
            <a:solidFill>
              <a:srgbClr val="6E9AD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Sheet1!$A$2:$A$47</c:f>
              <c:multiLvlStrCache>
                <c:ptCount val="46"/>
                <c:lvl>
                  <c:pt idx="0">
                    <c:v>2015</c:v>
                  </c:pt>
                  <c:pt idx="1">
                    <c:v>  </c:v>
                  </c:pt>
                  <c:pt idx="2">
                    <c:v>   </c:v>
                  </c:pt>
                  <c:pt idx="3">
                    <c:v>    </c:v>
                  </c:pt>
                  <c:pt idx="4">
                    <c:v>2016</c:v>
                  </c:pt>
                  <c:pt idx="5">
                    <c:v>  </c:v>
                  </c:pt>
                  <c:pt idx="6">
                    <c:v>   </c:v>
                  </c:pt>
                  <c:pt idx="7">
                    <c:v>    </c:v>
                  </c:pt>
                  <c:pt idx="8">
                    <c:v>2017</c:v>
                  </c:pt>
                  <c:pt idx="9">
                    <c:v>  </c:v>
                  </c:pt>
                  <c:pt idx="10">
                    <c:v>   </c:v>
                  </c:pt>
                  <c:pt idx="11">
                    <c:v>    </c:v>
                  </c:pt>
                  <c:pt idx="12">
                    <c:v>2018</c:v>
                  </c:pt>
                  <c:pt idx="13">
                    <c:v>  </c:v>
                  </c:pt>
                  <c:pt idx="14">
                    <c:v>   </c:v>
                  </c:pt>
                  <c:pt idx="15">
                    <c:v>    </c:v>
                  </c:pt>
                  <c:pt idx="16">
                    <c:v>2019</c:v>
                  </c:pt>
                  <c:pt idx="17">
                    <c:v>  </c:v>
                  </c:pt>
                  <c:pt idx="18">
                    <c:v>   </c:v>
                  </c:pt>
                  <c:pt idx="19">
                    <c:v>    </c:v>
                  </c:pt>
                  <c:pt idx="20">
                    <c:v>2020</c:v>
                  </c:pt>
                  <c:pt idx="21">
                    <c:v>  </c:v>
                  </c:pt>
                  <c:pt idx="22">
                    <c:v>   </c:v>
                  </c:pt>
                  <c:pt idx="23">
                    <c:v>    </c:v>
                  </c:pt>
                  <c:pt idx="24">
                    <c:v>2021</c:v>
                  </c:pt>
                  <c:pt idx="25">
                    <c:v>  </c:v>
                  </c:pt>
                  <c:pt idx="26">
                    <c:v>   </c:v>
                  </c:pt>
                  <c:pt idx="27">
                    <c:v>    </c:v>
                  </c:pt>
                  <c:pt idx="28">
                    <c:v>2022</c:v>
                  </c:pt>
                  <c:pt idx="29">
                    <c:v>  </c:v>
                  </c:pt>
                  <c:pt idx="30">
                    <c:v>   </c:v>
                  </c:pt>
                  <c:pt idx="31">
                    <c:v>    </c:v>
                  </c:pt>
                  <c:pt idx="32">
                    <c:v>2023</c:v>
                  </c:pt>
                  <c:pt idx="33">
                    <c:v>  </c:v>
                  </c:pt>
                  <c:pt idx="34">
                    <c:v>   </c:v>
                  </c:pt>
                  <c:pt idx="35">
                    <c:v>    </c:v>
                  </c:pt>
                  <c:pt idx="36">
                    <c:v>2024</c:v>
                  </c:pt>
                  <c:pt idx="37">
                    <c:v>  </c:v>
                  </c:pt>
                  <c:pt idx="38">
                    <c:v>   </c:v>
                  </c:pt>
                  <c:pt idx="39">
                    <c:v>    </c:v>
                  </c:pt>
                  <c:pt idx="40">
                    <c:v>2025</c:v>
                  </c:pt>
                  <c:pt idx="41">
                    <c:v>  </c:v>
                  </c:pt>
                  <c:pt idx="42">
                    <c:v>   </c:v>
                  </c:pt>
                  <c:pt idx="43">
                    <c:v>    </c:v>
                  </c:pt>
                  <c:pt idx="44">
                    <c:v>2026</c:v>
                  </c:pt>
                  <c:pt idx="45">
                    <c:v>  </c:v>
                  </c:pt>
                </c:lvl>
              </c:multiLvlStrCache>
            </c:multiLvlStrRef>
          </c:cat>
          <c:val>
            <c:numRef>
              <c:f>Sheet1!$B$2:$B$47</c:f>
              <c:numCache>
                <c:formatCode>General</c:formatCode>
                <c:ptCount val="46"/>
                <c:pt idx="0">
                  <c:v>6.9</c:v>
                </c:pt>
                <c:pt idx="1">
                  <c:v>4.3</c:v>
                </c:pt>
                <c:pt idx="2">
                  <c:v>2.3</c:v>
                </c:pt>
                <c:pt idx="3">
                  <c:v>0.3</c:v>
                </c:pt>
                <c:pt idx="4">
                  <c:v>-0.3</c:v>
                </c:pt>
                <c:pt idx="5">
                  <c:v>0</c:v>
                </c:pt>
                <c:pt idx="6">
                  <c:v>0.9</c:v>
                </c:pt>
                <c:pt idx="7">
                  <c:v>2.9</c:v>
                </c:pt>
                <c:pt idx="8">
                  <c:v>4.6</c:v>
                </c:pt>
                <c:pt idx="9">
                  <c:v>5.1</c:v>
                </c:pt>
                <c:pt idx="10">
                  <c:v>4.9</c:v>
                </c:pt>
                <c:pt idx="11">
                  <c:v>6.2</c:v>
                </c:pt>
                <c:pt idx="12">
                  <c:v>8</c:v>
                </c:pt>
                <c:pt idx="13">
                  <c:v>7.8</c:v>
                </c:pt>
                <c:pt idx="14">
                  <c:v>7.6</c:v>
                </c:pt>
                <c:pt idx="15">
                  <c:v>6.1</c:v>
                </c:pt>
                <c:pt idx="16">
                  <c:v>4.3</c:v>
                </c:pt>
                <c:pt idx="17">
                  <c:v>5.4</c:v>
                </c:pt>
                <c:pt idx="18">
                  <c:v>5.6</c:v>
                </c:pt>
                <c:pt idx="19">
                  <c:v>3.9</c:v>
                </c:pt>
                <c:pt idx="20">
                  <c:v>1.1</c:v>
                </c:pt>
                <c:pt idx="21">
                  <c:v>-8.8</c:v>
                </c:pt>
                <c:pt idx="22">
                  <c:v>-5.9</c:v>
                </c:pt>
                <c:pt idx="23">
                  <c:v>-2.4</c:v>
                </c:pt>
                <c:pt idx="24">
                  <c:v>1.4</c:v>
                </c:pt>
                <c:pt idx="25">
                  <c:v>12.5</c:v>
                </c:pt>
                <c:pt idx="26">
                  <c:v>8.5</c:v>
                </c:pt>
                <c:pt idx="27">
                  <c:v>8</c:v>
                </c:pt>
                <c:pt idx="28">
                  <c:v>10.2</c:v>
                </c:pt>
                <c:pt idx="29">
                  <c:v>11.6</c:v>
                </c:pt>
                <c:pt idx="30">
                  <c:v>14.6</c:v>
                </c:pt>
                <c:pt idx="31">
                  <c:v>14.8</c:v>
                </c:pt>
                <c:pt idx="32">
                  <c:v>13.8</c:v>
                </c:pt>
                <c:pt idx="33">
                  <c:v>12.6</c:v>
                </c:pt>
                <c:pt idx="34">
                  <c:v>9.6</c:v>
                </c:pt>
                <c:pt idx="35">
                  <c:v>8.9</c:v>
                </c:pt>
                <c:pt idx="36">
                  <c:v>6.3</c:v>
                </c:pt>
                <c:pt idx="37">
                  <c:v>5</c:v>
                </c:pt>
                <c:pt idx="38">
                  <c:v>6.5</c:v>
                </c:pt>
                <c:pt idx="39">
                  <c:v>4.5</c:v>
                </c:pt>
                <c:pt idx="40">
                  <c:v>5.9</c:v>
                </c:pt>
                <c:pt idx="41">
                  <c:v>6.4</c:v>
                </c:pt>
                <c:pt idx="42">
                  <c:v>0</c:v>
                </c:pt>
                <c:pt idx="43">
                  <c:v>0</c:v>
                </c:pt>
                <c:pt idx="44">
                  <c:v>0</c:v>
                </c:pt>
                <c:pt idx="45">
                  <c:v>0</c:v>
                </c:pt>
              </c:numCache>
            </c:numRef>
          </c:val>
        </c:ser>
        <c:ser>
          <c:idx val="1"/>
          <c:order val="1"/>
          <c:tx>
            <c:strRef>
              <c:f>Sheet1!$C$1</c:f>
              <c:strCache>
                <c:ptCount val="1"/>
                <c:pt idx="0">
                  <c:v>Last four quarters</c:v>
                </c:pt>
              </c:strCache>
            </c:strRef>
          </c:tx>
          <c:spPr>
            <a:solidFill>
              <a:srgbClr val="E58A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Sheet1!$A$2:$A$47</c:f>
              <c:multiLvlStrCache>
                <c:ptCount val="46"/>
                <c:lvl>
                  <c:pt idx="0">
                    <c:v>2015</c:v>
                  </c:pt>
                  <c:pt idx="1">
                    <c:v>  </c:v>
                  </c:pt>
                  <c:pt idx="2">
                    <c:v>   </c:v>
                  </c:pt>
                  <c:pt idx="3">
                    <c:v>    </c:v>
                  </c:pt>
                  <c:pt idx="4">
                    <c:v>2016</c:v>
                  </c:pt>
                  <c:pt idx="5">
                    <c:v>  </c:v>
                  </c:pt>
                  <c:pt idx="6">
                    <c:v>   </c:v>
                  </c:pt>
                  <c:pt idx="7">
                    <c:v>    </c:v>
                  </c:pt>
                  <c:pt idx="8">
                    <c:v>2017</c:v>
                  </c:pt>
                  <c:pt idx="9">
                    <c:v>  </c:v>
                  </c:pt>
                  <c:pt idx="10">
                    <c:v>   </c:v>
                  </c:pt>
                  <c:pt idx="11">
                    <c:v>    </c:v>
                  </c:pt>
                  <c:pt idx="12">
                    <c:v>2018</c:v>
                  </c:pt>
                  <c:pt idx="13">
                    <c:v>  </c:v>
                  </c:pt>
                  <c:pt idx="14">
                    <c:v>   </c:v>
                  </c:pt>
                  <c:pt idx="15">
                    <c:v>    </c:v>
                  </c:pt>
                  <c:pt idx="16">
                    <c:v>2019</c:v>
                  </c:pt>
                  <c:pt idx="17">
                    <c:v>  </c:v>
                  </c:pt>
                  <c:pt idx="18">
                    <c:v>   </c:v>
                  </c:pt>
                  <c:pt idx="19">
                    <c:v>    </c:v>
                  </c:pt>
                  <c:pt idx="20">
                    <c:v>2020</c:v>
                  </c:pt>
                  <c:pt idx="21">
                    <c:v>  </c:v>
                  </c:pt>
                  <c:pt idx="22">
                    <c:v>   </c:v>
                  </c:pt>
                  <c:pt idx="23">
                    <c:v>    </c:v>
                  </c:pt>
                  <c:pt idx="24">
                    <c:v>2021</c:v>
                  </c:pt>
                  <c:pt idx="25">
                    <c:v>  </c:v>
                  </c:pt>
                  <c:pt idx="26">
                    <c:v>   </c:v>
                  </c:pt>
                  <c:pt idx="27">
                    <c:v>    </c:v>
                  </c:pt>
                  <c:pt idx="28">
                    <c:v>2022</c:v>
                  </c:pt>
                  <c:pt idx="29">
                    <c:v>  </c:v>
                  </c:pt>
                  <c:pt idx="30">
                    <c:v>   </c:v>
                  </c:pt>
                  <c:pt idx="31">
                    <c:v>    </c:v>
                  </c:pt>
                  <c:pt idx="32">
                    <c:v>2023</c:v>
                  </c:pt>
                  <c:pt idx="33">
                    <c:v>  </c:v>
                  </c:pt>
                  <c:pt idx="34">
                    <c:v>   </c:v>
                  </c:pt>
                  <c:pt idx="35">
                    <c:v>    </c:v>
                  </c:pt>
                  <c:pt idx="36">
                    <c:v>2024</c:v>
                  </c:pt>
                  <c:pt idx="37">
                    <c:v>  </c:v>
                  </c:pt>
                  <c:pt idx="38">
                    <c:v>   </c:v>
                  </c:pt>
                  <c:pt idx="39">
                    <c:v>    </c:v>
                  </c:pt>
                  <c:pt idx="40">
                    <c:v>2025</c:v>
                  </c:pt>
                  <c:pt idx="41">
                    <c:v>  </c:v>
                  </c:pt>
                  <c:pt idx="42">
                    <c:v>   </c:v>
                  </c:pt>
                  <c:pt idx="43">
                    <c:v>    </c:v>
                  </c:pt>
                  <c:pt idx="44">
                    <c:v>2026</c:v>
                  </c:pt>
                  <c:pt idx="45">
                    <c:v>  </c:v>
                  </c:pt>
                </c:lvl>
              </c:multiLvlStrCache>
            </c:multiLvlStrRef>
          </c:cat>
          <c:val>
            <c:numRef>
              <c:f>Sheet1!$C$2:$C$47</c:f>
              <c:numCache>
                <c:formatCode>General</c:formatCode>
                <c:ptCount val="4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6.5</c:v>
                </c:pt>
                <c:pt idx="43">
                  <c:v>8</c:v>
                </c:pt>
                <c:pt idx="44">
                  <c:v>8.2</c:v>
                </c:pt>
                <c:pt idx="45">
                  <c:v>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tickLblSkip val="4"/>
      </c:catAx>
      <c:valAx>
        <c:axId val="2094734552"/>
        <c:scaling>
          <c:orientation val="minMax"/>
          <c:max val="20"/>
          <c:min val="-10"/>
        </c:scaling>
        <c:delete val="0"/>
        <c:axPos val="l"/>
        <c:majorGridlines>
          <c:spPr>
            <a:ln w="6350" cap="flat">
              <a:solidFill>
                <a:srgbClr val="E3E7E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2"/>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406F"/>
                </a:solidFill>
                <a:latin typeface="Arial"/>
              </a:defRPr>
            </a:pPr>
            <a:r>
              <a:rPr sz="1200" b="0" i="0" u="none" strike="noStrike">
                <a:solidFill>
                  <a:srgbClr val="16406F"/>
                </a:solidFill>
                <a:latin typeface="Arial"/>
              </a:rPr>
              <a:t>Out-of-sample R² by forecast horizon (target: ISM Mfg PMI YoY%)</a:t>
            </a:r>
          </a:p>
        </c:rich>
      </c:tx>
      <c:layout/>
      <c:overlay val="0"/>
    </c:title>
    <c:autoTitleDeleted val="0"/>
    <c:plotArea>
      <c:layout/>
      <c:barChart>
        <c:barDir val="col"/>
        <c:grouping val="clustered"/>
        <c:varyColors val="0"/>
        <c:ser>
          <c:idx val="0"/>
          <c:order val="0"/>
          <c:tx>
            <c:strRef>
              <c:f>Sheet1!$B$1</c:f>
              <c:strCache>
                <c:ptCount val="1"/>
                <c:pt idx="0">
                  <c:v>AR(2)</c:v>
                </c:pt>
              </c:strCache>
            </c:strRef>
          </c:tx>
          <c:spPr>
            <a:solidFill>
              <a:srgbClr val="B4BDC8"/>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Sheet1!$B$2:$B$4</c:f>
              <c:numCache>
                <c:formatCode>General</c:formatCode>
                <c:ptCount val="3"/>
                <c:pt idx="0">
                  <c:v>0.48</c:v>
                </c:pt>
                <c:pt idx="1">
                  <c:v>0.23</c:v>
                </c:pt>
                <c:pt idx="2">
                  <c:v>0.07</c:v>
                </c:pt>
              </c:numCache>
            </c:numRef>
          </c:val>
        </c:ser>
        <c:ser>
          <c:idx val="1"/>
          <c:order val="1"/>
          <c:tx>
            <c:strRef>
              <c:f>Sheet1!$C$1</c:f>
              <c:strCache>
                <c:ptCount val="1"/>
                <c:pt idx="0">
                  <c:v>AR(2) + ISM level</c:v>
                </c:pt>
              </c:strCache>
            </c:strRef>
          </c:tx>
          <c:spPr>
            <a:solidFill>
              <a:srgbClr val="6E9AD1"/>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Sheet1!$C$2:$C$4</c:f>
              <c:numCache>
                <c:formatCode>General</c:formatCode>
                <c:ptCount val="3"/>
                <c:pt idx="0">
                  <c:v>0.52</c:v>
                </c:pt>
                <c:pt idx="1">
                  <c:v>0.39</c:v>
                </c:pt>
                <c:pt idx="2">
                  <c:v>0.34</c:v>
                </c:pt>
              </c:numCache>
            </c:numRef>
          </c:val>
        </c:ser>
        <c:ser>
          <c:idx val="2"/>
          <c:order val="2"/>
          <c:tx>
            <c:strRef>
              <c:f>Sheet1!$D$1</c:f>
              <c:strCache>
                <c:ptCount val="1"/>
                <c:pt idx="0">
                  <c:v>AR(2) + ISM + Capex acceleration</c:v>
                </c:pt>
              </c:strCache>
            </c:strRef>
          </c:tx>
          <c:spPr>
            <a:solidFill>
              <a:srgbClr val="E58A2B"/>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Sheet1!$D$2:$D$4</c:f>
              <c:numCache>
                <c:formatCode>General</c:formatCode>
                <c:ptCount val="3"/>
                <c:pt idx="0">
                  <c:v>0.63</c:v>
                </c:pt>
                <c:pt idx="1">
                  <c:v>0.7</c:v>
                </c:pt>
                <c:pt idx="2">
                  <c:v>0.69</c:v>
                </c:pt>
              </c:numCache>
            </c:numRef>
          </c:val>
        </c:ser>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772"/>
                    </a:solidFill>
                    <a:latin typeface="Arial"/>
                  </a:defRPr>
                </a:pPr>
                <a:r>
                  <a:rPr sz="1000" b="0" i="0" u="none" strike="noStrike">
                    <a:solidFill>
                      <a:srgbClr val="5B6772"/>
                    </a:solidFill>
                    <a:latin typeface="Arial"/>
                  </a:rPr>
                  <a:t>Forecast horizon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2"/>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3, right after the email mockup] Initial numbers and analysis landed in the Bloomberg chat within 4 minutes (screenshot in the left box). It used to take at least 30 minutes to read the release and write the blurb, so we save 26+ minutes per release (26/30 = 87%). Annualized: roughly 168 covered releases a year (52 weekly claims, 8 monthly series x 12 = 96, GDP 3 per quarter = 12, productivity 2 per quarter = 8) x 26 min = about 4,370 minutes, or 73 hours, for one analyst covering every release; multiply by the number of analysts or desks for the enterprise figure. Aside: our economists are regularly on live media reacting to major releases and use the email to glance at key numbers and trends (small photo or screengrab goes in the dashed box; names intentionally left off). The quality point is qualitative: same structure every time, numbers pulled from the source, human confirmation before it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6] Three next steps, each mapped to a limitation on the Current State slide: (1) UI built with Aiden so it is not CLI-only, (2) scheduling so it runs independently and does not need someone at the desk, (3) expansion to the Canadian economics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8, after the LLM-Powered title slide] Private nonresidential fixed investment was $4,737B at a seasonally adjusted annual rate in Q2 2026, or about $1.18T of spending in the quarter. YoY: Q3 2025 +6.5%, Q4 2025 +8.0%, Q1 2026 +8.2%, Q2 2026 +9.6%. The advance GDP estimate comes roughly a month after quarter-end (Q2 advance was July 30) and the data are revised through the third estimate (Sept 30). For context, ISM Manufacturing PMI was 54.5 in September 2026, in expansion for 9 straight months. ISM is not on FRED, so the investment-vs-ISM overlay is not on this slide: to add it, right-click the chart &gt; Edit Data and paste a quarterly-average ISM PMI series (Bloomberg NAPMPMI) as a line on a secondary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9, right after the business-investment slide] Math: 209,000 transcripts x 40 min = 8.36M minutes = about 139,300 hours; / 2,000 hours per intern-year = about 70 intern-years. 10% = 20,900 transcripts = about 13,900 hours = about 7 intern-years. A team of 10 interns would still need about 7 years for the full set. Keeping up with new calls: roughly 3,300 transcripts per quarter (209,000 over about 64 quarters) = about 2,200 reading hours, which is about 9 full-time interns working through a 6-week earnings season just to read, not to extract anything. The 9,000 words and 225 wpm are assumptions; swap in the true average transcript length from the data to tighten the number. Reading only: the pipeline also extracts 20 fields across 4 topics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1 of 4: replaces the old Isolating-what-transcripts-know slide] Replaces the old "Isolating what transcripts know" slide. The old example described an inflation surprise; this version frames the surprise in terms of what firms report (capex, hiring, demand), which is what the index is built from. Three kinds of signals feed the index: diffusion measures (observed directly), residualized measures (firm surprises net of macro) and a cross-topic divergence measure. The next slides show how they are combined and what they add to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2 of 4] Construction walk-through. 8 candidates -&gt; diffusion series pre-smoothed with a 24-month MA (to match the dashboard headline), inverted series use 1 - x so higher = more positive -&gt; Lasso (chosen for parsimony) targeting ISM Manufacturing PMI YoY% at a 10-month lead. 7 of 8 have non-zero weights (turning-point breadth is dropped); intercept -193.25. The weights span a very wide range (+248 to -1.8) and several are negative even after inversion, which is typical with correlated inputs measured in their own units. The point is that the composite, not any single coefficient, is what we validate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3 of 4: replaces the old Main Index showcase slide; drop the existing plots in] Same plots as the previous Main Index slide; only the framing changes. The subtitle chips make explicit that this is an elastic net composite of signals built from the transcripts, not a single raw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4 of 4] Out-of-sample R2 for AR(2) / AR(2)+ISM / AR(2)+ISM+CapexAccel: 3m 0.48/0.52/0.63; 6m 0.23/0.39/0.70; 10m 0.07/0.34/0.69. Added over AR(2)+ISM: +11, +31 and +35 pts. At 10m (expanding window, N=133): RMSE 11.57 / 9.78 / 6.72 and correlation 0.28 / 0.62 / 0.83 for the three models; the capex signal cuts RMSE by about 3 points (31%) versus AR(2)+ISM. Versus AR(2) alone the out-of-sample gain at 10m is +62 pts. 10 months is the horizon where we use the signal as a lead indicator. Earlier runs also showed 9m (+38 pts) and 12m (+27 pts) gains, and in-sample incremental R2 over AR(2)+ISM of +12, +28, +36 and +23 pts at 3/6/9/12m, so the result is not specific to one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From release to analysis in about 4 minutes</a:t>
            </a:r>
            <a:endParaRPr lang="en-US" sz="2600" dirty="0"/>
          </a:p>
        </p:txBody>
      </p:sp>
      <p:sp>
        <p:nvSpPr>
          <p:cNvPr id="4" name="Shape 2"/>
          <p:cNvSpPr/>
          <p:nvPr/>
        </p:nvSpPr>
        <p:spPr>
          <a:xfrm>
            <a:off x="548640" y="1234440"/>
            <a:ext cx="5394960" cy="4343400"/>
          </a:xfrm>
          <a:prstGeom prst="rect">
            <a:avLst/>
          </a:prstGeom>
          <a:solidFill>
            <a:srgbClr val="F7F8FA"/>
          </a:solidFill>
          <a:ln w="15875">
            <a:solidFill>
              <a:srgbClr val="9AA5B1"/>
            </a:solidFill>
            <a:prstDash val="dash"/>
          </a:ln>
        </p:spPr>
      </p:sp>
      <p:sp>
        <p:nvSpPr>
          <p:cNvPr id="5" name="Text 3"/>
          <p:cNvSpPr txBox="1"/>
          <p:nvPr/>
        </p:nvSpPr>
        <p:spPr>
          <a:xfrm>
            <a:off x="822960" y="1234440"/>
            <a:ext cx="4846320" cy="4343400"/>
          </a:xfrm>
          <a:prstGeom prst="rect">
            <a:avLst/>
          </a:prstGeom>
          <a:noFill/>
          <a:ln/>
        </p:spPr>
        <p:txBody>
          <a:bodyPr wrap="square" lIns="0" tIns="0" rIns="0" bIns="0" rtlCol="0" anchor="ctr"/>
          <a:lstStyle/>
          <a:p>
            <a:pPr algn="ctr" indent="0" marL="0">
              <a:buNone/>
            </a:pPr>
            <a:r>
              <a:rPr lang="en-US" sz="1600" b="1" dirty="0">
                <a:solidFill>
                  <a:srgbClr val="7A8693"/>
                </a:solidFill>
                <a:latin typeface="Arial" pitchFamily="34" charset="0"/>
                <a:ea typeface="Arial" pitchFamily="34" charset="-122"/>
                <a:cs typeface="Arial" pitchFamily="34" charset="-120"/>
              </a:rPr>
              <a:t>Insert Bloomberg chat screenshot</a:t>
            </a:r>
            <a:endParaRPr lang="en-US" sz="1600" dirty="0"/>
          </a:p>
          <a:p>
            <a:pPr algn="ctr" indent="0" marL="0">
              <a:buNone/>
            </a:pPr>
            <a:r>
              <a:rPr lang="en-US" sz="1150" dirty="0">
                <a:solidFill>
                  <a:srgbClr val="9AA5B1"/>
                </a:solidFill>
                <a:latin typeface="Arial" pitchFamily="34" charset="0"/>
                <a:ea typeface="Arial" pitchFamily="34" charset="-122"/>
                <a:cs typeface="Arial" pitchFamily="34" charset="-120"/>
              </a:rPr>
              <a:t>Initial numbers and analysis shared within 4 minutes</a:t>
            </a:r>
            <a:endParaRPr lang="en-US" sz="1600" dirty="0"/>
          </a:p>
        </p:txBody>
      </p:sp>
      <p:sp>
        <p:nvSpPr>
          <p:cNvPr id="6" name="Shape 4"/>
          <p:cNvSpPr/>
          <p:nvPr/>
        </p:nvSpPr>
        <p:spPr>
          <a:xfrm>
            <a:off x="6217920" y="1234440"/>
            <a:ext cx="5422392" cy="1920240"/>
          </a:xfrm>
          <a:prstGeom prst="rect">
            <a:avLst/>
          </a:prstGeom>
          <a:solidFill>
            <a:srgbClr val="F3F5F8"/>
          </a:solidFill>
          <a:ln w="9525">
            <a:solidFill>
              <a:srgbClr val="D5DBE3"/>
            </a:solidFill>
            <a:prstDash val="solid"/>
          </a:ln>
        </p:spPr>
      </p:sp>
      <p:sp>
        <p:nvSpPr>
          <p:cNvPr id="7" name="Shape 5"/>
          <p:cNvSpPr/>
          <p:nvPr/>
        </p:nvSpPr>
        <p:spPr>
          <a:xfrm>
            <a:off x="6217920" y="1234440"/>
            <a:ext cx="5422392" cy="54864"/>
          </a:xfrm>
          <a:prstGeom prst="rect">
            <a:avLst/>
          </a:prstGeom>
          <a:solidFill>
            <a:srgbClr val="1A5FAF"/>
          </a:solidFill>
          <a:ln w="12700">
            <a:solidFill>
              <a:srgbClr val="1A5FAF"/>
            </a:solidFill>
            <a:prstDash val="solid"/>
          </a:ln>
        </p:spPr>
      </p:sp>
      <p:sp>
        <p:nvSpPr>
          <p:cNvPr id="8" name="Text 6"/>
          <p:cNvSpPr txBox="1"/>
          <p:nvPr/>
        </p:nvSpPr>
        <p:spPr>
          <a:xfrm>
            <a:off x="6446520" y="1353312"/>
            <a:ext cx="4937760" cy="292608"/>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Time to first numbers and analysis</a:t>
            </a:r>
            <a:endParaRPr lang="en-US" sz="1400" dirty="0"/>
          </a:p>
        </p:txBody>
      </p:sp>
      <p:sp>
        <p:nvSpPr>
          <p:cNvPr id="9" name="Text 7"/>
          <p:cNvSpPr txBox="1"/>
          <p:nvPr/>
        </p:nvSpPr>
        <p:spPr>
          <a:xfrm>
            <a:off x="6446520" y="1700784"/>
            <a:ext cx="4937760" cy="219456"/>
          </a:xfrm>
          <a:prstGeom prst="rect">
            <a:avLst/>
          </a:prstGeom>
          <a:noFill/>
          <a:ln/>
        </p:spPr>
        <p:txBody>
          <a:bodyPr wrap="square" lIns="0" tIns="0" rIns="0" bIns="0" rtlCol="0" anchor="ctr"/>
          <a:lstStyle/>
          <a:p>
            <a:pPr indent="0" marL="0">
              <a:buNone/>
            </a:pPr>
            <a:r>
              <a:rPr lang="en-US" sz="1100" dirty="0">
                <a:solidFill>
                  <a:srgbClr val="5B6772"/>
                </a:solidFill>
                <a:latin typeface="Arial" pitchFamily="34" charset="0"/>
                <a:ea typeface="Arial" pitchFamily="34" charset="-122"/>
                <a:cs typeface="Arial" pitchFamily="34" charset="-120"/>
              </a:rPr>
              <a:t>Before: read the release, write the blurb</a:t>
            </a:r>
            <a:endParaRPr lang="en-US" sz="1100" dirty="0"/>
          </a:p>
        </p:txBody>
      </p:sp>
      <p:sp>
        <p:nvSpPr>
          <p:cNvPr id="10" name="Shape 8"/>
          <p:cNvSpPr/>
          <p:nvPr/>
        </p:nvSpPr>
        <p:spPr>
          <a:xfrm>
            <a:off x="6446520" y="1920240"/>
            <a:ext cx="4965192" cy="329184"/>
          </a:xfrm>
          <a:prstGeom prst="rect">
            <a:avLst/>
          </a:prstGeom>
          <a:solidFill>
            <a:srgbClr val="B4BDC8"/>
          </a:solidFill>
          <a:ln w="12700">
            <a:solidFill>
              <a:srgbClr val="B4BDC8"/>
            </a:solidFill>
            <a:prstDash val="solid"/>
          </a:ln>
        </p:spPr>
      </p:sp>
      <p:sp>
        <p:nvSpPr>
          <p:cNvPr id="11" name="Text 9"/>
          <p:cNvSpPr txBox="1"/>
          <p:nvPr/>
        </p:nvSpPr>
        <p:spPr>
          <a:xfrm>
            <a:off x="6446520" y="1920240"/>
            <a:ext cx="4828032" cy="329184"/>
          </a:xfrm>
          <a:prstGeom prst="rect">
            <a:avLst/>
          </a:prstGeom>
          <a:noFill/>
          <a:ln/>
        </p:spPr>
        <p:txBody>
          <a:bodyPr wrap="square" lIns="0" tIns="0" rIns="0" bIns="0" rtlCol="0" anchor="ctr"/>
          <a:lstStyle/>
          <a:p>
            <a:pPr algn="r" indent="0" marL="0">
              <a:buNone/>
            </a:pPr>
            <a:r>
              <a:rPr lang="en-US" sz="1400" b="1" dirty="0">
                <a:solidFill>
                  <a:srgbClr val="1F2933"/>
                </a:solidFill>
                <a:latin typeface="Arial" pitchFamily="34" charset="0"/>
                <a:ea typeface="Arial" pitchFamily="34" charset="-122"/>
                <a:cs typeface="Arial" pitchFamily="34" charset="-120"/>
              </a:rPr>
              <a:t>30+ min</a:t>
            </a:r>
            <a:endParaRPr lang="en-US" sz="1400" dirty="0"/>
          </a:p>
        </p:txBody>
      </p:sp>
      <p:sp>
        <p:nvSpPr>
          <p:cNvPr id="12" name="Text 10"/>
          <p:cNvSpPr txBox="1"/>
          <p:nvPr/>
        </p:nvSpPr>
        <p:spPr>
          <a:xfrm>
            <a:off x="6446520" y="2331720"/>
            <a:ext cx="4937760" cy="219456"/>
          </a:xfrm>
          <a:prstGeom prst="rect">
            <a:avLst/>
          </a:prstGeom>
          <a:noFill/>
          <a:ln/>
        </p:spPr>
        <p:txBody>
          <a:bodyPr wrap="square" lIns="0" tIns="0" rIns="0" bIns="0" rtlCol="0" anchor="ctr"/>
          <a:lstStyle/>
          <a:p>
            <a:pPr indent="0" marL="0">
              <a:buNone/>
            </a:pPr>
            <a:r>
              <a:rPr lang="en-US" sz="1100" dirty="0">
                <a:solidFill>
                  <a:srgbClr val="5B6772"/>
                </a:solidFill>
                <a:latin typeface="Arial" pitchFamily="34" charset="0"/>
                <a:ea typeface="Arial" pitchFamily="34" charset="-122"/>
                <a:cs typeface="Arial" pitchFamily="34" charset="-120"/>
              </a:rPr>
              <a:t>With Release Watcher</a:t>
            </a:r>
            <a:endParaRPr lang="en-US" sz="1100" dirty="0"/>
          </a:p>
        </p:txBody>
      </p:sp>
      <p:sp>
        <p:nvSpPr>
          <p:cNvPr id="13" name="Shape 11"/>
          <p:cNvSpPr/>
          <p:nvPr/>
        </p:nvSpPr>
        <p:spPr>
          <a:xfrm>
            <a:off x="6446520" y="2551176"/>
            <a:ext cx="662026" cy="329184"/>
          </a:xfrm>
          <a:prstGeom prst="rect">
            <a:avLst/>
          </a:prstGeom>
          <a:solidFill>
            <a:srgbClr val="E58A2B"/>
          </a:solidFill>
          <a:ln w="12700">
            <a:solidFill>
              <a:srgbClr val="E58A2B"/>
            </a:solidFill>
            <a:prstDash val="solid"/>
          </a:ln>
        </p:spPr>
      </p:sp>
      <p:sp>
        <p:nvSpPr>
          <p:cNvPr id="14" name="Text 12"/>
          <p:cNvSpPr txBox="1"/>
          <p:nvPr/>
        </p:nvSpPr>
        <p:spPr>
          <a:xfrm>
            <a:off x="7218274" y="2551176"/>
            <a:ext cx="1828800" cy="329184"/>
          </a:xfrm>
          <a:prstGeom prst="rect">
            <a:avLst/>
          </a:prstGeom>
          <a:noFill/>
          <a:ln/>
        </p:spPr>
        <p:txBody>
          <a:bodyPr wrap="square" lIns="0" tIns="0" rIns="0" bIns="0" rtlCol="0" anchor="ctr"/>
          <a:lstStyle/>
          <a:p>
            <a:pPr indent="0" marL="0">
              <a:buNone/>
            </a:pPr>
            <a:r>
              <a:rPr lang="en-US" sz="1400" b="1" dirty="0">
                <a:solidFill>
                  <a:srgbClr val="C9741C"/>
                </a:solidFill>
                <a:latin typeface="Arial" pitchFamily="34" charset="0"/>
                <a:ea typeface="Arial" pitchFamily="34" charset="-122"/>
                <a:cs typeface="Arial" pitchFamily="34" charset="-120"/>
              </a:rPr>
              <a:t>~4 min</a:t>
            </a:r>
            <a:endParaRPr lang="en-US" sz="1400" dirty="0"/>
          </a:p>
        </p:txBody>
      </p:sp>
      <p:sp>
        <p:nvSpPr>
          <p:cNvPr id="15" name="Shape 13"/>
          <p:cNvSpPr/>
          <p:nvPr/>
        </p:nvSpPr>
        <p:spPr>
          <a:xfrm>
            <a:off x="6217920" y="3291840"/>
            <a:ext cx="2651760" cy="1097280"/>
          </a:xfrm>
          <a:prstGeom prst="rect">
            <a:avLst/>
          </a:prstGeom>
          <a:solidFill>
            <a:srgbClr val="F3F5F8"/>
          </a:solidFill>
          <a:ln w="9525">
            <a:solidFill>
              <a:srgbClr val="D5DBE3"/>
            </a:solidFill>
            <a:prstDash val="solid"/>
          </a:ln>
        </p:spPr>
      </p:sp>
      <p:sp>
        <p:nvSpPr>
          <p:cNvPr id="16" name="Shape 14"/>
          <p:cNvSpPr/>
          <p:nvPr/>
        </p:nvSpPr>
        <p:spPr>
          <a:xfrm>
            <a:off x="6217920" y="3291840"/>
            <a:ext cx="2651760" cy="54864"/>
          </a:xfrm>
          <a:prstGeom prst="rect">
            <a:avLst/>
          </a:prstGeom>
          <a:solidFill>
            <a:srgbClr val="E58A2B"/>
          </a:solidFill>
          <a:ln w="12700">
            <a:solidFill>
              <a:srgbClr val="E58A2B"/>
            </a:solidFill>
            <a:prstDash val="solid"/>
          </a:ln>
        </p:spPr>
      </p:sp>
      <p:sp>
        <p:nvSpPr>
          <p:cNvPr id="17" name="Text 15"/>
          <p:cNvSpPr txBox="1"/>
          <p:nvPr/>
        </p:nvSpPr>
        <p:spPr>
          <a:xfrm>
            <a:off x="6400800" y="3383280"/>
            <a:ext cx="2286000" cy="502920"/>
          </a:xfrm>
          <a:prstGeom prst="rect">
            <a:avLst/>
          </a:prstGeom>
          <a:noFill/>
          <a:ln/>
        </p:spPr>
        <p:txBody>
          <a:bodyPr wrap="square" lIns="0" tIns="0" rIns="0" bIns="0" rtlCol="0" anchor="ctr"/>
          <a:lstStyle/>
          <a:p>
            <a:pPr indent="0" marL="0">
              <a:buNone/>
            </a:pPr>
            <a:r>
              <a:rPr lang="en-US" sz="2600" b="1" dirty="0">
                <a:solidFill>
                  <a:srgbClr val="C9741C"/>
                </a:solidFill>
                <a:latin typeface="Arial" pitchFamily="34" charset="0"/>
                <a:ea typeface="Arial" pitchFamily="34" charset="-122"/>
                <a:cs typeface="Arial" pitchFamily="34" charset="-120"/>
              </a:rPr>
              <a:t>26+ min</a:t>
            </a:r>
            <a:endParaRPr lang="en-US" sz="2600" dirty="0"/>
          </a:p>
        </p:txBody>
      </p:sp>
      <p:sp>
        <p:nvSpPr>
          <p:cNvPr id="18" name="Text 16"/>
          <p:cNvSpPr txBox="1"/>
          <p:nvPr/>
        </p:nvSpPr>
        <p:spPr>
          <a:xfrm>
            <a:off x="6400800" y="3904488"/>
            <a:ext cx="233172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saved on every release (about 87% faster)</a:t>
            </a:r>
            <a:endParaRPr lang="en-US" sz="1100" dirty="0"/>
          </a:p>
        </p:txBody>
      </p:sp>
      <p:sp>
        <p:nvSpPr>
          <p:cNvPr id="19" name="Shape 17"/>
          <p:cNvSpPr/>
          <p:nvPr/>
        </p:nvSpPr>
        <p:spPr>
          <a:xfrm>
            <a:off x="8988552" y="3291840"/>
            <a:ext cx="2651760" cy="1097280"/>
          </a:xfrm>
          <a:prstGeom prst="rect">
            <a:avLst/>
          </a:prstGeom>
          <a:solidFill>
            <a:srgbClr val="F3F5F8"/>
          </a:solidFill>
          <a:ln w="9525">
            <a:solidFill>
              <a:srgbClr val="D5DBE3"/>
            </a:solidFill>
            <a:prstDash val="solid"/>
          </a:ln>
        </p:spPr>
      </p:sp>
      <p:sp>
        <p:nvSpPr>
          <p:cNvPr id="20" name="Shape 18"/>
          <p:cNvSpPr/>
          <p:nvPr/>
        </p:nvSpPr>
        <p:spPr>
          <a:xfrm>
            <a:off x="8988552" y="3291840"/>
            <a:ext cx="2651760" cy="54864"/>
          </a:xfrm>
          <a:prstGeom prst="rect">
            <a:avLst/>
          </a:prstGeom>
          <a:solidFill>
            <a:srgbClr val="2E8B84"/>
          </a:solidFill>
          <a:ln w="12700">
            <a:solidFill>
              <a:srgbClr val="2E8B84"/>
            </a:solidFill>
            <a:prstDash val="solid"/>
          </a:ln>
        </p:spPr>
      </p:sp>
      <p:sp>
        <p:nvSpPr>
          <p:cNvPr id="21" name="Text 19"/>
          <p:cNvSpPr txBox="1"/>
          <p:nvPr/>
        </p:nvSpPr>
        <p:spPr>
          <a:xfrm>
            <a:off x="9171432" y="3383280"/>
            <a:ext cx="2286000" cy="502920"/>
          </a:xfrm>
          <a:prstGeom prst="rect">
            <a:avLst/>
          </a:prstGeom>
          <a:noFill/>
          <a:ln/>
        </p:spPr>
        <p:txBody>
          <a:bodyPr wrap="square" lIns="0" tIns="0" rIns="0" bIns="0" rtlCol="0" anchor="ctr"/>
          <a:lstStyle/>
          <a:p>
            <a:pPr indent="0" marL="0">
              <a:buNone/>
            </a:pPr>
            <a:r>
              <a:rPr lang="en-US" sz="2600" b="1" dirty="0">
                <a:solidFill>
                  <a:srgbClr val="2E8B84"/>
                </a:solidFill>
                <a:latin typeface="Arial" pitchFamily="34" charset="0"/>
                <a:ea typeface="Arial" pitchFamily="34" charset="-122"/>
                <a:cs typeface="Arial" pitchFamily="34" charset="-120"/>
              </a:rPr>
              <a:t>~73 hrs</a:t>
            </a:r>
            <a:endParaRPr lang="en-US" sz="2600" dirty="0"/>
          </a:p>
        </p:txBody>
      </p:sp>
      <p:sp>
        <p:nvSpPr>
          <p:cNvPr id="22" name="Text 20"/>
          <p:cNvSpPr txBox="1"/>
          <p:nvPr/>
        </p:nvSpPr>
        <p:spPr>
          <a:xfrm>
            <a:off x="9171432" y="3904488"/>
            <a:ext cx="233172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saved per year for an analyst covering every release*</a:t>
            </a:r>
            <a:endParaRPr lang="en-US" sz="1100" dirty="0"/>
          </a:p>
        </p:txBody>
      </p:sp>
      <p:sp>
        <p:nvSpPr>
          <p:cNvPr id="23" name="Shape 21"/>
          <p:cNvSpPr/>
          <p:nvPr/>
        </p:nvSpPr>
        <p:spPr>
          <a:xfrm>
            <a:off x="6217920" y="4526280"/>
            <a:ext cx="5422392" cy="1051560"/>
          </a:xfrm>
          <a:prstGeom prst="rect">
            <a:avLst/>
          </a:prstGeom>
          <a:solidFill>
            <a:srgbClr val="F3F5F8"/>
          </a:solidFill>
          <a:ln w="9525">
            <a:solidFill>
              <a:srgbClr val="D5DBE3"/>
            </a:solidFill>
            <a:prstDash val="solid"/>
          </a:ln>
        </p:spPr>
      </p:sp>
      <p:sp>
        <p:nvSpPr>
          <p:cNvPr id="24" name="Shape 22"/>
          <p:cNvSpPr/>
          <p:nvPr/>
        </p:nvSpPr>
        <p:spPr>
          <a:xfrm>
            <a:off x="6217920" y="4526280"/>
            <a:ext cx="5422392" cy="54864"/>
          </a:xfrm>
          <a:prstGeom prst="rect">
            <a:avLst/>
          </a:prstGeom>
          <a:solidFill>
            <a:srgbClr val="16406F"/>
          </a:solidFill>
          <a:ln w="12700">
            <a:solidFill>
              <a:srgbClr val="16406F"/>
            </a:solidFill>
            <a:prstDash val="solid"/>
          </a:ln>
        </p:spPr>
      </p:sp>
      <p:sp>
        <p:nvSpPr>
          <p:cNvPr id="25" name="Shape 23"/>
          <p:cNvSpPr/>
          <p:nvPr/>
        </p:nvSpPr>
        <p:spPr>
          <a:xfrm>
            <a:off x="6400800" y="4709160"/>
            <a:ext cx="1417320" cy="731520"/>
          </a:xfrm>
          <a:prstGeom prst="rect">
            <a:avLst/>
          </a:prstGeom>
          <a:solidFill>
            <a:srgbClr val="F7F8FA"/>
          </a:solidFill>
          <a:ln w="15875">
            <a:solidFill>
              <a:srgbClr val="9AA5B1"/>
            </a:solidFill>
            <a:prstDash val="dash"/>
          </a:ln>
        </p:spPr>
      </p:sp>
      <p:sp>
        <p:nvSpPr>
          <p:cNvPr id="26" name="Text 24"/>
          <p:cNvSpPr txBox="1"/>
          <p:nvPr/>
        </p:nvSpPr>
        <p:spPr>
          <a:xfrm>
            <a:off x="6675120" y="4709160"/>
            <a:ext cx="868680" cy="731520"/>
          </a:xfrm>
          <a:prstGeom prst="rect">
            <a:avLst/>
          </a:prstGeom>
          <a:noFill/>
          <a:ln/>
        </p:spPr>
        <p:txBody>
          <a:bodyPr wrap="square" lIns="0" tIns="0" rIns="0" bIns="0" rtlCol="0" anchor="ctr"/>
          <a:lstStyle/>
          <a:p>
            <a:pPr algn="ctr" indent="0" marL="0">
              <a:buNone/>
            </a:pPr>
            <a:r>
              <a:rPr lang="en-US" sz="1600" b="1" dirty="0">
                <a:solidFill>
                  <a:srgbClr val="7A8693"/>
                </a:solidFill>
                <a:latin typeface="Arial" pitchFamily="34" charset="0"/>
                <a:ea typeface="Arial" pitchFamily="34" charset="-122"/>
                <a:cs typeface="Arial" pitchFamily="34" charset="-120"/>
              </a:rPr>
              <a:t>Photo</a:t>
            </a:r>
            <a:endParaRPr lang="en-US" sz="1600" dirty="0"/>
          </a:p>
          <a:p>
            <a:pPr algn="ctr" indent="0" marL="0">
              <a:buNone/>
            </a:pPr>
            <a:r>
              <a:rPr lang="en-US" sz="1150" dirty="0">
                <a:solidFill>
                  <a:srgbClr val="9AA5B1"/>
                </a:solidFill>
                <a:latin typeface="Arial" pitchFamily="34" charset="0"/>
                <a:ea typeface="Arial" pitchFamily="34" charset="-122"/>
                <a:cs typeface="Arial" pitchFamily="34" charset="-120"/>
              </a:rPr>
              <a:t>Bloomberg TV</a:t>
            </a:r>
            <a:endParaRPr lang="en-US" sz="1600" dirty="0"/>
          </a:p>
        </p:txBody>
      </p:sp>
      <p:sp>
        <p:nvSpPr>
          <p:cNvPr id="27" name="Text 25"/>
          <p:cNvSpPr txBox="1"/>
          <p:nvPr/>
        </p:nvSpPr>
        <p:spPr>
          <a:xfrm>
            <a:off x="8001000" y="4663440"/>
            <a:ext cx="3520440" cy="868680"/>
          </a:xfrm>
          <a:prstGeom prst="rect">
            <a:avLst/>
          </a:prstGeom>
          <a:noFill/>
          <a:ln/>
        </p:spPr>
        <p:txBody>
          <a:bodyPr wrap="square" lIns="0" tIns="0" rIns="0" bIns="0" rtlCol="0" anchor="ctr"/>
          <a:lstStyle/>
          <a:p>
            <a:pPr indent="0" marL="0">
              <a:buNone/>
            </a:pPr>
            <a:r>
              <a:rPr lang="en-US" sz="1300" b="1" dirty="0">
                <a:solidFill>
                  <a:srgbClr val="16406F"/>
                </a:solidFill>
                <a:latin typeface="Arial" pitchFamily="34" charset="0"/>
                <a:ea typeface="Arial" pitchFamily="34" charset="-122"/>
                <a:cs typeface="Arial" pitchFamily="34" charset="-120"/>
              </a:rPr>
              <a:t>Built for live reactions</a:t>
            </a:r>
            <a:endParaRPr lang="en-US" sz="1300" dirty="0"/>
          </a:p>
          <a:p>
            <a:pPr indent="0" marL="0">
              <a:buNone/>
            </a:pPr>
            <a:r>
              <a:rPr lang="en-US" sz="1150" dirty="0">
                <a:solidFill>
                  <a:srgbClr val="1F2933"/>
                </a:solidFill>
                <a:latin typeface="Arial" pitchFamily="34" charset="0"/>
                <a:ea typeface="Arial" pitchFamily="34" charset="-122"/>
                <a:cs typeface="Arial" pitchFamily="34" charset="-120"/>
              </a:rPr>
              <a:t>Our economists glance at the email for key numbers and trends when reacting live on air.</a:t>
            </a:r>
            <a:endParaRPr lang="en-US" sz="1300" dirty="0"/>
          </a:p>
        </p:txBody>
      </p:sp>
      <p:sp>
        <p:nvSpPr>
          <p:cNvPr id="28" name="Shape 26"/>
          <p:cNvSpPr/>
          <p:nvPr/>
        </p:nvSpPr>
        <p:spPr>
          <a:xfrm>
            <a:off x="548640" y="5760720"/>
            <a:ext cx="11091672" cy="640080"/>
          </a:xfrm>
          <a:prstGeom prst="rect">
            <a:avLst/>
          </a:prstGeom>
          <a:solidFill>
            <a:srgbClr val="FDF1DE"/>
          </a:solidFill>
          <a:ln w="12700">
            <a:solidFill>
              <a:srgbClr val="FDF1DE"/>
            </a:solidFill>
            <a:prstDash val="solid"/>
          </a:ln>
        </p:spPr>
      </p:sp>
      <p:sp>
        <p:nvSpPr>
          <p:cNvPr id="29" name="Shape 27"/>
          <p:cNvSpPr/>
          <p:nvPr/>
        </p:nvSpPr>
        <p:spPr>
          <a:xfrm>
            <a:off x="548640" y="5760720"/>
            <a:ext cx="64008" cy="640080"/>
          </a:xfrm>
          <a:prstGeom prst="rect">
            <a:avLst/>
          </a:prstGeom>
          <a:solidFill>
            <a:srgbClr val="E58A2B"/>
          </a:solidFill>
          <a:ln w="12700">
            <a:solidFill>
              <a:srgbClr val="E58A2B"/>
            </a:solidFill>
            <a:prstDash val="solid"/>
          </a:ln>
        </p:spPr>
      </p:sp>
      <p:sp>
        <p:nvSpPr>
          <p:cNvPr id="30" name="Text 28"/>
          <p:cNvSpPr txBox="1"/>
          <p:nvPr/>
        </p:nvSpPr>
        <p:spPr>
          <a:xfrm>
            <a:off x="777240" y="5760720"/>
            <a:ext cx="10698480" cy="64008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Quality, not just speed: </a:t>
            </a:r>
            <a:pPr indent="0" marL="0">
              <a:buNone/>
            </a:pPr>
            <a:r>
              <a:rPr lang="en-US" sz="1350" dirty="0">
                <a:solidFill>
                  <a:srgbClr val="1F2933"/>
                </a:solidFill>
                <a:latin typeface="Arial" pitchFamily="34" charset="0"/>
                <a:ea typeface="Arial" pitchFamily="34" charset="-122"/>
                <a:cs typeface="Arial" pitchFamily="34" charset="-120"/>
              </a:rPr>
              <a:t>every release gets the same structured read (key stats, top contributors and detractors, short summary), with a human check before it goes out.</a:t>
            </a:r>
            <a:endParaRPr lang="en-US" sz="1350" dirty="0"/>
          </a:p>
        </p:txBody>
      </p:sp>
      <p:sp>
        <p:nvSpPr>
          <p:cNvPr id="31" name="Text 29"/>
          <p:cNvSpPr txBox="1"/>
          <p:nvPr/>
        </p:nvSpPr>
        <p:spPr>
          <a:xfrm>
            <a:off x="548640" y="644652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*Illustrative: about 170 covered releases a year (weekly claims, monthly data, GDP and productivity revisions) × 26 minutes ≈ 4,400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Next Steps</a:t>
            </a:r>
            <a:endParaRPr lang="en-US" sz="2600" dirty="0"/>
          </a:p>
        </p:txBody>
      </p:sp>
      <p:sp>
        <p:nvSpPr>
          <p:cNvPr id="4" name="Shape 2"/>
          <p:cNvSpPr/>
          <p:nvPr/>
        </p:nvSpPr>
        <p:spPr>
          <a:xfrm>
            <a:off x="548640" y="1371600"/>
            <a:ext cx="3429000" cy="3840480"/>
          </a:xfrm>
          <a:prstGeom prst="rect">
            <a:avLst/>
          </a:prstGeom>
          <a:solidFill>
            <a:srgbClr val="F3F5F8"/>
          </a:solidFill>
          <a:ln w="9525">
            <a:solidFill>
              <a:srgbClr val="D5DBE3"/>
            </a:solidFill>
            <a:prstDash val="solid"/>
          </a:ln>
        </p:spPr>
      </p:sp>
      <p:sp>
        <p:nvSpPr>
          <p:cNvPr id="5" name="Shape 3"/>
          <p:cNvSpPr/>
          <p:nvPr/>
        </p:nvSpPr>
        <p:spPr>
          <a:xfrm>
            <a:off x="548640" y="1371600"/>
            <a:ext cx="3429000" cy="54864"/>
          </a:xfrm>
          <a:prstGeom prst="rect">
            <a:avLst/>
          </a:prstGeom>
          <a:solidFill>
            <a:srgbClr val="1A5FAF"/>
          </a:solidFill>
          <a:ln w="12700">
            <a:solidFill>
              <a:srgbClr val="1A5FAF"/>
            </a:solidFill>
            <a:prstDash val="solid"/>
          </a:ln>
        </p:spPr>
      </p:sp>
      <p:sp>
        <p:nvSpPr>
          <p:cNvPr id="6" name="Shape 4"/>
          <p:cNvSpPr/>
          <p:nvPr/>
        </p:nvSpPr>
        <p:spPr>
          <a:xfrm>
            <a:off x="777240" y="1645920"/>
            <a:ext cx="457200" cy="457200"/>
          </a:xfrm>
          <a:prstGeom prst="ellipse">
            <a:avLst/>
          </a:prstGeom>
          <a:solidFill>
            <a:srgbClr val="1A5FAF"/>
          </a:solidFill>
          <a:ln w="12700">
            <a:solidFill>
              <a:srgbClr val="1A5FAF"/>
            </a:solidFill>
            <a:prstDash val="solid"/>
          </a:ln>
        </p:spPr>
      </p:sp>
      <p:sp>
        <p:nvSpPr>
          <p:cNvPr id="7" name="Text 5"/>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777240"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Build a UI with Aiden</a:t>
            </a:r>
            <a:endParaRPr lang="en-US" sz="1800" dirty="0"/>
          </a:p>
        </p:txBody>
      </p:sp>
      <p:sp>
        <p:nvSpPr>
          <p:cNvPr id="9" name="Text 7"/>
          <p:cNvSpPr txBox="1"/>
          <p:nvPr/>
        </p:nvSpPr>
        <p:spPr>
          <a:xfrm>
            <a:off x="777240"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Use Aiden, RBC’s AI suite, to put a simple front end on Release Watcher so anyone on the team can run it, with no config files or API tokens.</a:t>
            </a:r>
            <a:endParaRPr lang="en-US" sz="1350" dirty="0"/>
          </a:p>
        </p:txBody>
      </p:sp>
      <p:sp>
        <p:nvSpPr>
          <p:cNvPr id="10" name="Text 8"/>
          <p:cNvSpPr txBox="1"/>
          <p:nvPr/>
        </p:nvSpPr>
        <p:spPr>
          <a:xfrm>
            <a:off x="777240" y="4663440"/>
            <a:ext cx="3017520" cy="365760"/>
          </a:xfrm>
          <a:prstGeom prst="rect">
            <a:avLst/>
          </a:prstGeom>
          <a:noFill/>
          <a:ln/>
        </p:spPr>
        <p:txBody>
          <a:bodyPr wrap="square" lIns="0" tIns="0" rIns="0" bIns="0" rtlCol="0" anchor="ctr"/>
          <a:lstStyle/>
          <a:p>
            <a:pPr indent="0" marL="0">
              <a:buNone/>
            </a:pPr>
            <a:r>
              <a:rPr lang="en-US" sz="1200" b="1" i="1" dirty="0">
                <a:solidFill>
                  <a:srgbClr val="1A5FAF"/>
                </a:solidFill>
                <a:latin typeface="Arial" pitchFamily="34" charset="0"/>
                <a:ea typeface="Arial" pitchFamily="34" charset="-122"/>
                <a:cs typeface="Arial" pitchFamily="34" charset="-120"/>
              </a:rPr>
              <a:t>Solves: CLI-only access</a:t>
            </a:r>
            <a:endParaRPr lang="en-US" sz="1200" dirty="0"/>
          </a:p>
        </p:txBody>
      </p:sp>
      <p:sp>
        <p:nvSpPr>
          <p:cNvPr id="11" name="Shape 9"/>
          <p:cNvSpPr/>
          <p:nvPr/>
        </p:nvSpPr>
        <p:spPr>
          <a:xfrm>
            <a:off x="4379976" y="1371600"/>
            <a:ext cx="3429000" cy="3840480"/>
          </a:xfrm>
          <a:prstGeom prst="rect">
            <a:avLst/>
          </a:prstGeom>
          <a:solidFill>
            <a:srgbClr val="F3F5F8"/>
          </a:solidFill>
          <a:ln w="9525">
            <a:solidFill>
              <a:srgbClr val="D5DBE3"/>
            </a:solidFill>
            <a:prstDash val="solid"/>
          </a:ln>
        </p:spPr>
      </p:sp>
      <p:sp>
        <p:nvSpPr>
          <p:cNvPr id="12" name="Shape 10"/>
          <p:cNvSpPr/>
          <p:nvPr/>
        </p:nvSpPr>
        <p:spPr>
          <a:xfrm>
            <a:off x="4379976" y="1371600"/>
            <a:ext cx="3429000" cy="54864"/>
          </a:xfrm>
          <a:prstGeom prst="rect">
            <a:avLst/>
          </a:prstGeom>
          <a:solidFill>
            <a:srgbClr val="2E8B84"/>
          </a:solidFill>
          <a:ln w="12700">
            <a:solidFill>
              <a:srgbClr val="2E8B84"/>
            </a:solidFill>
            <a:prstDash val="solid"/>
          </a:ln>
        </p:spPr>
      </p:sp>
      <p:sp>
        <p:nvSpPr>
          <p:cNvPr id="13" name="Shape 11"/>
          <p:cNvSpPr/>
          <p:nvPr/>
        </p:nvSpPr>
        <p:spPr>
          <a:xfrm>
            <a:off x="4608576" y="1645920"/>
            <a:ext cx="457200" cy="457200"/>
          </a:xfrm>
          <a:prstGeom prst="ellipse">
            <a:avLst/>
          </a:prstGeom>
          <a:solidFill>
            <a:srgbClr val="2E8B84"/>
          </a:solidFill>
          <a:ln w="12700">
            <a:solidFill>
              <a:srgbClr val="2E8B84"/>
            </a:solidFill>
            <a:prstDash val="solid"/>
          </a:ln>
        </p:spPr>
      </p:sp>
      <p:sp>
        <p:nvSpPr>
          <p:cNvPr id="14" name="Text 12"/>
          <p:cNvSpPr txBox="1"/>
          <p:nvPr/>
        </p:nvSpPr>
        <p:spPr>
          <a:xfrm>
            <a:off x="4608576"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608576"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Run it on a schedule</a:t>
            </a:r>
            <a:endParaRPr lang="en-US" sz="1800" dirty="0"/>
          </a:p>
        </p:txBody>
      </p:sp>
      <p:sp>
        <p:nvSpPr>
          <p:cNvPr id="16" name="Text 14"/>
          <p:cNvSpPr txBox="1"/>
          <p:nvPr/>
        </p:nvSpPr>
        <p:spPr>
          <a:xfrm>
            <a:off x="4608576"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Trigger runs from the release calendar so the tool operates on its own, without someone sitting at the desk.</a:t>
            </a:r>
            <a:endParaRPr lang="en-US" sz="1350" dirty="0"/>
          </a:p>
        </p:txBody>
      </p:sp>
      <p:sp>
        <p:nvSpPr>
          <p:cNvPr id="17" name="Text 15"/>
          <p:cNvSpPr txBox="1"/>
          <p:nvPr/>
        </p:nvSpPr>
        <p:spPr>
          <a:xfrm>
            <a:off x="4608576" y="4663440"/>
            <a:ext cx="3017520" cy="365760"/>
          </a:xfrm>
          <a:prstGeom prst="rect">
            <a:avLst/>
          </a:prstGeom>
          <a:noFill/>
          <a:ln/>
        </p:spPr>
        <p:txBody>
          <a:bodyPr wrap="square" lIns="0" tIns="0" rIns="0" bIns="0" rtlCol="0" anchor="ctr"/>
          <a:lstStyle/>
          <a:p>
            <a:pPr indent="0" marL="0">
              <a:buNone/>
            </a:pPr>
            <a:r>
              <a:rPr lang="en-US" sz="1200" b="1" i="1" dirty="0">
                <a:solidFill>
                  <a:srgbClr val="2E8B84"/>
                </a:solidFill>
                <a:latin typeface="Arial" pitchFamily="34" charset="0"/>
                <a:ea typeface="Arial" pitchFamily="34" charset="-122"/>
                <a:cs typeface="Arial" pitchFamily="34" charset="-120"/>
              </a:rPr>
              <a:t>Solves: manual watching</a:t>
            </a:r>
            <a:endParaRPr lang="en-US" sz="1200" dirty="0"/>
          </a:p>
        </p:txBody>
      </p:sp>
      <p:sp>
        <p:nvSpPr>
          <p:cNvPr id="18" name="Shape 16"/>
          <p:cNvSpPr/>
          <p:nvPr/>
        </p:nvSpPr>
        <p:spPr>
          <a:xfrm>
            <a:off x="8211312" y="1371600"/>
            <a:ext cx="3429000" cy="3840480"/>
          </a:xfrm>
          <a:prstGeom prst="rect">
            <a:avLst/>
          </a:prstGeom>
          <a:solidFill>
            <a:srgbClr val="F3F5F8"/>
          </a:solidFill>
          <a:ln w="9525">
            <a:solidFill>
              <a:srgbClr val="D5DBE3"/>
            </a:solidFill>
            <a:prstDash val="solid"/>
          </a:ln>
        </p:spPr>
      </p:sp>
      <p:sp>
        <p:nvSpPr>
          <p:cNvPr id="19" name="Shape 17"/>
          <p:cNvSpPr/>
          <p:nvPr/>
        </p:nvSpPr>
        <p:spPr>
          <a:xfrm>
            <a:off x="8211312" y="1371600"/>
            <a:ext cx="3429000" cy="54864"/>
          </a:xfrm>
          <a:prstGeom prst="rect">
            <a:avLst/>
          </a:prstGeom>
          <a:solidFill>
            <a:srgbClr val="E58A2B"/>
          </a:solidFill>
          <a:ln w="12700">
            <a:solidFill>
              <a:srgbClr val="E58A2B"/>
            </a:solidFill>
            <a:prstDash val="solid"/>
          </a:ln>
        </p:spPr>
      </p:sp>
      <p:sp>
        <p:nvSpPr>
          <p:cNvPr id="20" name="Shape 18"/>
          <p:cNvSpPr/>
          <p:nvPr/>
        </p:nvSpPr>
        <p:spPr>
          <a:xfrm>
            <a:off x="8439912" y="1645920"/>
            <a:ext cx="457200" cy="457200"/>
          </a:xfrm>
          <a:prstGeom prst="ellipse">
            <a:avLst/>
          </a:prstGeom>
          <a:solidFill>
            <a:srgbClr val="C9741C"/>
          </a:solidFill>
          <a:ln w="12700">
            <a:solidFill>
              <a:srgbClr val="C9741C"/>
            </a:solidFill>
            <a:prstDash val="solid"/>
          </a:ln>
        </p:spPr>
      </p:sp>
      <p:sp>
        <p:nvSpPr>
          <p:cNvPr id="21" name="Text 19"/>
          <p:cNvSpPr txBox="1"/>
          <p:nvPr/>
        </p:nvSpPr>
        <p:spPr>
          <a:xfrm>
            <a:off x="8439912"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439912"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Expand to Canada</a:t>
            </a:r>
            <a:endParaRPr lang="en-US" sz="1800" dirty="0"/>
          </a:p>
        </p:txBody>
      </p:sp>
      <p:sp>
        <p:nvSpPr>
          <p:cNvPr id="23" name="Text 21"/>
          <p:cNvSpPr txBox="1"/>
          <p:nvPr/>
        </p:nvSpPr>
        <p:spPr>
          <a:xfrm>
            <a:off x="8439912"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Extend coverage to Canadian data releases and bring the Canadian economics team on as users.</a:t>
            </a:r>
            <a:endParaRPr lang="en-US" sz="1350" dirty="0"/>
          </a:p>
        </p:txBody>
      </p:sp>
      <p:sp>
        <p:nvSpPr>
          <p:cNvPr id="24" name="Text 22"/>
          <p:cNvSpPr txBox="1"/>
          <p:nvPr/>
        </p:nvSpPr>
        <p:spPr>
          <a:xfrm>
            <a:off x="8439912" y="4663440"/>
            <a:ext cx="3017520" cy="365760"/>
          </a:xfrm>
          <a:prstGeom prst="rect">
            <a:avLst/>
          </a:prstGeom>
          <a:noFill/>
          <a:ln/>
        </p:spPr>
        <p:txBody>
          <a:bodyPr wrap="square" lIns="0" tIns="0" rIns="0" bIns="0" rtlCol="0" anchor="ctr"/>
          <a:lstStyle/>
          <a:p>
            <a:pPr indent="0" marL="0">
              <a:buNone/>
            </a:pPr>
            <a:r>
              <a:rPr lang="en-US" sz="1200" b="1" i="1" dirty="0">
                <a:solidFill>
                  <a:srgbClr val="B8691A"/>
                </a:solidFill>
                <a:latin typeface="Arial" pitchFamily="34" charset="0"/>
                <a:ea typeface="Arial" pitchFamily="34" charset="-122"/>
                <a:cs typeface="Arial" pitchFamily="34" charset="-120"/>
              </a:rPr>
              <a:t>Adds: Canadian coverage</a:t>
            </a:r>
            <a:endParaRPr lang="en-US" sz="1200" dirty="0"/>
          </a:p>
        </p:txBody>
      </p:sp>
      <p:sp>
        <p:nvSpPr>
          <p:cNvPr id="25" name="Shape 23"/>
          <p:cNvSpPr/>
          <p:nvPr/>
        </p:nvSpPr>
        <p:spPr>
          <a:xfrm>
            <a:off x="548640" y="5486400"/>
            <a:ext cx="11091672" cy="731520"/>
          </a:xfrm>
          <a:prstGeom prst="rect">
            <a:avLst/>
          </a:prstGeom>
          <a:solidFill>
            <a:srgbClr val="FDF1DE"/>
          </a:solidFill>
          <a:ln w="12700">
            <a:solidFill>
              <a:srgbClr val="FDF1DE"/>
            </a:solidFill>
            <a:prstDash val="solid"/>
          </a:ln>
        </p:spPr>
      </p:sp>
      <p:sp>
        <p:nvSpPr>
          <p:cNvPr id="26" name="Shape 24"/>
          <p:cNvSpPr/>
          <p:nvPr/>
        </p:nvSpPr>
        <p:spPr>
          <a:xfrm>
            <a:off x="548640" y="5486400"/>
            <a:ext cx="64008" cy="731520"/>
          </a:xfrm>
          <a:prstGeom prst="rect">
            <a:avLst/>
          </a:prstGeom>
          <a:solidFill>
            <a:srgbClr val="E58A2B"/>
          </a:solidFill>
          <a:ln w="12700">
            <a:solidFill>
              <a:srgbClr val="E58A2B"/>
            </a:solidFill>
            <a:prstDash val="solid"/>
          </a:ln>
        </p:spPr>
      </p:sp>
      <p:sp>
        <p:nvSpPr>
          <p:cNvPr id="27" name="Text 25"/>
          <p:cNvSpPr txBox="1"/>
          <p:nvPr/>
        </p:nvSpPr>
        <p:spPr>
          <a:xfrm>
            <a:off x="777240" y="5486400"/>
            <a:ext cx="10698480" cy="73152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The goal: </a:t>
            </a:r>
            <a:pPr indent="0" marL="0">
              <a:buNone/>
            </a:pPr>
            <a:r>
              <a:rPr lang="en-US" sz="1350" dirty="0">
                <a:solidFill>
                  <a:srgbClr val="1F2933"/>
                </a:solidFill>
                <a:latin typeface="Arial" pitchFamily="34" charset="0"/>
                <a:ea typeface="Arial" pitchFamily="34" charset="-122"/>
                <a:cs typeface="Arial" pitchFamily="34" charset="-120"/>
              </a:rPr>
              <a:t>more frequent use, less hand-holding, and a wider audience.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Why this matters:</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business investment is the pillar we can’t see in real time</a:t>
            </a:r>
            <a:endParaRPr lang="en-US" sz="2600" dirty="0"/>
          </a:p>
        </p:txBody>
      </p:sp>
      <p:graphicFrame>
        <p:nvGraphicFramePr>
          <p:cNvPr id="4" name="Chart 0" descr=""/>
          <p:cNvGraphicFramePr/>
          <p:nvPr/>
        </p:nvGraphicFramePr>
        <p:xfrm>
          <a:off x="548640" y="123444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234440"/>
            <a:ext cx="3822192" cy="1325880"/>
          </a:xfrm>
          <a:prstGeom prst="rect">
            <a:avLst/>
          </a:prstGeom>
          <a:solidFill>
            <a:srgbClr val="F3F5F8"/>
          </a:solidFill>
          <a:ln w="9525">
            <a:solidFill>
              <a:srgbClr val="D5DBE3"/>
            </a:solidFill>
            <a:prstDash val="solid"/>
          </a:ln>
        </p:spPr>
      </p:sp>
      <p:sp>
        <p:nvSpPr>
          <p:cNvPr id="6" name="Shape 3"/>
          <p:cNvSpPr/>
          <p:nvPr/>
        </p:nvSpPr>
        <p:spPr>
          <a:xfrm>
            <a:off x="7818120" y="1234440"/>
            <a:ext cx="3822192" cy="54864"/>
          </a:xfrm>
          <a:prstGeom prst="rect">
            <a:avLst/>
          </a:prstGeom>
          <a:solidFill>
            <a:srgbClr val="E58A2B"/>
          </a:solidFill>
          <a:ln w="12700">
            <a:solidFill>
              <a:srgbClr val="E58A2B"/>
            </a:solidFill>
            <a:prstDash val="solid"/>
          </a:ln>
        </p:spPr>
      </p:sp>
      <p:sp>
        <p:nvSpPr>
          <p:cNvPr id="7" name="Text 4"/>
          <p:cNvSpPr txBox="1"/>
          <p:nvPr/>
        </p:nvSpPr>
        <p:spPr>
          <a:xfrm>
            <a:off x="8046720" y="1371600"/>
            <a:ext cx="3383280" cy="54864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$1.2T</a:t>
            </a:r>
            <a:endParaRPr lang="en-US" sz="2800" dirty="0"/>
          </a:p>
        </p:txBody>
      </p:sp>
      <p:sp>
        <p:nvSpPr>
          <p:cNvPr id="8" name="Text 5"/>
          <p:cNvSpPr txBox="1"/>
          <p:nvPr/>
        </p:nvSpPr>
        <p:spPr>
          <a:xfrm>
            <a:off x="8046720" y="1947672"/>
            <a:ext cx="3429000" cy="54864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per quarter of business investment ($4.7T annualized in Q2 2026)</a:t>
            </a:r>
            <a:endParaRPr lang="en-US" sz="1200" dirty="0"/>
          </a:p>
        </p:txBody>
      </p:sp>
      <p:sp>
        <p:nvSpPr>
          <p:cNvPr id="9" name="Shape 6"/>
          <p:cNvSpPr/>
          <p:nvPr/>
        </p:nvSpPr>
        <p:spPr>
          <a:xfrm>
            <a:off x="7818120" y="2697480"/>
            <a:ext cx="3822192" cy="1325880"/>
          </a:xfrm>
          <a:prstGeom prst="rect">
            <a:avLst/>
          </a:prstGeom>
          <a:solidFill>
            <a:srgbClr val="F3F5F8"/>
          </a:solidFill>
          <a:ln w="9525">
            <a:solidFill>
              <a:srgbClr val="D5DBE3"/>
            </a:solidFill>
            <a:prstDash val="solid"/>
          </a:ln>
        </p:spPr>
      </p:sp>
      <p:sp>
        <p:nvSpPr>
          <p:cNvPr id="10" name="Shape 7"/>
          <p:cNvSpPr/>
          <p:nvPr/>
        </p:nvSpPr>
        <p:spPr>
          <a:xfrm>
            <a:off x="7818120" y="2697480"/>
            <a:ext cx="3822192" cy="54864"/>
          </a:xfrm>
          <a:prstGeom prst="rect">
            <a:avLst/>
          </a:prstGeom>
          <a:solidFill>
            <a:srgbClr val="1A5FAF"/>
          </a:solidFill>
          <a:ln w="12700">
            <a:solidFill>
              <a:srgbClr val="1A5FAF"/>
            </a:solidFill>
            <a:prstDash val="solid"/>
          </a:ln>
        </p:spPr>
      </p:sp>
      <p:sp>
        <p:nvSpPr>
          <p:cNvPr id="11" name="Text 8"/>
          <p:cNvSpPr txBox="1"/>
          <p:nvPr/>
        </p:nvSpPr>
        <p:spPr>
          <a:xfrm>
            <a:off x="8046720" y="2834640"/>
            <a:ext cx="3383280" cy="548640"/>
          </a:xfrm>
          <a:prstGeom prst="rect">
            <a:avLst/>
          </a:prstGeom>
          <a:noFill/>
          <a:ln/>
        </p:spPr>
        <p:txBody>
          <a:bodyPr wrap="square" lIns="0" tIns="0" rIns="0" bIns="0" rtlCol="0" anchor="ctr"/>
          <a:lstStyle/>
          <a:p>
            <a:pPr indent="0" marL="0">
              <a:buNone/>
            </a:pPr>
            <a:r>
              <a:rPr lang="en-US" sz="2800" b="1" dirty="0">
                <a:solidFill>
                  <a:srgbClr val="1A5FAF"/>
                </a:solidFill>
                <a:latin typeface="Arial" pitchFamily="34" charset="0"/>
                <a:ea typeface="Arial" pitchFamily="34" charset="-122"/>
                <a:cs typeface="Arial" pitchFamily="34" charset="-120"/>
              </a:rPr>
              <a:t>+9.6%</a:t>
            </a:r>
            <a:endParaRPr lang="en-US" sz="2800" dirty="0"/>
          </a:p>
        </p:txBody>
      </p:sp>
      <p:sp>
        <p:nvSpPr>
          <p:cNvPr id="12" name="Text 9"/>
          <p:cNvSpPr txBox="1"/>
          <p:nvPr/>
        </p:nvSpPr>
        <p:spPr>
          <a:xfrm>
            <a:off x="8046720" y="3410712"/>
            <a:ext cx="3429000" cy="54864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year over year in Q2 2026, up from +8.0% in Q4 2025</a:t>
            </a:r>
            <a:endParaRPr lang="en-US" sz="1200" dirty="0"/>
          </a:p>
        </p:txBody>
      </p:sp>
      <p:sp>
        <p:nvSpPr>
          <p:cNvPr id="13" name="Shape 10"/>
          <p:cNvSpPr/>
          <p:nvPr/>
        </p:nvSpPr>
        <p:spPr>
          <a:xfrm>
            <a:off x="7818120" y="4160520"/>
            <a:ext cx="3822192" cy="1508760"/>
          </a:xfrm>
          <a:prstGeom prst="rect">
            <a:avLst/>
          </a:prstGeom>
          <a:solidFill>
            <a:srgbClr val="F3F5F8"/>
          </a:solidFill>
          <a:ln w="9525">
            <a:solidFill>
              <a:srgbClr val="D5DBE3"/>
            </a:solidFill>
            <a:prstDash val="solid"/>
          </a:ln>
        </p:spPr>
      </p:sp>
      <p:sp>
        <p:nvSpPr>
          <p:cNvPr id="14" name="Shape 11"/>
          <p:cNvSpPr/>
          <p:nvPr/>
        </p:nvSpPr>
        <p:spPr>
          <a:xfrm>
            <a:off x="7818120" y="4160520"/>
            <a:ext cx="3822192" cy="54864"/>
          </a:xfrm>
          <a:prstGeom prst="rect">
            <a:avLst/>
          </a:prstGeom>
          <a:solidFill>
            <a:srgbClr val="2E8B84"/>
          </a:solidFill>
          <a:ln w="12700">
            <a:solidFill>
              <a:srgbClr val="2E8B84"/>
            </a:solidFill>
            <a:prstDash val="solid"/>
          </a:ln>
        </p:spPr>
      </p:sp>
      <p:sp>
        <p:nvSpPr>
          <p:cNvPr id="15" name="Text 12"/>
          <p:cNvSpPr txBox="1"/>
          <p:nvPr/>
        </p:nvSpPr>
        <p:spPr>
          <a:xfrm>
            <a:off x="8046720" y="4297680"/>
            <a:ext cx="3383280" cy="548640"/>
          </a:xfrm>
          <a:prstGeom prst="rect">
            <a:avLst/>
          </a:prstGeom>
          <a:noFill/>
          <a:ln/>
        </p:spPr>
        <p:txBody>
          <a:bodyPr wrap="square" lIns="0" tIns="0" rIns="0" bIns="0" rtlCol="0" anchor="ctr"/>
          <a:lstStyle/>
          <a:p>
            <a:pPr indent="0" marL="0">
              <a:buNone/>
            </a:pPr>
            <a:r>
              <a:rPr lang="en-US" sz="2800" b="1" dirty="0">
                <a:solidFill>
                  <a:srgbClr val="2E8B84"/>
                </a:solidFill>
                <a:latin typeface="Arial" pitchFamily="34" charset="0"/>
                <a:ea typeface="Arial" pitchFamily="34" charset="-122"/>
                <a:cs typeface="Arial" pitchFamily="34" charset="-120"/>
              </a:rPr>
              <a:t>~1 month</a:t>
            </a:r>
            <a:endParaRPr lang="en-US" sz="2800" dirty="0"/>
          </a:p>
        </p:txBody>
      </p:sp>
      <p:sp>
        <p:nvSpPr>
          <p:cNvPr id="16" name="Text 13"/>
          <p:cNvSpPr txBox="1"/>
          <p:nvPr/>
        </p:nvSpPr>
        <p:spPr>
          <a:xfrm>
            <a:off x="8046720" y="4873752"/>
            <a:ext cx="3429000" cy="73152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before the first official read after quarter-end, with no view of which firms or industries are driving it</a:t>
            </a:r>
            <a:endParaRPr lang="en-US" sz="1200" dirty="0"/>
          </a:p>
        </p:txBody>
      </p:sp>
      <p:sp>
        <p:nvSpPr>
          <p:cNvPr id="17" name="Shape 14"/>
          <p:cNvSpPr/>
          <p:nvPr/>
        </p:nvSpPr>
        <p:spPr>
          <a:xfrm>
            <a:off x="548640" y="5806440"/>
            <a:ext cx="11091672" cy="566928"/>
          </a:xfrm>
          <a:prstGeom prst="rect">
            <a:avLst/>
          </a:prstGeom>
          <a:solidFill>
            <a:srgbClr val="FDF1DE"/>
          </a:solidFill>
          <a:ln w="12700">
            <a:solidFill>
              <a:srgbClr val="FDF1DE"/>
            </a:solidFill>
            <a:prstDash val="solid"/>
          </a:ln>
        </p:spPr>
      </p:sp>
      <p:sp>
        <p:nvSpPr>
          <p:cNvPr id="18" name="Shape 15"/>
          <p:cNvSpPr/>
          <p:nvPr/>
        </p:nvSpPr>
        <p:spPr>
          <a:xfrm>
            <a:off x="548640" y="5806440"/>
            <a:ext cx="64008" cy="566928"/>
          </a:xfrm>
          <a:prstGeom prst="rect">
            <a:avLst/>
          </a:prstGeom>
          <a:solidFill>
            <a:srgbClr val="E58A2B"/>
          </a:solidFill>
          <a:ln w="12700">
            <a:solidFill>
              <a:srgbClr val="E58A2B"/>
            </a:solidFill>
            <a:prstDash val="solid"/>
          </a:ln>
        </p:spPr>
      </p:sp>
      <p:sp>
        <p:nvSpPr>
          <p:cNvPr id="19" name="Text 16"/>
          <p:cNvSpPr txBox="1"/>
          <p:nvPr/>
        </p:nvSpPr>
        <p:spPr>
          <a:xfrm>
            <a:off x="777240" y="5806440"/>
            <a:ext cx="10698480" cy="566928"/>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investment underpins the US growth and AI narrative, yet we only see it a month after the fact. Transcripts let us read it in near real time.</a:t>
            </a:r>
            <a:endParaRPr lang="en-US" sz="1350" dirty="0"/>
          </a:p>
        </p:txBody>
      </p:sp>
      <p:sp>
        <p:nvSpPr>
          <p:cNvPr id="20" name="Text 17"/>
          <p:cNvSpPr txBox="1"/>
          <p:nvPr/>
        </p:nvSpPr>
        <p:spPr>
          <a:xfrm>
            <a:off x="548640" y="6419088"/>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Source: BEA via FRED (private nonresidential fixed investment, nominal, seasonally adjusted annual rate), data through Q2 2026. Per quarter = annualized rate ÷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scale problem:</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reading it all by hand would take ~70 intern-years</a:t>
            </a:r>
            <a:endParaRPr lang="en-US" sz="2600" dirty="0"/>
          </a:p>
        </p:txBody>
      </p:sp>
      <p:sp>
        <p:nvSpPr>
          <p:cNvPr id="4" name="Shape 2"/>
          <p:cNvSpPr/>
          <p:nvPr/>
        </p:nvSpPr>
        <p:spPr>
          <a:xfrm>
            <a:off x="548640" y="1280160"/>
            <a:ext cx="2514600" cy="1463040"/>
          </a:xfrm>
          <a:prstGeom prst="rect">
            <a:avLst/>
          </a:prstGeom>
          <a:solidFill>
            <a:srgbClr val="F3F5F8"/>
          </a:solidFill>
          <a:ln w="9525">
            <a:solidFill>
              <a:srgbClr val="D5DBE3"/>
            </a:solidFill>
            <a:prstDash val="solid"/>
          </a:ln>
        </p:spPr>
      </p:sp>
      <p:sp>
        <p:nvSpPr>
          <p:cNvPr id="5" name="Shape 3"/>
          <p:cNvSpPr/>
          <p:nvPr/>
        </p:nvSpPr>
        <p:spPr>
          <a:xfrm>
            <a:off x="548640" y="1280160"/>
            <a:ext cx="2514600" cy="54864"/>
          </a:xfrm>
          <a:prstGeom prst="rect">
            <a:avLst/>
          </a:prstGeom>
          <a:solidFill>
            <a:srgbClr val="1A5FAF"/>
          </a:solidFill>
          <a:ln w="12700">
            <a:solidFill>
              <a:srgbClr val="1A5FAF"/>
            </a:solidFill>
            <a:prstDash val="solid"/>
          </a:ln>
        </p:spPr>
      </p:sp>
      <p:sp>
        <p:nvSpPr>
          <p:cNvPr id="6" name="Text 4"/>
          <p:cNvSpPr txBox="1"/>
          <p:nvPr/>
        </p:nvSpPr>
        <p:spPr>
          <a:xfrm>
            <a:off x="685800" y="1417320"/>
            <a:ext cx="2240280" cy="548640"/>
          </a:xfrm>
          <a:prstGeom prst="rect">
            <a:avLst/>
          </a:prstGeom>
          <a:noFill/>
          <a:ln/>
        </p:spPr>
        <p:txBody>
          <a:bodyPr wrap="square" lIns="0" tIns="0" rIns="0" bIns="0" rtlCol="0" anchor="ctr"/>
          <a:lstStyle/>
          <a:p>
            <a:pPr indent="0" marL="0">
              <a:buNone/>
            </a:pPr>
            <a:r>
              <a:rPr lang="en-US" sz="2400" b="1" dirty="0">
                <a:solidFill>
                  <a:srgbClr val="1A5FAF"/>
                </a:solidFill>
                <a:latin typeface="Arial" pitchFamily="34" charset="0"/>
                <a:ea typeface="Arial" pitchFamily="34" charset="-122"/>
                <a:cs typeface="Arial" pitchFamily="34" charset="-120"/>
              </a:rPr>
              <a:t>209,000</a:t>
            </a:r>
            <a:endParaRPr lang="en-US" sz="2400" dirty="0"/>
          </a:p>
        </p:txBody>
      </p:sp>
      <p:sp>
        <p:nvSpPr>
          <p:cNvPr id="7" name="Text 5"/>
          <p:cNvSpPr txBox="1"/>
          <p:nvPr/>
        </p:nvSpPr>
        <p:spPr>
          <a:xfrm>
            <a:off x="685800" y="2011680"/>
            <a:ext cx="2240280" cy="64008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earnings call transcripts, 22,000 firms, 2010 to 2026</a:t>
            </a:r>
            <a:endParaRPr lang="en-US" sz="1150" dirty="0"/>
          </a:p>
        </p:txBody>
      </p:sp>
      <p:sp>
        <p:nvSpPr>
          <p:cNvPr id="8" name="Text 6"/>
          <p:cNvSpPr txBox="1"/>
          <p:nvPr/>
        </p:nvSpPr>
        <p:spPr>
          <a:xfrm>
            <a:off x="3063240" y="1280160"/>
            <a:ext cx="338328" cy="146304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3401568" y="1280160"/>
            <a:ext cx="2514600" cy="1463040"/>
          </a:xfrm>
          <a:prstGeom prst="rect">
            <a:avLst/>
          </a:prstGeom>
          <a:solidFill>
            <a:srgbClr val="F3F5F8"/>
          </a:solidFill>
          <a:ln w="9525">
            <a:solidFill>
              <a:srgbClr val="D5DBE3"/>
            </a:solidFill>
            <a:prstDash val="solid"/>
          </a:ln>
        </p:spPr>
      </p:sp>
      <p:sp>
        <p:nvSpPr>
          <p:cNvPr id="10" name="Shape 8"/>
          <p:cNvSpPr/>
          <p:nvPr/>
        </p:nvSpPr>
        <p:spPr>
          <a:xfrm>
            <a:off x="3401568" y="1280160"/>
            <a:ext cx="2514600" cy="54864"/>
          </a:xfrm>
          <a:prstGeom prst="rect">
            <a:avLst/>
          </a:prstGeom>
          <a:solidFill>
            <a:srgbClr val="2E8B84"/>
          </a:solidFill>
          <a:ln w="12700">
            <a:solidFill>
              <a:srgbClr val="2E8B84"/>
            </a:solidFill>
            <a:prstDash val="solid"/>
          </a:ln>
        </p:spPr>
      </p:sp>
      <p:sp>
        <p:nvSpPr>
          <p:cNvPr id="11" name="Text 9"/>
          <p:cNvSpPr txBox="1"/>
          <p:nvPr/>
        </p:nvSpPr>
        <p:spPr>
          <a:xfrm>
            <a:off x="3538728" y="1417320"/>
            <a:ext cx="2240280" cy="548640"/>
          </a:xfrm>
          <a:prstGeom prst="rect">
            <a:avLst/>
          </a:prstGeom>
          <a:noFill/>
          <a:ln/>
        </p:spPr>
        <p:txBody>
          <a:bodyPr wrap="square" lIns="0" tIns="0" rIns="0" bIns="0" rtlCol="0" anchor="ctr"/>
          <a:lstStyle/>
          <a:p>
            <a:pPr indent="0" marL="0">
              <a:buNone/>
            </a:pPr>
            <a:r>
              <a:rPr lang="en-US" sz="2400" b="1" dirty="0">
                <a:solidFill>
                  <a:srgbClr val="2E8B84"/>
                </a:solidFill>
                <a:latin typeface="Arial" pitchFamily="34" charset="0"/>
                <a:ea typeface="Arial" pitchFamily="34" charset="-122"/>
                <a:cs typeface="Arial" pitchFamily="34" charset="-120"/>
              </a:rPr>
              <a:t>~40 min</a:t>
            </a:r>
            <a:endParaRPr lang="en-US" sz="2400" dirty="0"/>
          </a:p>
        </p:txBody>
      </p:sp>
      <p:sp>
        <p:nvSpPr>
          <p:cNvPr id="12" name="Text 10"/>
          <p:cNvSpPr txBox="1"/>
          <p:nvPr/>
        </p:nvSpPr>
        <p:spPr>
          <a:xfrm>
            <a:off x="3538728" y="2011680"/>
            <a:ext cx="2240280" cy="64008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to read each one (about 9,000 words)</a:t>
            </a:r>
            <a:endParaRPr lang="en-US" sz="1150" dirty="0"/>
          </a:p>
        </p:txBody>
      </p:sp>
      <p:sp>
        <p:nvSpPr>
          <p:cNvPr id="13" name="Text 11"/>
          <p:cNvSpPr txBox="1"/>
          <p:nvPr/>
        </p:nvSpPr>
        <p:spPr>
          <a:xfrm>
            <a:off x="5916168" y="1280160"/>
            <a:ext cx="338328" cy="146304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6254496" y="1280160"/>
            <a:ext cx="2514600" cy="1463040"/>
          </a:xfrm>
          <a:prstGeom prst="rect">
            <a:avLst/>
          </a:prstGeom>
          <a:solidFill>
            <a:srgbClr val="F3F5F8"/>
          </a:solidFill>
          <a:ln w="9525">
            <a:solidFill>
              <a:srgbClr val="D5DBE3"/>
            </a:solidFill>
            <a:prstDash val="solid"/>
          </a:ln>
        </p:spPr>
      </p:sp>
      <p:sp>
        <p:nvSpPr>
          <p:cNvPr id="15" name="Shape 13"/>
          <p:cNvSpPr/>
          <p:nvPr/>
        </p:nvSpPr>
        <p:spPr>
          <a:xfrm>
            <a:off x="6254496" y="1280160"/>
            <a:ext cx="2514600" cy="54864"/>
          </a:xfrm>
          <a:prstGeom prst="rect">
            <a:avLst/>
          </a:prstGeom>
          <a:solidFill>
            <a:srgbClr val="16406F"/>
          </a:solidFill>
          <a:ln w="12700">
            <a:solidFill>
              <a:srgbClr val="16406F"/>
            </a:solidFill>
            <a:prstDash val="solid"/>
          </a:ln>
        </p:spPr>
      </p:sp>
      <p:sp>
        <p:nvSpPr>
          <p:cNvPr id="16" name="Text 14"/>
          <p:cNvSpPr txBox="1"/>
          <p:nvPr/>
        </p:nvSpPr>
        <p:spPr>
          <a:xfrm>
            <a:off x="6391656" y="1417320"/>
            <a:ext cx="2240280" cy="548640"/>
          </a:xfrm>
          <a:prstGeom prst="rect">
            <a:avLst/>
          </a:prstGeom>
          <a:noFill/>
          <a:ln/>
        </p:spPr>
        <p:txBody>
          <a:bodyPr wrap="square" lIns="0" tIns="0" rIns="0" bIns="0" rtlCol="0" anchor="ctr"/>
          <a:lstStyle/>
          <a:p>
            <a:pPr indent="0" marL="0">
              <a:buNone/>
            </a:pPr>
            <a:r>
              <a:rPr lang="en-US" sz="2400" b="1" dirty="0">
                <a:solidFill>
                  <a:srgbClr val="16406F"/>
                </a:solidFill>
                <a:latin typeface="Arial" pitchFamily="34" charset="0"/>
                <a:ea typeface="Arial" pitchFamily="34" charset="-122"/>
                <a:cs typeface="Arial" pitchFamily="34" charset="-120"/>
              </a:rPr>
              <a:t>~139,000 hrs</a:t>
            </a:r>
            <a:endParaRPr lang="en-US" sz="2400" dirty="0"/>
          </a:p>
        </p:txBody>
      </p:sp>
      <p:sp>
        <p:nvSpPr>
          <p:cNvPr id="17" name="Text 15"/>
          <p:cNvSpPr txBox="1"/>
          <p:nvPr/>
        </p:nvSpPr>
        <p:spPr>
          <a:xfrm>
            <a:off x="6391656" y="2011680"/>
            <a:ext cx="2240280" cy="64008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of reading time, before taking a single note</a:t>
            </a:r>
            <a:endParaRPr lang="en-US" sz="1150" dirty="0"/>
          </a:p>
        </p:txBody>
      </p:sp>
      <p:sp>
        <p:nvSpPr>
          <p:cNvPr id="18" name="Text 16"/>
          <p:cNvSpPr txBox="1"/>
          <p:nvPr/>
        </p:nvSpPr>
        <p:spPr>
          <a:xfrm>
            <a:off x="8769096" y="1280160"/>
            <a:ext cx="338328" cy="146304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9107424" y="1280160"/>
            <a:ext cx="2514600" cy="1463040"/>
          </a:xfrm>
          <a:prstGeom prst="rect">
            <a:avLst/>
          </a:prstGeom>
          <a:solidFill>
            <a:srgbClr val="F3F5F8"/>
          </a:solidFill>
          <a:ln w="9525">
            <a:solidFill>
              <a:srgbClr val="D5DBE3"/>
            </a:solidFill>
            <a:prstDash val="solid"/>
          </a:ln>
        </p:spPr>
      </p:sp>
      <p:sp>
        <p:nvSpPr>
          <p:cNvPr id="20" name="Shape 18"/>
          <p:cNvSpPr/>
          <p:nvPr/>
        </p:nvSpPr>
        <p:spPr>
          <a:xfrm>
            <a:off x="9107424" y="1280160"/>
            <a:ext cx="2514600" cy="54864"/>
          </a:xfrm>
          <a:prstGeom prst="rect">
            <a:avLst/>
          </a:prstGeom>
          <a:solidFill>
            <a:srgbClr val="E58A2B"/>
          </a:solidFill>
          <a:ln w="12700">
            <a:solidFill>
              <a:srgbClr val="E58A2B"/>
            </a:solidFill>
            <a:prstDash val="solid"/>
          </a:ln>
        </p:spPr>
      </p:sp>
      <p:sp>
        <p:nvSpPr>
          <p:cNvPr id="21" name="Text 19"/>
          <p:cNvSpPr txBox="1"/>
          <p:nvPr/>
        </p:nvSpPr>
        <p:spPr>
          <a:xfrm>
            <a:off x="9244584" y="1417320"/>
            <a:ext cx="2240280" cy="548640"/>
          </a:xfrm>
          <a:prstGeom prst="rect">
            <a:avLst/>
          </a:prstGeom>
          <a:noFill/>
          <a:ln/>
        </p:spPr>
        <p:txBody>
          <a:bodyPr wrap="square" lIns="0" tIns="0" rIns="0" bIns="0" rtlCol="0" anchor="ctr"/>
          <a:lstStyle/>
          <a:p>
            <a:pPr indent="0" marL="0">
              <a:buNone/>
            </a:pPr>
            <a:r>
              <a:rPr lang="en-US" sz="2400" b="1" dirty="0">
                <a:solidFill>
                  <a:srgbClr val="C9741C"/>
                </a:solidFill>
                <a:latin typeface="Arial" pitchFamily="34" charset="0"/>
                <a:ea typeface="Arial" pitchFamily="34" charset="-122"/>
                <a:cs typeface="Arial" pitchFamily="34" charset="-120"/>
              </a:rPr>
              <a:t>~70 years</a:t>
            </a:r>
            <a:endParaRPr lang="en-US" sz="2400" dirty="0"/>
          </a:p>
        </p:txBody>
      </p:sp>
      <p:sp>
        <p:nvSpPr>
          <p:cNvPr id="22" name="Text 20"/>
          <p:cNvSpPr txBox="1"/>
          <p:nvPr/>
        </p:nvSpPr>
        <p:spPr>
          <a:xfrm>
            <a:off x="9244584" y="2011680"/>
            <a:ext cx="2240280" cy="64008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for one full-time intern</a:t>
            </a:r>
            <a:endParaRPr lang="en-US" sz="1150" dirty="0"/>
          </a:p>
        </p:txBody>
      </p:sp>
      <p:sp>
        <p:nvSpPr>
          <p:cNvPr id="23" name="Text 21"/>
          <p:cNvSpPr txBox="1"/>
          <p:nvPr/>
        </p:nvSpPr>
        <p:spPr>
          <a:xfrm>
            <a:off x="548640" y="2971800"/>
            <a:ext cx="5486400" cy="310896"/>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Time to read, by scenario</a:t>
            </a:r>
            <a:endParaRPr lang="en-US" sz="1400" dirty="0"/>
          </a:p>
        </p:txBody>
      </p:sp>
      <p:sp>
        <p:nvSpPr>
          <p:cNvPr id="24" name="Text 22"/>
          <p:cNvSpPr txBox="1"/>
          <p:nvPr/>
        </p:nvSpPr>
        <p:spPr>
          <a:xfrm>
            <a:off x="548640" y="3429000"/>
            <a:ext cx="3063240" cy="548640"/>
          </a:xfrm>
          <a:prstGeom prst="rect">
            <a:avLst/>
          </a:prstGeom>
          <a:noFill/>
          <a:ln/>
        </p:spPr>
        <p:txBody>
          <a:bodyPr wrap="square" lIns="0" tIns="0" rIns="0" bIns="0" rtlCol="0" anchor="ctr"/>
          <a:lstStyle/>
          <a:p>
            <a:pPr indent="0" marL="0">
              <a:buNone/>
            </a:pPr>
            <a:r>
              <a:rPr lang="en-US" sz="1250" b="1" dirty="0">
                <a:solidFill>
                  <a:srgbClr val="1F2933"/>
                </a:solidFill>
                <a:latin typeface="Arial" pitchFamily="34" charset="0"/>
                <a:ea typeface="Arial" pitchFamily="34" charset="-122"/>
                <a:cs typeface="Arial" pitchFamily="34" charset="-120"/>
              </a:rPr>
              <a:t>All 209,000 transcripts</a:t>
            </a:r>
            <a:endParaRPr lang="en-US" sz="1250" dirty="0"/>
          </a:p>
          <a:p>
            <a:pPr indent="0" marL="0">
              <a:buNone/>
            </a:pPr>
            <a:r>
              <a:rPr lang="en-US" sz="1100" dirty="0">
                <a:solidFill>
                  <a:srgbClr val="5B6772"/>
                </a:solidFill>
                <a:latin typeface="Arial" pitchFamily="34" charset="0"/>
                <a:ea typeface="Arial" pitchFamily="34" charset="-122"/>
                <a:cs typeface="Arial" pitchFamily="34" charset="-120"/>
              </a:rPr>
              <a:t>1 intern</a:t>
            </a:r>
            <a:endParaRPr lang="en-US" sz="1250" dirty="0"/>
          </a:p>
        </p:txBody>
      </p:sp>
      <p:sp>
        <p:nvSpPr>
          <p:cNvPr id="25" name="Shape 23"/>
          <p:cNvSpPr/>
          <p:nvPr/>
        </p:nvSpPr>
        <p:spPr>
          <a:xfrm>
            <a:off x="3703320" y="3474720"/>
            <a:ext cx="5486400" cy="457200"/>
          </a:xfrm>
          <a:prstGeom prst="rect">
            <a:avLst/>
          </a:prstGeom>
          <a:solidFill>
            <a:srgbClr val="1A5FAF"/>
          </a:solidFill>
          <a:ln w="12700">
            <a:solidFill>
              <a:srgbClr val="1A5FAF"/>
            </a:solidFill>
            <a:prstDash val="solid"/>
          </a:ln>
        </p:spPr>
      </p:sp>
      <p:sp>
        <p:nvSpPr>
          <p:cNvPr id="26" name="Text 24"/>
          <p:cNvSpPr txBox="1"/>
          <p:nvPr/>
        </p:nvSpPr>
        <p:spPr>
          <a:xfrm>
            <a:off x="9326880" y="3474720"/>
            <a:ext cx="2377440" cy="457200"/>
          </a:xfrm>
          <a:prstGeom prst="rect">
            <a:avLst/>
          </a:prstGeom>
          <a:noFill/>
          <a:ln/>
        </p:spPr>
        <p:txBody>
          <a:bodyPr wrap="square" lIns="0" tIns="0" rIns="0" bIns="0" rtlCol="0" anchor="ctr"/>
          <a:lstStyle/>
          <a:p>
            <a:pPr indent="0" marL="0">
              <a:buNone/>
            </a:pPr>
            <a:r>
              <a:rPr lang="en-US" sz="1600" b="1" dirty="0">
                <a:solidFill>
                  <a:srgbClr val="1A5FAF"/>
                </a:solidFill>
                <a:latin typeface="Arial" pitchFamily="34" charset="0"/>
                <a:ea typeface="Arial" pitchFamily="34" charset="-122"/>
                <a:cs typeface="Arial" pitchFamily="34" charset="-120"/>
              </a:rPr>
              <a:t>~70 years</a:t>
            </a:r>
            <a:endParaRPr lang="en-US" sz="1600" dirty="0"/>
          </a:p>
        </p:txBody>
      </p:sp>
      <p:sp>
        <p:nvSpPr>
          <p:cNvPr id="27" name="Text 25"/>
          <p:cNvSpPr txBox="1"/>
          <p:nvPr/>
        </p:nvSpPr>
        <p:spPr>
          <a:xfrm>
            <a:off x="548640" y="4114800"/>
            <a:ext cx="3063240" cy="548640"/>
          </a:xfrm>
          <a:prstGeom prst="rect">
            <a:avLst/>
          </a:prstGeom>
          <a:noFill/>
          <a:ln/>
        </p:spPr>
        <p:txBody>
          <a:bodyPr wrap="square" lIns="0" tIns="0" rIns="0" bIns="0" rtlCol="0" anchor="ctr"/>
          <a:lstStyle/>
          <a:p>
            <a:pPr indent="0" marL="0">
              <a:buNone/>
            </a:pPr>
            <a:r>
              <a:rPr lang="en-US" sz="1250" b="1" dirty="0">
                <a:solidFill>
                  <a:srgbClr val="1F2933"/>
                </a:solidFill>
                <a:latin typeface="Arial" pitchFamily="34" charset="0"/>
                <a:ea typeface="Arial" pitchFamily="34" charset="-122"/>
                <a:cs typeface="Arial" pitchFamily="34" charset="-120"/>
              </a:rPr>
              <a:t>All 209,000 transcripts</a:t>
            </a:r>
            <a:endParaRPr lang="en-US" sz="1250" dirty="0"/>
          </a:p>
          <a:p>
            <a:pPr indent="0" marL="0">
              <a:buNone/>
            </a:pPr>
            <a:r>
              <a:rPr lang="en-US" sz="1100" dirty="0">
                <a:solidFill>
                  <a:srgbClr val="5B6772"/>
                </a:solidFill>
                <a:latin typeface="Arial" pitchFamily="34" charset="0"/>
                <a:ea typeface="Arial" pitchFamily="34" charset="-122"/>
                <a:cs typeface="Arial" pitchFamily="34" charset="-120"/>
              </a:rPr>
              <a:t>a team of 10 interns</a:t>
            </a:r>
            <a:endParaRPr lang="en-US" sz="1250" dirty="0"/>
          </a:p>
        </p:txBody>
      </p:sp>
      <p:sp>
        <p:nvSpPr>
          <p:cNvPr id="28" name="Shape 26"/>
          <p:cNvSpPr/>
          <p:nvPr/>
        </p:nvSpPr>
        <p:spPr>
          <a:xfrm>
            <a:off x="3703320" y="4160520"/>
            <a:ext cx="548640" cy="457200"/>
          </a:xfrm>
          <a:prstGeom prst="rect">
            <a:avLst/>
          </a:prstGeom>
          <a:solidFill>
            <a:srgbClr val="2E8B84"/>
          </a:solidFill>
          <a:ln w="12700">
            <a:solidFill>
              <a:srgbClr val="2E8B84"/>
            </a:solidFill>
            <a:prstDash val="solid"/>
          </a:ln>
        </p:spPr>
      </p:sp>
      <p:sp>
        <p:nvSpPr>
          <p:cNvPr id="29" name="Text 27"/>
          <p:cNvSpPr txBox="1"/>
          <p:nvPr/>
        </p:nvSpPr>
        <p:spPr>
          <a:xfrm>
            <a:off x="4389120" y="4160520"/>
            <a:ext cx="2377440" cy="457200"/>
          </a:xfrm>
          <a:prstGeom prst="rect">
            <a:avLst/>
          </a:prstGeom>
          <a:noFill/>
          <a:ln/>
        </p:spPr>
        <p:txBody>
          <a:bodyPr wrap="square" lIns="0" tIns="0" rIns="0" bIns="0" rtlCol="0" anchor="ctr"/>
          <a:lstStyle/>
          <a:p>
            <a:pPr indent="0" marL="0">
              <a:buNone/>
            </a:pPr>
            <a:r>
              <a:rPr lang="en-US" sz="1600" b="1" dirty="0">
                <a:solidFill>
                  <a:srgbClr val="2E8B84"/>
                </a:solidFill>
                <a:latin typeface="Arial" pitchFamily="34" charset="0"/>
                <a:ea typeface="Arial" pitchFamily="34" charset="-122"/>
                <a:cs typeface="Arial" pitchFamily="34" charset="-120"/>
              </a:rPr>
              <a:t>~7 years</a:t>
            </a:r>
            <a:endParaRPr lang="en-US" sz="1600" dirty="0"/>
          </a:p>
        </p:txBody>
      </p:sp>
      <p:sp>
        <p:nvSpPr>
          <p:cNvPr id="30" name="Text 28"/>
          <p:cNvSpPr txBox="1"/>
          <p:nvPr/>
        </p:nvSpPr>
        <p:spPr>
          <a:xfrm>
            <a:off x="548640" y="4800600"/>
            <a:ext cx="3063240" cy="548640"/>
          </a:xfrm>
          <a:prstGeom prst="rect">
            <a:avLst/>
          </a:prstGeom>
          <a:noFill/>
          <a:ln/>
        </p:spPr>
        <p:txBody>
          <a:bodyPr wrap="square" lIns="0" tIns="0" rIns="0" bIns="0" rtlCol="0" anchor="ctr"/>
          <a:lstStyle/>
          <a:p>
            <a:pPr indent="0" marL="0">
              <a:buNone/>
            </a:pPr>
            <a:r>
              <a:rPr lang="en-US" sz="1250" b="1" dirty="0">
                <a:solidFill>
                  <a:srgbClr val="1F2933"/>
                </a:solidFill>
                <a:latin typeface="Arial" pitchFamily="34" charset="0"/>
                <a:ea typeface="Arial" pitchFamily="34" charset="-122"/>
                <a:cs typeface="Arial" pitchFamily="34" charset="-120"/>
              </a:rPr>
              <a:t>Just 10% (20,900 transcripts)</a:t>
            </a:r>
            <a:endParaRPr lang="en-US" sz="1250" dirty="0"/>
          </a:p>
          <a:p>
            <a:pPr indent="0" marL="0">
              <a:buNone/>
            </a:pPr>
            <a:r>
              <a:rPr lang="en-US" sz="1100" dirty="0">
                <a:solidFill>
                  <a:srgbClr val="5B6772"/>
                </a:solidFill>
                <a:latin typeface="Arial" pitchFamily="34" charset="0"/>
                <a:ea typeface="Arial" pitchFamily="34" charset="-122"/>
                <a:cs typeface="Arial" pitchFamily="34" charset="-120"/>
              </a:rPr>
              <a:t>1 intern</a:t>
            </a:r>
            <a:endParaRPr lang="en-US" sz="1250" dirty="0"/>
          </a:p>
        </p:txBody>
      </p:sp>
      <p:sp>
        <p:nvSpPr>
          <p:cNvPr id="31" name="Shape 29"/>
          <p:cNvSpPr/>
          <p:nvPr/>
        </p:nvSpPr>
        <p:spPr>
          <a:xfrm>
            <a:off x="3703320" y="4846320"/>
            <a:ext cx="548640" cy="457200"/>
          </a:xfrm>
          <a:prstGeom prst="rect">
            <a:avLst/>
          </a:prstGeom>
          <a:solidFill>
            <a:srgbClr val="2E8B84"/>
          </a:solidFill>
          <a:ln w="12700">
            <a:solidFill>
              <a:srgbClr val="2E8B84"/>
            </a:solidFill>
            <a:prstDash val="solid"/>
          </a:ln>
        </p:spPr>
      </p:sp>
      <p:sp>
        <p:nvSpPr>
          <p:cNvPr id="32" name="Text 30"/>
          <p:cNvSpPr txBox="1"/>
          <p:nvPr/>
        </p:nvSpPr>
        <p:spPr>
          <a:xfrm>
            <a:off x="4389120" y="4846320"/>
            <a:ext cx="2377440" cy="457200"/>
          </a:xfrm>
          <a:prstGeom prst="rect">
            <a:avLst/>
          </a:prstGeom>
          <a:noFill/>
          <a:ln/>
        </p:spPr>
        <p:txBody>
          <a:bodyPr wrap="square" lIns="0" tIns="0" rIns="0" bIns="0" rtlCol="0" anchor="ctr"/>
          <a:lstStyle/>
          <a:p>
            <a:pPr indent="0" marL="0">
              <a:buNone/>
            </a:pPr>
            <a:r>
              <a:rPr lang="en-US" sz="1600" b="1" dirty="0">
                <a:solidFill>
                  <a:srgbClr val="2E8B84"/>
                </a:solidFill>
                <a:latin typeface="Arial" pitchFamily="34" charset="0"/>
                <a:ea typeface="Arial" pitchFamily="34" charset="-122"/>
                <a:cs typeface="Arial" pitchFamily="34" charset="-120"/>
              </a:rPr>
              <a:t>~7 years</a:t>
            </a:r>
            <a:endParaRPr lang="en-US" sz="1600" dirty="0"/>
          </a:p>
        </p:txBody>
      </p:sp>
      <p:sp>
        <p:nvSpPr>
          <p:cNvPr id="33" name="Shape 31"/>
          <p:cNvSpPr/>
          <p:nvPr/>
        </p:nvSpPr>
        <p:spPr>
          <a:xfrm>
            <a:off x="548640" y="5577840"/>
            <a:ext cx="11091672" cy="685800"/>
          </a:xfrm>
          <a:prstGeom prst="rect">
            <a:avLst/>
          </a:prstGeom>
          <a:solidFill>
            <a:srgbClr val="FDF1DE"/>
          </a:solidFill>
          <a:ln w="12700">
            <a:solidFill>
              <a:srgbClr val="FDF1DE"/>
            </a:solidFill>
            <a:prstDash val="solid"/>
          </a:ln>
        </p:spPr>
      </p:sp>
      <p:sp>
        <p:nvSpPr>
          <p:cNvPr id="34" name="Shape 32"/>
          <p:cNvSpPr/>
          <p:nvPr/>
        </p:nvSpPr>
        <p:spPr>
          <a:xfrm>
            <a:off x="548640" y="5577840"/>
            <a:ext cx="64008" cy="685800"/>
          </a:xfrm>
          <a:prstGeom prst="rect">
            <a:avLst/>
          </a:prstGeom>
          <a:solidFill>
            <a:srgbClr val="E58A2B"/>
          </a:solidFill>
          <a:ln w="12700">
            <a:solidFill>
              <a:srgbClr val="E58A2B"/>
            </a:solidFill>
            <a:prstDash val="solid"/>
          </a:ln>
        </p:spPr>
      </p:sp>
      <p:sp>
        <p:nvSpPr>
          <p:cNvPr id="35" name="Text 33"/>
          <p:cNvSpPr txBox="1"/>
          <p:nvPr/>
        </p:nvSpPr>
        <p:spPr>
          <a:xfrm>
            <a:off x="777240" y="5577840"/>
            <a:ext cx="10698480" cy="68580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And that is only the reading. </a:t>
            </a:r>
            <a:pPr indent="0" marL="0">
              <a:buNone/>
            </a:pPr>
            <a:r>
              <a:rPr lang="en-US" sz="1350" dirty="0">
                <a:solidFill>
                  <a:srgbClr val="1F2933"/>
                </a:solidFill>
                <a:latin typeface="Arial" pitchFamily="34" charset="0"/>
                <a:ea typeface="Arial" pitchFamily="34" charset="-122"/>
                <a:cs typeface="Arial" pitchFamily="34" charset="-120"/>
              </a:rPr>
              <a:t>It leaves out pulling 20 fields across 4 topics from every call, which the LLM pipeline does at scale.</a:t>
            </a:r>
            <a:endParaRPr lang="en-US" sz="1350" dirty="0"/>
          </a:p>
        </p:txBody>
      </p:sp>
      <p:sp>
        <p:nvSpPr>
          <p:cNvPr id="36" name="Text 34"/>
          <p:cNvSpPr txBox="1"/>
          <p:nvPr/>
        </p:nvSpPr>
        <p:spPr>
          <a:xfrm>
            <a:off x="548640" y="635508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Illustrative: assumes ~9,000 words per transcript, ~225 words per minute (about 40 min each, reading only) and 2,000 working hours per intern-year. 209,000 × 40 min ≈ 139,000 hours.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Isolating what transcripts know that macro data doesn’t</a:t>
            </a:r>
            <a:endParaRPr lang="en-US" sz="2600" dirty="0"/>
          </a:p>
        </p:txBody>
      </p:sp>
      <p:sp>
        <p:nvSpPr>
          <p:cNvPr id="4" name="Shape 2"/>
          <p:cNvSpPr/>
          <p:nvPr/>
        </p:nvSpPr>
        <p:spPr>
          <a:xfrm>
            <a:off x="548640" y="1280160"/>
            <a:ext cx="6675120" cy="2468880"/>
          </a:xfrm>
          <a:prstGeom prst="rect">
            <a:avLst/>
          </a:prstGeom>
          <a:solidFill>
            <a:srgbClr val="F3F5F8"/>
          </a:solidFill>
          <a:ln w="9525">
            <a:solidFill>
              <a:srgbClr val="D5DBE3"/>
            </a:solidFill>
            <a:prstDash val="solid"/>
          </a:ln>
        </p:spPr>
      </p:sp>
      <p:sp>
        <p:nvSpPr>
          <p:cNvPr id="5" name="Shape 3"/>
          <p:cNvSpPr/>
          <p:nvPr/>
        </p:nvSpPr>
        <p:spPr>
          <a:xfrm>
            <a:off x="548640" y="1280160"/>
            <a:ext cx="6675120" cy="54864"/>
          </a:xfrm>
          <a:prstGeom prst="rect">
            <a:avLst/>
          </a:prstGeom>
          <a:solidFill>
            <a:srgbClr val="16406F"/>
          </a:solidFill>
          <a:ln w="12700">
            <a:solidFill>
              <a:srgbClr val="16406F"/>
            </a:solidFill>
            <a:prstDash val="solid"/>
          </a:ln>
        </p:spPr>
      </p:sp>
      <p:sp>
        <p:nvSpPr>
          <p:cNvPr id="6" name="Shape 4"/>
          <p:cNvSpPr/>
          <p:nvPr/>
        </p:nvSpPr>
        <p:spPr>
          <a:xfrm>
            <a:off x="777240" y="1481328"/>
            <a:ext cx="384048" cy="384048"/>
          </a:xfrm>
          <a:prstGeom prst="ellipse">
            <a:avLst/>
          </a:prstGeom>
          <a:solidFill>
            <a:srgbClr val="16406F"/>
          </a:solidFill>
          <a:ln w="12700">
            <a:solidFill>
              <a:srgbClr val="16406F"/>
            </a:solidFill>
            <a:prstDash val="solid"/>
          </a:ln>
        </p:spPr>
      </p:sp>
      <p:sp>
        <p:nvSpPr>
          <p:cNvPr id="7" name="Text 5"/>
          <p:cNvSpPr txBox="1"/>
          <p:nvPr/>
        </p:nvSpPr>
        <p:spPr>
          <a:xfrm>
            <a:off x="777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80160" y="1481328"/>
            <a:ext cx="5760720" cy="384048"/>
          </a:xfrm>
          <a:prstGeom prst="rect">
            <a:avLst/>
          </a:prstGeom>
          <a:noFill/>
          <a:ln/>
        </p:spPr>
        <p:txBody>
          <a:bodyPr wrap="square" lIns="0" tIns="0" rIns="0" bIns="0" rtlCol="0" anchor="ctr"/>
          <a:lstStyle/>
          <a:p>
            <a:pPr indent="0" marL="0">
              <a:buNone/>
            </a:pPr>
            <a:r>
              <a:rPr lang="en-US" sz="1500" b="1" dirty="0">
                <a:solidFill>
                  <a:srgbClr val="16406F"/>
                </a:solidFill>
                <a:latin typeface="Arial" pitchFamily="34" charset="0"/>
                <a:ea typeface="Arial" pitchFamily="34" charset="-122"/>
                <a:cs typeface="Arial" pitchFamily="34" charset="-120"/>
              </a:rPr>
              <a:t>Residualize: strip out what macro already tells us</a:t>
            </a:r>
            <a:endParaRPr lang="en-US" sz="1500" dirty="0"/>
          </a:p>
        </p:txBody>
      </p:sp>
      <p:sp>
        <p:nvSpPr>
          <p:cNvPr id="9" name="Text 7"/>
          <p:cNvSpPr txBox="1"/>
          <p:nvPr/>
        </p:nvSpPr>
        <p:spPr>
          <a:xfrm>
            <a:off x="777240" y="1965960"/>
            <a:ext cx="6217920" cy="548640"/>
          </a:xfrm>
          <a:prstGeom prst="rect">
            <a:avLst/>
          </a:prstGeom>
          <a:noFill/>
          <a:ln/>
        </p:spPr>
        <p:txBody>
          <a:bodyPr wrap="square" lIns="0" tIns="0" rIns="0" bIns="0" rtlCol="0" anchor="ctr"/>
          <a:lstStyle/>
          <a:p>
            <a:pPr indent="0" marL="0">
              <a:buNone/>
            </a:pPr>
            <a:r>
              <a:rPr lang="en-US" sz="2600" i="1" dirty="0">
                <a:solidFill>
                  <a:srgbClr val="1F2933"/>
                </a:solidFill>
                <a:latin typeface="Cambria" pitchFamily="34" charset="0"/>
                <a:ea typeface="Cambria" pitchFamily="34" charset="-122"/>
                <a:cs typeface="Cambria" pitchFamily="34" charset="-120"/>
              </a:rPr>
              <a:t>S</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E[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Ω</a:t>
            </a:r>
            <a:pPr indent="0" marL="0">
              <a:buNone/>
            </a:pPr>
            <a:r>
              <a:rPr lang="en-US" sz="2600" i="1" baseline="-40000" dirty="0">
                <a:solidFill>
                  <a:srgbClr val="1F2933"/>
                </a:solidFill>
                <a:latin typeface="Cambria" pitchFamily="34" charset="0"/>
                <a:ea typeface="Cambria" pitchFamily="34" charset="-122"/>
                <a:cs typeface="Cambria" pitchFamily="34" charset="-120"/>
              </a:rPr>
              <a:t>t</a:t>
            </a:r>
            <a:pPr indent="0" marL="0">
              <a:buNone/>
            </a:pPr>
            <a:r>
              <a:rPr lang="en-US" sz="2600" i="1" dirty="0">
                <a:solidFill>
                  <a:srgbClr val="1F2933"/>
                </a:solidFill>
                <a:latin typeface="Cambria" pitchFamily="34" charset="0"/>
                <a:ea typeface="Cambria" pitchFamily="34" charset="-122"/>
                <a:cs typeface="Cambria" pitchFamily="34" charset="-120"/>
              </a:rPr>
              <a:t> ]</a:t>
            </a:r>
            <a:endParaRPr lang="en-US" sz="2600" dirty="0"/>
          </a:p>
        </p:txBody>
      </p:sp>
      <p:sp>
        <p:nvSpPr>
          <p:cNvPr id="10" name="Text 8"/>
          <p:cNvSpPr txBox="1"/>
          <p:nvPr/>
        </p:nvSpPr>
        <p:spPr>
          <a:xfrm>
            <a:off x="777240" y="2606040"/>
            <a:ext cx="6263640" cy="1051560"/>
          </a:xfrm>
          <a:prstGeom prst="rect">
            <a:avLst/>
          </a:prstGeom>
          <a:noFill/>
          <a:ln/>
        </p:spPr>
        <p:txBody>
          <a:bodyPr wrap="square" lIns="0" tIns="0" rIns="0" bIns="0" rtlCol="0" anchor="t"/>
          <a:lstStyle/>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x</a:t>
            </a:r>
            <a:pPr indent="0" marL="0">
              <a:spcAft>
                <a:spcPts val="400"/>
              </a:spcAft>
              <a:buNone/>
            </a:pPr>
            <a:r>
              <a:rPr lang="en-US" sz="1250" dirty="0">
                <a:solidFill>
                  <a:srgbClr val="1F2933"/>
                </a:solidFill>
                <a:latin typeface="Arial" pitchFamily="34" charset="0"/>
                <a:ea typeface="Arial" pitchFamily="34" charset="-122"/>
                <a:cs typeface="Arial" pitchFamily="34" charset="-120"/>
              </a:rPr>
              <a:t>  what firm i reports on its call (capex intent, hiring, demand)</a:t>
            </a:r>
            <a:endParaRPr lang="en-US" sz="1250" dirty="0"/>
          </a:p>
          <a:p>
            <a:pPr indent="0" marL="0">
              <a:spcAft>
                <a:spcPts val="400"/>
              </a:spcAft>
              <a:buNone/>
            </a:pPr>
            <a:r>
              <a:rPr lang="en-US" sz="1250" b="1" dirty="0">
                <a:solidFill>
                  <a:srgbClr val="1F2933"/>
                </a:solidFill>
                <a:latin typeface="Arial" pitchFamily="34" charset="0"/>
                <a:ea typeface="Arial" pitchFamily="34" charset="-122"/>
                <a:cs typeface="Arial" pitchFamily="34" charset="-120"/>
              </a:rPr>
              <a:t>Ω</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macro variables typically used to forecast the economy</a:t>
            </a:r>
            <a:endParaRPr lang="en-US" sz="1250" dirty="0"/>
          </a:p>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S</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surprise: how much stronger (or weaker) the firm sounds than macro conditions alone would predict</a:t>
            </a:r>
            <a:endParaRPr lang="en-US" sz="1250" dirty="0"/>
          </a:p>
        </p:txBody>
      </p:sp>
      <p:sp>
        <p:nvSpPr>
          <p:cNvPr id="11" name="Shape 9"/>
          <p:cNvSpPr/>
          <p:nvPr/>
        </p:nvSpPr>
        <p:spPr>
          <a:xfrm>
            <a:off x="7406640" y="1280160"/>
            <a:ext cx="4233672" cy="2468880"/>
          </a:xfrm>
          <a:prstGeom prst="rect">
            <a:avLst/>
          </a:prstGeom>
          <a:solidFill>
            <a:srgbClr val="F3F5F8"/>
          </a:solidFill>
          <a:ln w="9525">
            <a:solidFill>
              <a:srgbClr val="D5DBE3"/>
            </a:solidFill>
            <a:prstDash val="solid"/>
          </a:ln>
        </p:spPr>
      </p:sp>
      <p:sp>
        <p:nvSpPr>
          <p:cNvPr id="12" name="Shape 10"/>
          <p:cNvSpPr/>
          <p:nvPr/>
        </p:nvSpPr>
        <p:spPr>
          <a:xfrm>
            <a:off x="7406640" y="1280160"/>
            <a:ext cx="4233672" cy="54864"/>
          </a:xfrm>
          <a:prstGeom prst="rect">
            <a:avLst/>
          </a:prstGeom>
          <a:solidFill>
            <a:srgbClr val="2E8B84"/>
          </a:solidFill>
          <a:ln w="12700">
            <a:solidFill>
              <a:srgbClr val="2E8B84"/>
            </a:solidFill>
            <a:prstDash val="solid"/>
          </a:ln>
        </p:spPr>
      </p:sp>
      <p:sp>
        <p:nvSpPr>
          <p:cNvPr id="13" name="Shape 11"/>
          <p:cNvSpPr/>
          <p:nvPr/>
        </p:nvSpPr>
        <p:spPr>
          <a:xfrm>
            <a:off x="7635240" y="1481328"/>
            <a:ext cx="384048" cy="384048"/>
          </a:xfrm>
          <a:prstGeom prst="ellipse">
            <a:avLst/>
          </a:prstGeom>
          <a:solidFill>
            <a:srgbClr val="2E8B84"/>
          </a:solidFill>
          <a:ln w="12700">
            <a:solidFill>
              <a:srgbClr val="2E8B84"/>
            </a:solidFill>
            <a:prstDash val="solid"/>
          </a:ln>
        </p:spPr>
      </p:sp>
      <p:sp>
        <p:nvSpPr>
          <p:cNvPr id="14" name="Text 12"/>
          <p:cNvSpPr txBox="1"/>
          <p:nvPr/>
        </p:nvSpPr>
        <p:spPr>
          <a:xfrm>
            <a:off x="7635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8138160" y="1481328"/>
            <a:ext cx="3383280" cy="384048"/>
          </a:xfrm>
          <a:prstGeom prst="rect">
            <a:avLst/>
          </a:prstGeom>
          <a:noFill/>
          <a:ln/>
        </p:spPr>
        <p:txBody>
          <a:bodyPr wrap="square" lIns="0" tIns="0" rIns="0" bIns="0" rtlCol="0" anchor="ctr"/>
          <a:lstStyle/>
          <a:p>
            <a:pPr indent="0" marL="0">
              <a:buNone/>
            </a:pPr>
            <a:r>
              <a:rPr lang="en-US" sz="1500" b="1" dirty="0">
                <a:solidFill>
                  <a:srgbClr val="2E8B84"/>
                </a:solidFill>
                <a:latin typeface="Arial" pitchFamily="34" charset="0"/>
                <a:ea typeface="Arial" pitchFamily="34" charset="-122"/>
                <a:cs typeface="Arial" pitchFamily="34" charset="-120"/>
              </a:rPr>
              <a:t>Aggregate across firms</a:t>
            </a:r>
            <a:endParaRPr lang="en-US" sz="1500" dirty="0"/>
          </a:p>
        </p:txBody>
      </p:sp>
      <p:sp>
        <p:nvSpPr>
          <p:cNvPr id="16" name="Text 14"/>
          <p:cNvSpPr txBox="1"/>
          <p:nvPr/>
        </p:nvSpPr>
        <p:spPr>
          <a:xfrm>
            <a:off x="7635240" y="1965960"/>
            <a:ext cx="3840480" cy="1737360"/>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Thousands of firm-level surprises become one monthly series, smoothed over 6 months:</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Breadth: do industries surprise in the same direction?</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Downside: how weak are the weakest firms’ capex surprises (10th percentile)?</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Turning points: how many firms flip from negative to positive?</a:t>
            </a:r>
            <a:endParaRPr lang="en-US" sz="1250" dirty="0"/>
          </a:p>
        </p:txBody>
      </p:sp>
      <p:sp>
        <p:nvSpPr>
          <p:cNvPr id="17" name="Shape 15"/>
          <p:cNvSpPr/>
          <p:nvPr/>
        </p:nvSpPr>
        <p:spPr>
          <a:xfrm>
            <a:off x="548640" y="3950208"/>
            <a:ext cx="3566160" cy="1572768"/>
          </a:xfrm>
          <a:prstGeom prst="rect">
            <a:avLst/>
          </a:prstGeom>
          <a:solidFill>
            <a:srgbClr val="F3F5F8"/>
          </a:solidFill>
          <a:ln w="9525">
            <a:solidFill>
              <a:srgbClr val="D5DBE3"/>
            </a:solidFill>
            <a:prstDash val="solid"/>
          </a:ln>
        </p:spPr>
      </p:sp>
      <p:sp>
        <p:nvSpPr>
          <p:cNvPr id="18" name="Shape 16"/>
          <p:cNvSpPr/>
          <p:nvPr/>
        </p:nvSpPr>
        <p:spPr>
          <a:xfrm>
            <a:off x="548640" y="3950208"/>
            <a:ext cx="3566160" cy="54864"/>
          </a:xfrm>
          <a:prstGeom prst="rect">
            <a:avLst/>
          </a:prstGeom>
          <a:solidFill>
            <a:srgbClr val="1A5FAF"/>
          </a:solidFill>
          <a:ln w="12700">
            <a:solidFill>
              <a:srgbClr val="1A5FAF"/>
            </a:solidFill>
            <a:prstDash val="solid"/>
          </a:ln>
        </p:spPr>
      </p:sp>
      <p:sp>
        <p:nvSpPr>
          <p:cNvPr id="19" name="Text 17"/>
          <p:cNvSpPr txBox="1"/>
          <p:nvPr/>
        </p:nvSpPr>
        <p:spPr>
          <a:xfrm>
            <a:off x="731520" y="4114800"/>
            <a:ext cx="3200400" cy="329184"/>
          </a:xfrm>
          <a:prstGeom prst="rect">
            <a:avLst/>
          </a:prstGeom>
          <a:noFill/>
          <a:ln/>
        </p:spPr>
        <p:txBody>
          <a:bodyPr wrap="square" lIns="0" tIns="0" rIns="0" bIns="0" rtlCol="0" anchor="ctr"/>
          <a:lstStyle/>
          <a:p>
            <a:pPr indent="0" marL="0">
              <a:buNone/>
            </a:pPr>
            <a:r>
              <a:rPr lang="en-US" sz="1350" b="1" dirty="0">
                <a:solidFill>
                  <a:srgbClr val="1A5FAF"/>
                </a:solidFill>
                <a:latin typeface="Arial" pitchFamily="34" charset="0"/>
                <a:ea typeface="Arial" pitchFamily="34" charset="-122"/>
                <a:cs typeface="Arial" pitchFamily="34" charset="-120"/>
              </a:rPr>
              <a:t>Diffusion: observed directly</a:t>
            </a:r>
            <a:endParaRPr lang="en-US" sz="1350" dirty="0"/>
          </a:p>
        </p:txBody>
      </p:sp>
      <p:sp>
        <p:nvSpPr>
          <p:cNvPr id="20" name="Text 18"/>
          <p:cNvSpPr txBox="1"/>
          <p:nvPr/>
        </p:nvSpPr>
        <p:spPr>
          <a:xfrm>
            <a:off x="731520"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Share of firms accelerating capex, accelerating or maintaining hiring, seeing accelerating demand, or with low capex visibility. Pre-smoothed over 24 months.</a:t>
            </a:r>
            <a:endParaRPr lang="en-US" sz="1150" dirty="0"/>
          </a:p>
        </p:txBody>
      </p:sp>
      <p:sp>
        <p:nvSpPr>
          <p:cNvPr id="21" name="Shape 19"/>
          <p:cNvSpPr/>
          <p:nvPr/>
        </p:nvSpPr>
        <p:spPr>
          <a:xfrm>
            <a:off x="4311396" y="3950208"/>
            <a:ext cx="3566160" cy="1572768"/>
          </a:xfrm>
          <a:prstGeom prst="rect">
            <a:avLst/>
          </a:prstGeom>
          <a:solidFill>
            <a:srgbClr val="F3F5F8"/>
          </a:solidFill>
          <a:ln w="9525">
            <a:solidFill>
              <a:srgbClr val="D5DBE3"/>
            </a:solidFill>
            <a:prstDash val="solid"/>
          </a:ln>
        </p:spPr>
      </p:sp>
      <p:sp>
        <p:nvSpPr>
          <p:cNvPr id="22" name="Shape 20"/>
          <p:cNvSpPr/>
          <p:nvPr/>
        </p:nvSpPr>
        <p:spPr>
          <a:xfrm>
            <a:off x="4311396" y="3950208"/>
            <a:ext cx="3566160" cy="54864"/>
          </a:xfrm>
          <a:prstGeom prst="rect">
            <a:avLst/>
          </a:prstGeom>
          <a:solidFill>
            <a:srgbClr val="E58A2B"/>
          </a:solidFill>
          <a:ln w="12700">
            <a:solidFill>
              <a:srgbClr val="E58A2B"/>
            </a:solidFill>
            <a:prstDash val="solid"/>
          </a:ln>
        </p:spPr>
      </p:sp>
      <p:sp>
        <p:nvSpPr>
          <p:cNvPr id="23" name="Text 21"/>
          <p:cNvSpPr txBox="1"/>
          <p:nvPr/>
        </p:nvSpPr>
        <p:spPr>
          <a:xfrm>
            <a:off x="4494276" y="4114800"/>
            <a:ext cx="3200400" cy="329184"/>
          </a:xfrm>
          <a:prstGeom prst="rect">
            <a:avLst/>
          </a:prstGeom>
          <a:noFill/>
          <a:ln/>
        </p:spPr>
        <p:txBody>
          <a:bodyPr wrap="square" lIns="0" tIns="0" rIns="0" bIns="0" rtlCol="0" anchor="ctr"/>
          <a:lstStyle/>
          <a:p>
            <a:pPr indent="0" marL="0">
              <a:buNone/>
            </a:pPr>
            <a:r>
              <a:rPr lang="en-US" sz="1350" b="1" dirty="0">
                <a:solidFill>
                  <a:srgbClr val="B8691A"/>
                </a:solidFill>
                <a:latin typeface="Arial" pitchFamily="34" charset="0"/>
                <a:ea typeface="Arial" pitchFamily="34" charset="-122"/>
                <a:cs typeface="Arial" pitchFamily="34" charset="-120"/>
              </a:rPr>
              <a:t>Residualized: net of macro</a:t>
            </a:r>
            <a:endParaRPr lang="en-US" sz="1350" dirty="0"/>
          </a:p>
        </p:txBody>
      </p:sp>
      <p:sp>
        <p:nvSpPr>
          <p:cNvPr id="24" name="Text 22"/>
          <p:cNvSpPr txBox="1"/>
          <p:nvPr/>
        </p:nvSpPr>
        <p:spPr>
          <a:xfrm>
            <a:off x="4494276"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Cross-industry surprise breadth, downside capex surprise (10th percentile) and turning-point breadth: firm surprises after removing what macro already explains.</a:t>
            </a:r>
            <a:endParaRPr lang="en-US" sz="1150" dirty="0"/>
          </a:p>
        </p:txBody>
      </p:sp>
      <p:sp>
        <p:nvSpPr>
          <p:cNvPr id="25" name="Shape 23"/>
          <p:cNvSpPr/>
          <p:nvPr/>
        </p:nvSpPr>
        <p:spPr>
          <a:xfrm>
            <a:off x="8074152" y="3950208"/>
            <a:ext cx="3566160" cy="1572768"/>
          </a:xfrm>
          <a:prstGeom prst="rect">
            <a:avLst/>
          </a:prstGeom>
          <a:solidFill>
            <a:srgbClr val="F3F5F8"/>
          </a:solidFill>
          <a:ln w="9525">
            <a:solidFill>
              <a:srgbClr val="D5DBE3"/>
            </a:solidFill>
            <a:prstDash val="solid"/>
          </a:ln>
        </p:spPr>
      </p:sp>
      <p:sp>
        <p:nvSpPr>
          <p:cNvPr id="26" name="Shape 24"/>
          <p:cNvSpPr/>
          <p:nvPr/>
        </p:nvSpPr>
        <p:spPr>
          <a:xfrm>
            <a:off x="8074152" y="3950208"/>
            <a:ext cx="3566160" cy="54864"/>
          </a:xfrm>
          <a:prstGeom prst="rect">
            <a:avLst/>
          </a:prstGeom>
          <a:solidFill>
            <a:srgbClr val="2E8B84"/>
          </a:solidFill>
          <a:ln w="12700">
            <a:solidFill>
              <a:srgbClr val="2E8B84"/>
            </a:solidFill>
            <a:prstDash val="solid"/>
          </a:ln>
        </p:spPr>
      </p:sp>
      <p:sp>
        <p:nvSpPr>
          <p:cNvPr id="27" name="Text 25"/>
          <p:cNvSpPr txBox="1"/>
          <p:nvPr/>
        </p:nvSpPr>
        <p:spPr>
          <a:xfrm>
            <a:off x="8257032" y="4114800"/>
            <a:ext cx="3200400" cy="329184"/>
          </a:xfrm>
          <a:prstGeom prst="rect">
            <a:avLst/>
          </a:prstGeom>
          <a:noFill/>
          <a:ln/>
        </p:spPr>
        <p:txBody>
          <a:bodyPr wrap="square" lIns="0" tIns="0" rIns="0" bIns="0" rtlCol="0" anchor="ctr"/>
          <a:lstStyle/>
          <a:p>
            <a:pPr indent="0" marL="0">
              <a:buNone/>
            </a:pPr>
            <a:r>
              <a:rPr lang="en-US" sz="1350" b="1" dirty="0">
                <a:solidFill>
                  <a:srgbClr val="2E8B84"/>
                </a:solidFill>
                <a:latin typeface="Arial" pitchFamily="34" charset="0"/>
                <a:ea typeface="Arial" pitchFamily="34" charset="-122"/>
                <a:cs typeface="Arial" pitchFamily="34" charset="-120"/>
              </a:rPr>
              <a:t>Cross-topic: divergence</a:t>
            </a:r>
            <a:endParaRPr lang="en-US" sz="1350" dirty="0"/>
          </a:p>
        </p:txBody>
      </p:sp>
      <p:sp>
        <p:nvSpPr>
          <p:cNvPr id="28" name="Text 26"/>
          <p:cNvSpPr txBox="1"/>
          <p:nvPr/>
        </p:nvSpPr>
        <p:spPr>
          <a:xfrm>
            <a:off x="8257032"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Cross-topic divergence across the themes firms discuss (6-month moving average), inverted so that higher means a stronger signal.</a:t>
            </a:r>
            <a:endParaRPr lang="en-US" sz="1150" dirty="0"/>
          </a:p>
        </p:txBody>
      </p:sp>
      <p:sp>
        <p:nvSpPr>
          <p:cNvPr id="29" name="Shape 27"/>
          <p:cNvSpPr/>
          <p:nvPr/>
        </p:nvSpPr>
        <p:spPr>
          <a:xfrm>
            <a:off x="548640" y="5742432"/>
            <a:ext cx="11091672" cy="777240"/>
          </a:xfrm>
          <a:prstGeom prst="rect">
            <a:avLst/>
          </a:prstGeom>
          <a:solidFill>
            <a:srgbClr val="FDF1DE"/>
          </a:solidFill>
          <a:ln w="12700">
            <a:solidFill>
              <a:srgbClr val="FDF1DE"/>
            </a:solidFill>
            <a:prstDash val="solid"/>
          </a:ln>
        </p:spPr>
      </p:sp>
      <p:sp>
        <p:nvSpPr>
          <p:cNvPr id="30" name="Shape 28"/>
          <p:cNvSpPr/>
          <p:nvPr/>
        </p:nvSpPr>
        <p:spPr>
          <a:xfrm>
            <a:off x="548640" y="5742432"/>
            <a:ext cx="64008" cy="777240"/>
          </a:xfrm>
          <a:prstGeom prst="rect">
            <a:avLst/>
          </a:prstGeom>
          <a:solidFill>
            <a:srgbClr val="E58A2B"/>
          </a:solidFill>
          <a:ln w="12700">
            <a:solidFill>
              <a:srgbClr val="E58A2B"/>
            </a:solidFill>
            <a:prstDash val="solid"/>
          </a:ln>
        </p:spPr>
      </p:sp>
      <p:sp>
        <p:nvSpPr>
          <p:cNvPr id="31" name="Text 29"/>
          <p:cNvSpPr txBox="1"/>
          <p:nvPr/>
        </p:nvSpPr>
        <p:spPr>
          <a:xfrm>
            <a:off x="777240" y="5742432"/>
            <a:ext cx="10698480" cy="77724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The test: </a:t>
            </a:r>
            <a:pPr indent="0" marL="0">
              <a:buNone/>
            </a:pPr>
            <a:r>
              <a:rPr lang="en-US" sz="1350" dirty="0">
                <a:solidFill>
                  <a:srgbClr val="1F2933"/>
                </a:solidFill>
                <a:latin typeface="Arial" pitchFamily="34" charset="0"/>
                <a:ea typeface="Arial" pitchFamily="34" charset="-122"/>
                <a:cs typeface="Arial" pitchFamily="34" charset="-120"/>
              </a:rPr>
              <a:t>if aggregated surprises still help forecast macro outcomes, the transcripts hold genuinely new information, not a rediscovery of what common macro data already says.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How the Main Index is built</a:t>
            </a:r>
            <a:endParaRPr lang="en-US" sz="2600" dirty="0"/>
          </a:p>
        </p:txBody>
      </p:sp>
      <p:sp>
        <p:nvSpPr>
          <p:cNvPr id="4" name="Shape 2"/>
          <p:cNvSpPr/>
          <p:nvPr/>
        </p:nvSpPr>
        <p:spPr>
          <a:xfrm>
            <a:off x="548640" y="1234440"/>
            <a:ext cx="3429000" cy="1508760"/>
          </a:xfrm>
          <a:prstGeom prst="rect">
            <a:avLst/>
          </a:prstGeom>
          <a:solidFill>
            <a:srgbClr val="F3F5F8"/>
          </a:solidFill>
          <a:ln w="9525">
            <a:solidFill>
              <a:srgbClr val="D5DBE3"/>
            </a:solidFill>
            <a:prstDash val="solid"/>
          </a:ln>
        </p:spPr>
      </p:sp>
      <p:sp>
        <p:nvSpPr>
          <p:cNvPr id="5" name="Shape 3"/>
          <p:cNvSpPr/>
          <p:nvPr/>
        </p:nvSpPr>
        <p:spPr>
          <a:xfrm>
            <a:off x="548640" y="1234440"/>
            <a:ext cx="3429000" cy="54864"/>
          </a:xfrm>
          <a:prstGeom prst="rect">
            <a:avLst/>
          </a:prstGeom>
          <a:solidFill>
            <a:srgbClr val="1A5FAF"/>
          </a:solidFill>
          <a:ln w="12700">
            <a:solidFill>
              <a:srgbClr val="1A5FAF"/>
            </a:solidFill>
            <a:prstDash val="solid"/>
          </a:ln>
        </p:spPr>
      </p:sp>
      <p:sp>
        <p:nvSpPr>
          <p:cNvPr id="6" name="Shape 4"/>
          <p:cNvSpPr/>
          <p:nvPr/>
        </p:nvSpPr>
        <p:spPr>
          <a:xfrm>
            <a:off x="731520" y="1417320"/>
            <a:ext cx="384048" cy="384048"/>
          </a:xfrm>
          <a:prstGeom prst="ellipse">
            <a:avLst/>
          </a:prstGeom>
          <a:solidFill>
            <a:srgbClr val="1A5FAF"/>
          </a:solidFill>
          <a:ln w="12700">
            <a:solidFill>
              <a:srgbClr val="1A5FAF"/>
            </a:solidFill>
            <a:prstDash val="solid"/>
          </a:ln>
        </p:spPr>
      </p:sp>
      <p:sp>
        <p:nvSpPr>
          <p:cNvPr id="7" name="Text 5"/>
          <p:cNvSpPr txBox="1"/>
          <p:nvPr/>
        </p:nvSpPr>
        <p:spPr>
          <a:xfrm>
            <a:off x="73152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34440"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Collect</a:t>
            </a:r>
            <a:endParaRPr lang="en-US" sz="1500" dirty="0"/>
          </a:p>
        </p:txBody>
      </p:sp>
      <p:sp>
        <p:nvSpPr>
          <p:cNvPr id="9" name="Text 7"/>
          <p:cNvSpPr txBox="1"/>
          <p:nvPr/>
        </p:nvSpPr>
        <p:spPr>
          <a:xfrm>
            <a:off x="731520"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8 candidate monthly series from the transcript pipeline: diffusion, residualized surprise and cross-topic measures.</a:t>
            </a:r>
            <a:endParaRPr lang="en-US" sz="1150" dirty="0"/>
          </a:p>
        </p:txBody>
      </p:sp>
      <p:sp>
        <p:nvSpPr>
          <p:cNvPr id="10" name="Text 8"/>
          <p:cNvSpPr txBox="1"/>
          <p:nvPr/>
        </p:nvSpPr>
        <p:spPr>
          <a:xfrm>
            <a:off x="3977640"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79976" y="1234440"/>
            <a:ext cx="3429000" cy="1508760"/>
          </a:xfrm>
          <a:prstGeom prst="rect">
            <a:avLst/>
          </a:prstGeom>
          <a:solidFill>
            <a:srgbClr val="F3F5F8"/>
          </a:solidFill>
          <a:ln w="9525">
            <a:solidFill>
              <a:srgbClr val="D5DBE3"/>
            </a:solidFill>
            <a:prstDash val="solid"/>
          </a:ln>
        </p:spPr>
      </p:sp>
      <p:sp>
        <p:nvSpPr>
          <p:cNvPr id="12" name="Shape 10"/>
          <p:cNvSpPr/>
          <p:nvPr/>
        </p:nvSpPr>
        <p:spPr>
          <a:xfrm>
            <a:off x="4379976" y="1234440"/>
            <a:ext cx="3429000" cy="54864"/>
          </a:xfrm>
          <a:prstGeom prst="rect">
            <a:avLst/>
          </a:prstGeom>
          <a:solidFill>
            <a:srgbClr val="2E8B84"/>
          </a:solidFill>
          <a:ln w="12700">
            <a:solidFill>
              <a:srgbClr val="2E8B84"/>
            </a:solidFill>
            <a:prstDash val="solid"/>
          </a:ln>
        </p:spPr>
      </p:sp>
      <p:sp>
        <p:nvSpPr>
          <p:cNvPr id="13" name="Shape 11"/>
          <p:cNvSpPr/>
          <p:nvPr/>
        </p:nvSpPr>
        <p:spPr>
          <a:xfrm>
            <a:off x="4562856" y="1417320"/>
            <a:ext cx="384048" cy="384048"/>
          </a:xfrm>
          <a:prstGeom prst="ellipse">
            <a:avLst/>
          </a:prstGeom>
          <a:solidFill>
            <a:srgbClr val="2E8B84"/>
          </a:solidFill>
          <a:ln w="12700">
            <a:solidFill>
              <a:srgbClr val="2E8B84"/>
            </a:solidFill>
            <a:prstDash val="solid"/>
          </a:ln>
        </p:spPr>
      </p:sp>
      <p:sp>
        <p:nvSpPr>
          <p:cNvPr id="14" name="Text 12"/>
          <p:cNvSpPr txBox="1"/>
          <p:nvPr/>
        </p:nvSpPr>
        <p:spPr>
          <a:xfrm>
            <a:off x="4562856"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065776"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Align</a:t>
            </a:r>
            <a:endParaRPr lang="en-US" sz="1500" dirty="0"/>
          </a:p>
        </p:txBody>
      </p:sp>
      <p:sp>
        <p:nvSpPr>
          <p:cNvPr id="16" name="Text 14"/>
          <p:cNvSpPr txBox="1"/>
          <p:nvPr/>
        </p:nvSpPr>
        <p:spPr>
          <a:xfrm>
            <a:off x="4562856"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Diffusion series are pre-smoothed (24-month MA). Inverted series use 1 − x, so higher always means a stronger economic signal.</a:t>
            </a:r>
            <a:endParaRPr lang="en-US" sz="1150" dirty="0"/>
          </a:p>
        </p:txBody>
      </p:sp>
      <p:sp>
        <p:nvSpPr>
          <p:cNvPr id="17" name="Text 15"/>
          <p:cNvSpPr txBox="1"/>
          <p:nvPr/>
        </p:nvSpPr>
        <p:spPr>
          <a:xfrm>
            <a:off x="7808976"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8211312" y="1234440"/>
            <a:ext cx="3429000" cy="1508760"/>
          </a:xfrm>
          <a:prstGeom prst="rect">
            <a:avLst/>
          </a:prstGeom>
          <a:solidFill>
            <a:srgbClr val="F3F5F8"/>
          </a:solidFill>
          <a:ln w="9525">
            <a:solidFill>
              <a:srgbClr val="D5DBE3"/>
            </a:solidFill>
            <a:prstDash val="solid"/>
          </a:ln>
        </p:spPr>
      </p:sp>
      <p:sp>
        <p:nvSpPr>
          <p:cNvPr id="19" name="Shape 17"/>
          <p:cNvSpPr/>
          <p:nvPr/>
        </p:nvSpPr>
        <p:spPr>
          <a:xfrm>
            <a:off x="8211312" y="1234440"/>
            <a:ext cx="3429000" cy="54864"/>
          </a:xfrm>
          <a:prstGeom prst="rect">
            <a:avLst/>
          </a:prstGeom>
          <a:solidFill>
            <a:srgbClr val="E58A2B"/>
          </a:solidFill>
          <a:ln w="12700">
            <a:solidFill>
              <a:srgbClr val="E58A2B"/>
            </a:solidFill>
            <a:prstDash val="solid"/>
          </a:ln>
        </p:spPr>
      </p:sp>
      <p:sp>
        <p:nvSpPr>
          <p:cNvPr id="20" name="Shape 18"/>
          <p:cNvSpPr/>
          <p:nvPr/>
        </p:nvSpPr>
        <p:spPr>
          <a:xfrm>
            <a:off x="8394192" y="1417320"/>
            <a:ext cx="384048" cy="384048"/>
          </a:xfrm>
          <a:prstGeom prst="ellipse">
            <a:avLst/>
          </a:prstGeom>
          <a:solidFill>
            <a:srgbClr val="C9741C"/>
          </a:solidFill>
          <a:ln w="12700">
            <a:solidFill>
              <a:srgbClr val="C9741C"/>
            </a:solidFill>
            <a:prstDash val="solid"/>
          </a:ln>
        </p:spPr>
      </p:sp>
      <p:sp>
        <p:nvSpPr>
          <p:cNvPr id="21" name="Text 19"/>
          <p:cNvSpPr txBox="1"/>
          <p:nvPr/>
        </p:nvSpPr>
        <p:spPr>
          <a:xfrm>
            <a:off x="8394192"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897112"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Combine</a:t>
            </a:r>
            <a:endParaRPr lang="en-US" sz="1500" dirty="0"/>
          </a:p>
        </p:txBody>
      </p:sp>
      <p:sp>
        <p:nvSpPr>
          <p:cNvPr id="23" name="Text 21"/>
          <p:cNvSpPr txBox="1"/>
          <p:nvPr/>
        </p:nvSpPr>
        <p:spPr>
          <a:xfrm>
            <a:off x="8394192"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Lasso regression onto ISM Manufacturing PMI YoY% at a 10-month lead keeps a parsimonious set. 7 of 8 signals survive.</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6949440" cy="914400"/>
        </p:xfrm>
        <a:graphic>
          <a:graphicData uri="http://schemas.openxmlformats.org/drawingml/2006/table">
            <a:tbl>
              <a:tblPr/>
              <a:tblGrid>
                <a:gridCol w="1554480"/>
                <a:gridCol w="3931920"/>
                <a:gridCol w="1463040"/>
              </a:tblGrid>
              <a:tr h="301752">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Family</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Signal</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Lasso weight</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Capex accelerating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+248.38</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Hiring accelerating / maintaining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−15.99</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Demand accelerating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−58.17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Low capex visibility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−1.83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Cross-industry surprise breadth</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−13.27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Downside capex surprise (p10)</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−6.73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9AA5B1"/>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9AA5B1"/>
                          </a:solidFill>
                          <a:latin typeface="Arial" pitchFamily="34" charset="0"/>
                          <a:ea typeface="Arial" pitchFamily="34" charset="-122"/>
                          <a:cs typeface="Arial" pitchFamily="34" charset="-120"/>
                        </a:rPr>
                        <a:t>Turning-point breadth (neg→pos)</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i="1" dirty="0">
                          <a:solidFill>
                            <a:srgbClr val="9AA5B1"/>
                          </a:solidFill>
                          <a:latin typeface="Arial" pitchFamily="34" charset="0"/>
                          <a:ea typeface="Arial" pitchFamily="34" charset="-122"/>
                          <a:cs typeface="Arial" pitchFamily="34" charset="-120"/>
                        </a:rPr>
                        <a:t>dropped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2E8B84"/>
                          </a:solidFill>
                          <a:latin typeface="Arial" pitchFamily="34" charset="0"/>
                          <a:ea typeface="Arial" pitchFamily="34" charset="-122"/>
                          <a:cs typeface="Arial" pitchFamily="34" charset="-120"/>
                        </a:rPr>
                        <a:t>Cross-topic</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Cross-topic divergence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+4.45</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hape 22"/>
          <p:cNvSpPr/>
          <p:nvPr/>
        </p:nvSpPr>
        <p:spPr>
          <a:xfrm>
            <a:off x="7680960" y="2926080"/>
            <a:ext cx="3959352" cy="2715768"/>
          </a:xfrm>
          <a:prstGeom prst="rect">
            <a:avLst/>
          </a:prstGeom>
          <a:solidFill>
            <a:srgbClr val="F3F5F8"/>
          </a:solidFill>
          <a:ln w="9525">
            <a:solidFill>
              <a:srgbClr val="D5DBE3"/>
            </a:solidFill>
            <a:prstDash val="solid"/>
          </a:ln>
        </p:spPr>
      </p:sp>
      <p:sp>
        <p:nvSpPr>
          <p:cNvPr id="26" name="Shape 23"/>
          <p:cNvSpPr/>
          <p:nvPr/>
        </p:nvSpPr>
        <p:spPr>
          <a:xfrm>
            <a:off x="7680960" y="2926080"/>
            <a:ext cx="3959352" cy="54864"/>
          </a:xfrm>
          <a:prstGeom prst="rect">
            <a:avLst/>
          </a:prstGeom>
          <a:solidFill>
            <a:srgbClr val="16406F"/>
          </a:solidFill>
          <a:ln w="12700">
            <a:solidFill>
              <a:srgbClr val="16406F"/>
            </a:solidFill>
            <a:prstDash val="solid"/>
          </a:ln>
        </p:spPr>
      </p:sp>
      <p:sp>
        <p:nvSpPr>
          <p:cNvPr id="27" name="Text 24"/>
          <p:cNvSpPr txBox="1"/>
          <p:nvPr/>
        </p:nvSpPr>
        <p:spPr>
          <a:xfrm>
            <a:off x="7909560" y="3090672"/>
            <a:ext cx="3566160" cy="329184"/>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Reading the index</a:t>
            </a:r>
            <a:endParaRPr lang="en-US" sz="1400" dirty="0"/>
          </a:p>
        </p:txBody>
      </p:sp>
      <p:sp>
        <p:nvSpPr>
          <p:cNvPr id="28" name="Text 25"/>
          <p:cNvSpPr txBox="1"/>
          <p:nvPr/>
        </p:nvSpPr>
        <p:spPr>
          <a:xfrm>
            <a:off x="7909560" y="3493008"/>
            <a:ext cx="3566160" cy="2057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Linear and transparent: intercept (−193.25) plus the weighted sum of the signals</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Lasso keeps 7 of 8: turning-point breadth is zeroed out</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All three families contribute to the final index</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Weights are as fitted; we evaluate the composite, not individual coefficients</a:t>
            </a:r>
            <a:endParaRPr lang="en-US" sz="1200" dirty="0"/>
          </a:p>
        </p:txBody>
      </p:sp>
      <p:sp>
        <p:nvSpPr>
          <p:cNvPr id="29" name="Shape 26"/>
          <p:cNvSpPr/>
          <p:nvPr/>
        </p:nvSpPr>
        <p:spPr>
          <a:xfrm>
            <a:off x="548640" y="5852160"/>
            <a:ext cx="11091672" cy="621792"/>
          </a:xfrm>
          <a:prstGeom prst="rect">
            <a:avLst/>
          </a:prstGeom>
          <a:solidFill>
            <a:srgbClr val="FDF1DE"/>
          </a:solidFill>
          <a:ln w="12700">
            <a:solidFill>
              <a:srgbClr val="FDF1DE"/>
            </a:solidFill>
            <a:prstDash val="solid"/>
          </a:ln>
        </p:spPr>
      </p:sp>
      <p:sp>
        <p:nvSpPr>
          <p:cNvPr id="30" name="Shape 27"/>
          <p:cNvSpPr/>
          <p:nvPr/>
        </p:nvSpPr>
        <p:spPr>
          <a:xfrm>
            <a:off x="548640" y="5852160"/>
            <a:ext cx="64008" cy="621792"/>
          </a:xfrm>
          <a:prstGeom prst="rect">
            <a:avLst/>
          </a:prstGeom>
          <a:solidFill>
            <a:srgbClr val="E58A2B"/>
          </a:solidFill>
          <a:ln w="12700">
            <a:solidFill>
              <a:srgbClr val="E58A2B"/>
            </a:solidFill>
            <a:prstDash val="solid"/>
          </a:ln>
        </p:spPr>
      </p:sp>
      <p:sp>
        <p:nvSpPr>
          <p:cNvPr id="31" name="Text 28"/>
          <p:cNvSpPr txBox="1"/>
          <p:nvPr/>
        </p:nvSpPr>
        <p:spPr>
          <a:xfrm>
            <a:off x="777240" y="5852160"/>
            <a:ext cx="10698480" cy="621792"/>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 simple linear composite of 7 transcript-derived signals, weighted to line up with ISM PMI YoY% ten months ahead.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Main Index: </a:t>
            </a:r>
            <a:pPr indent="0" marL="0">
              <a:buNone/>
            </a:pPr>
            <a:r>
              <a:rPr lang="en-US" sz="2600" b="1" i="1" dirty="0">
                <a:solidFill>
                  <a:srgbClr val="FFFFFF"/>
                </a:solidFill>
                <a:latin typeface="Arial" pitchFamily="34" charset="0"/>
                <a:ea typeface="Arial" pitchFamily="34" charset="-122"/>
                <a:cs typeface="Arial" pitchFamily="34" charset="-120"/>
              </a:rPr>
              <a:t>a transcript-based leading indicator</a:t>
            </a:r>
            <a:endParaRPr lang="en-US" sz="2600" dirty="0"/>
          </a:p>
        </p:txBody>
      </p:sp>
      <p:sp>
        <p:nvSpPr>
          <p:cNvPr id="4" name="Shape 2"/>
          <p:cNvSpPr/>
          <p:nvPr/>
        </p:nvSpPr>
        <p:spPr>
          <a:xfrm>
            <a:off x="548640" y="1234440"/>
            <a:ext cx="3566160" cy="502920"/>
          </a:xfrm>
          <a:prstGeom prst="roundRect">
            <a:avLst>
              <a:gd name="adj" fmla="val 14545"/>
            </a:avLst>
          </a:prstGeom>
          <a:solidFill>
            <a:srgbClr val="E4EEF9"/>
          </a:solidFill>
          <a:ln w="12700">
            <a:solidFill>
              <a:srgbClr val="E4EEF9"/>
            </a:solidFill>
            <a:prstDash val="solid"/>
          </a:ln>
        </p:spPr>
      </p:sp>
      <p:sp>
        <p:nvSpPr>
          <p:cNvPr id="5" name="Text 3"/>
          <p:cNvSpPr txBox="1"/>
          <p:nvPr/>
        </p:nvSpPr>
        <p:spPr>
          <a:xfrm>
            <a:off x="685800"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Method:  </a:t>
            </a:r>
            <a:pPr indent="0" marL="0">
              <a:buNone/>
            </a:pPr>
            <a:r>
              <a:rPr lang="en-US" sz="1250" dirty="0">
                <a:solidFill>
                  <a:srgbClr val="1F2933"/>
                </a:solidFill>
                <a:latin typeface="Arial" pitchFamily="34" charset="0"/>
                <a:ea typeface="Arial" pitchFamily="34" charset="-122"/>
                <a:cs typeface="Arial" pitchFamily="34" charset="-120"/>
              </a:rPr>
              <a:t>Lasso composite of 7 signals</a:t>
            </a:r>
            <a:endParaRPr lang="en-US" sz="1250" dirty="0"/>
          </a:p>
        </p:txBody>
      </p:sp>
      <p:sp>
        <p:nvSpPr>
          <p:cNvPr id="6" name="Shape 4"/>
          <p:cNvSpPr/>
          <p:nvPr/>
        </p:nvSpPr>
        <p:spPr>
          <a:xfrm>
            <a:off x="4311396" y="1234440"/>
            <a:ext cx="3566160" cy="502920"/>
          </a:xfrm>
          <a:prstGeom prst="roundRect">
            <a:avLst>
              <a:gd name="adj" fmla="val 14545"/>
            </a:avLst>
          </a:prstGeom>
          <a:solidFill>
            <a:srgbClr val="E4EEF9"/>
          </a:solidFill>
          <a:ln w="12700">
            <a:solidFill>
              <a:srgbClr val="E4EEF9"/>
            </a:solidFill>
            <a:prstDash val="solid"/>
          </a:ln>
        </p:spPr>
      </p:sp>
      <p:sp>
        <p:nvSpPr>
          <p:cNvPr id="7" name="Text 5"/>
          <p:cNvSpPr txBox="1"/>
          <p:nvPr/>
        </p:nvSpPr>
        <p:spPr>
          <a:xfrm>
            <a:off x="4448556"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Target:  </a:t>
            </a:r>
            <a:pPr indent="0" marL="0">
              <a:buNone/>
            </a:pPr>
            <a:r>
              <a:rPr lang="en-US" sz="1250" dirty="0">
                <a:solidFill>
                  <a:srgbClr val="1F2933"/>
                </a:solidFill>
                <a:latin typeface="Arial" pitchFamily="34" charset="0"/>
                <a:ea typeface="Arial" pitchFamily="34" charset="-122"/>
                <a:cs typeface="Arial" pitchFamily="34" charset="-120"/>
              </a:rPr>
              <a:t>ISM Manufacturing PMI YoY%</a:t>
            </a:r>
            <a:endParaRPr lang="en-US" sz="1250" dirty="0"/>
          </a:p>
        </p:txBody>
      </p:sp>
      <p:sp>
        <p:nvSpPr>
          <p:cNvPr id="8" name="Shape 6"/>
          <p:cNvSpPr/>
          <p:nvPr/>
        </p:nvSpPr>
        <p:spPr>
          <a:xfrm>
            <a:off x="8074152" y="1234440"/>
            <a:ext cx="3566160" cy="502920"/>
          </a:xfrm>
          <a:prstGeom prst="roundRect">
            <a:avLst>
              <a:gd name="adj" fmla="val 14545"/>
            </a:avLst>
          </a:prstGeom>
          <a:solidFill>
            <a:srgbClr val="E4EEF9"/>
          </a:solidFill>
          <a:ln w="12700">
            <a:solidFill>
              <a:srgbClr val="E4EEF9"/>
            </a:solidFill>
            <a:prstDash val="solid"/>
          </a:ln>
        </p:spPr>
      </p:sp>
      <p:sp>
        <p:nvSpPr>
          <p:cNvPr id="9" name="Text 7"/>
          <p:cNvSpPr txBox="1"/>
          <p:nvPr/>
        </p:nvSpPr>
        <p:spPr>
          <a:xfrm>
            <a:off x="8211312"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Lead:  </a:t>
            </a:r>
            <a:pPr indent="0" marL="0">
              <a:buNone/>
            </a:pPr>
            <a:r>
              <a:rPr lang="en-US" sz="1250" dirty="0">
                <a:solidFill>
                  <a:srgbClr val="1F2933"/>
                </a:solidFill>
                <a:latin typeface="Arial" pitchFamily="34" charset="0"/>
                <a:ea typeface="Arial" pitchFamily="34" charset="-122"/>
                <a:cs typeface="Arial" pitchFamily="34" charset="-120"/>
              </a:rPr>
              <a:t>10 months</a:t>
            </a:r>
            <a:endParaRPr lang="en-US" sz="1250" dirty="0"/>
          </a:p>
        </p:txBody>
      </p:sp>
      <p:sp>
        <p:nvSpPr>
          <p:cNvPr id="10" name="Shape 8"/>
          <p:cNvSpPr/>
          <p:nvPr/>
        </p:nvSpPr>
        <p:spPr>
          <a:xfrm>
            <a:off x="548640" y="1920240"/>
            <a:ext cx="11091672" cy="3749040"/>
          </a:xfrm>
          <a:prstGeom prst="rect">
            <a:avLst/>
          </a:prstGeom>
          <a:solidFill>
            <a:srgbClr val="F7F8FA"/>
          </a:solidFill>
          <a:ln w="15875">
            <a:solidFill>
              <a:srgbClr val="9AA5B1"/>
            </a:solidFill>
            <a:prstDash val="dash"/>
          </a:ln>
        </p:spPr>
      </p:sp>
      <p:sp>
        <p:nvSpPr>
          <p:cNvPr id="11" name="Text 9"/>
          <p:cNvSpPr txBox="1"/>
          <p:nvPr/>
        </p:nvSpPr>
        <p:spPr>
          <a:xfrm>
            <a:off x="548640" y="1920240"/>
            <a:ext cx="11091672" cy="3749040"/>
          </a:xfrm>
          <a:prstGeom prst="rect">
            <a:avLst/>
          </a:prstGeom>
          <a:noFill/>
          <a:ln/>
        </p:spPr>
        <p:txBody>
          <a:bodyPr wrap="square" lIns="0" tIns="0" rIns="0" bIns="0" rtlCol="0" anchor="ctr"/>
          <a:lstStyle/>
          <a:p>
            <a:pPr algn="ctr" indent="0" marL="0">
              <a:buNone/>
            </a:pPr>
            <a:r>
              <a:rPr lang="en-US" sz="1800" dirty="0">
                <a:solidFill>
                  <a:srgbClr val="9AA5B1"/>
                </a:solidFill>
                <a:latin typeface="Arial" pitchFamily="34" charset="0"/>
                <a:ea typeface="Arial" pitchFamily="34" charset="-122"/>
                <a:cs typeface="Arial" pitchFamily="34" charset="-120"/>
              </a:rPr>
              <a:t>Drop the existing Main Index chart(s) here</a:t>
            </a:r>
            <a:endParaRPr lang="en-US" sz="1800" dirty="0"/>
          </a:p>
        </p:txBody>
      </p:sp>
      <p:sp>
        <p:nvSpPr>
          <p:cNvPr id="12" name="Shape 10"/>
          <p:cNvSpPr/>
          <p:nvPr/>
        </p:nvSpPr>
        <p:spPr>
          <a:xfrm>
            <a:off x="548640" y="5852160"/>
            <a:ext cx="11091672" cy="685800"/>
          </a:xfrm>
          <a:prstGeom prst="rect">
            <a:avLst/>
          </a:prstGeom>
          <a:solidFill>
            <a:srgbClr val="FDF1DE"/>
          </a:solidFill>
          <a:ln w="12700">
            <a:solidFill>
              <a:srgbClr val="FDF1DE"/>
            </a:solidFill>
            <a:prstDash val="solid"/>
          </a:ln>
        </p:spPr>
      </p:sp>
      <p:sp>
        <p:nvSpPr>
          <p:cNvPr id="13" name="Shape 11"/>
          <p:cNvSpPr/>
          <p:nvPr/>
        </p:nvSpPr>
        <p:spPr>
          <a:xfrm>
            <a:off x="548640" y="5852160"/>
            <a:ext cx="64008" cy="685800"/>
          </a:xfrm>
          <a:prstGeom prst="rect">
            <a:avLst/>
          </a:prstGeom>
          <a:solidFill>
            <a:srgbClr val="E58A2B"/>
          </a:solidFill>
          <a:ln w="12700">
            <a:solidFill>
              <a:srgbClr val="E58A2B"/>
            </a:solidFill>
            <a:prstDash val="solid"/>
          </a:ln>
        </p:spPr>
      </p:sp>
      <p:sp>
        <p:nvSpPr>
          <p:cNvPr id="14" name="Text 12"/>
          <p:cNvSpPr txBox="1"/>
          <p:nvPr/>
        </p:nvSpPr>
        <p:spPr>
          <a:xfrm>
            <a:off x="777240" y="5852160"/>
            <a:ext cx="10698480" cy="68580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How to read it: </a:t>
            </a:r>
            <a:pPr indent="0" marL="0">
              <a:buNone/>
            </a:pPr>
            <a:r>
              <a:rPr lang="en-US" sz="1350" dirty="0">
                <a:solidFill>
                  <a:srgbClr val="1F2933"/>
                </a:solidFill>
                <a:latin typeface="Arial" pitchFamily="34" charset="0"/>
                <a:ea typeface="Arial" pitchFamily="34" charset="-122"/>
                <a:cs typeface="Arial" pitchFamily="34" charset="-120"/>
              </a:rPr>
              <a:t>the index is built to lead ISM Manufacturing PMI YoY% by about ten months. Higher readings mean firms are signalling stronger activity ahead.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What transcripts add to our forecasts:</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up to 35 points of out-of-sample R²</a:t>
            </a:r>
            <a:endParaRPr lang="en-US" sz="2600" dirty="0"/>
          </a:p>
        </p:txBody>
      </p:sp>
      <p:graphicFrame>
        <p:nvGraphicFramePr>
          <p:cNvPr id="4" name="Chart 0" descr=""/>
          <p:cNvGraphicFramePr/>
          <p:nvPr/>
        </p:nvGraphicFramePr>
        <p:xfrm>
          <a:off x="548640" y="123444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18120" y="1234440"/>
            <a:ext cx="3822192" cy="594360"/>
          </a:xfrm>
          <a:prstGeom prst="rect">
            <a:avLst/>
          </a:prstGeom>
          <a:noFill/>
          <a:ln/>
        </p:spPr>
        <p:txBody>
          <a:bodyPr wrap="square" lIns="0" tIns="0" rIns="0" bIns="0" rtlCol="0" anchor="t"/>
          <a:lstStyle/>
          <a:p>
            <a:pPr indent="0" marL="0">
              <a:buNone/>
            </a:pPr>
            <a:r>
              <a:rPr lang="en-US" sz="1400" b="1" dirty="0">
                <a:solidFill>
                  <a:srgbClr val="16406F"/>
                </a:solidFill>
                <a:latin typeface="Arial" pitchFamily="34" charset="0"/>
                <a:ea typeface="Arial" pitchFamily="34" charset="-122"/>
                <a:cs typeface="Arial" pitchFamily="34" charset="-120"/>
              </a:rPr>
              <a:t>Added by capex acceleration</a:t>
            </a:r>
            <a:endParaRPr lang="en-US" sz="1400" dirty="0"/>
          </a:p>
          <a:p>
            <a:pPr indent="0" marL="0">
              <a:buNone/>
            </a:pPr>
            <a:r>
              <a:rPr lang="en-US" sz="1100" dirty="0">
                <a:solidFill>
                  <a:srgbClr val="5B6772"/>
                </a:solidFill>
                <a:latin typeface="Arial" pitchFamily="34" charset="0"/>
                <a:ea typeface="Arial" pitchFamily="34" charset="-122"/>
                <a:cs typeface="Arial" pitchFamily="34" charset="-120"/>
              </a:rPr>
              <a:t>on top of AR(2) + ISM level, out-of-sample</a:t>
            </a:r>
            <a:endParaRPr lang="en-US" sz="1400" dirty="0"/>
          </a:p>
        </p:txBody>
      </p:sp>
      <p:sp>
        <p:nvSpPr>
          <p:cNvPr id="6" name="Shape 3"/>
          <p:cNvSpPr/>
          <p:nvPr/>
        </p:nvSpPr>
        <p:spPr>
          <a:xfrm>
            <a:off x="7818120" y="1920240"/>
            <a:ext cx="3822192" cy="1143000"/>
          </a:xfrm>
          <a:prstGeom prst="rect">
            <a:avLst/>
          </a:prstGeom>
          <a:solidFill>
            <a:srgbClr val="F3F5F8"/>
          </a:solidFill>
          <a:ln w="9525">
            <a:solidFill>
              <a:srgbClr val="D5DBE3"/>
            </a:solidFill>
            <a:prstDash val="solid"/>
          </a:ln>
        </p:spPr>
      </p:sp>
      <p:sp>
        <p:nvSpPr>
          <p:cNvPr id="7" name="Text 4"/>
          <p:cNvSpPr txBox="1"/>
          <p:nvPr/>
        </p:nvSpPr>
        <p:spPr>
          <a:xfrm>
            <a:off x="7955280" y="192024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3m</a:t>
            </a:r>
            <a:endParaRPr lang="en-US" sz="2000" dirty="0"/>
          </a:p>
        </p:txBody>
      </p:sp>
      <p:sp>
        <p:nvSpPr>
          <p:cNvPr id="8" name="Text 5"/>
          <p:cNvSpPr txBox="1"/>
          <p:nvPr/>
        </p:nvSpPr>
        <p:spPr>
          <a:xfrm>
            <a:off x="8686800" y="192024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+11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9" name="Text 6"/>
          <p:cNvSpPr txBox="1"/>
          <p:nvPr/>
        </p:nvSpPr>
        <p:spPr>
          <a:xfrm>
            <a:off x="10241280" y="192024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0.52 → 0.63</a:t>
            </a:r>
            <a:endParaRPr lang="en-US" sz="1000" dirty="0"/>
          </a:p>
        </p:txBody>
      </p:sp>
      <p:sp>
        <p:nvSpPr>
          <p:cNvPr id="10" name="Shape 7"/>
          <p:cNvSpPr/>
          <p:nvPr/>
        </p:nvSpPr>
        <p:spPr>
          <a:xfrm>
            <a:off x="7818120" y="3223260"/>
            <a:ext cx="3822192" cy="1143000"/>
          </a:xfrm>
          <a:prstGeom prst="rect">
            <a:avLst/>
          </a:prstGeom>
          <a:solidFill>
            <a:srgbClr val="F3F5F8"/>
          </a:solidFill>
          <a:ln w="9525">
            <a:solidFill>
              <a:srgbClr val="D5DBE3"/>
            </a:solidFill>
            <a:prstDash val="solid"/>
          </a:ln>
        </p:spPr>
      </p:sp>
      <p:sp>
        <p:nvSpPr>
          <p:cNvPr id="11" name="Text 8"/>
          <p:cNvSpPr txBox="1"/>
          <p:nvPr/>
        </p:nvSpPr>
        <p:spPr>
          <a:xfrm>
            <a:off x="7955280" y="322326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6m</a:t>
            </a:r>
            <a:endParaRPr lang="en-US" sz="2000" dirty="0"/>
          </a:p>
        </p:txBody>
      </p:sp>
      <p:sp>
        <p:nvSpPr>
          <p:cNvPr id="12" name="Text 9"/>
          <p:cNvSpPr txBox="1"/>
          <p:nvPr/>
        </p:nvSpPr>
        <p:spPr>
          <a:xfrm>
            <a:off x="8686800" y="322326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3" name="Text 10"/>
          <p:cNvSpPr txBox="1"/>
          <p:nvPr/>
        </p:nvSpPr>
        <p:spPr>
          <a:xfrm>
            <a:off x="10241280" y="322326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0.39 → 0.70</a:t>
            </a:r>
            <a:endParaRPr lang="en-US" sz="1000" dirty="0"/>
          </a:p>
        </p:txBody>
      </p:sp>
      <p:sp>
        <p:nvSpPr>
          <p:cNvPr id="14" name="Shape 11"/>
          <p:cNvSpPr/>
          <p:nvPr/>
        </p:nvSpPr>
        <p:spPr>
          <a:xfrm>
            <a:off x="7818120" y="4526280"/>
            <a:ext cx="3822192" cy="1143000"/>
          </a:xfrm>
          <a:prstGeom prst="rect">
            <a:avLst/>
          </a:prstGeom>
          <a:solidFill>
            <a:srgbClr val="FCE8CC"/>
          </a:solidFill>
          <a:ln w="15875">
            <a:solidFill>
              <a:srgbClr val="E58A2B"/>
            </a:solidFill>
            <a:prstDash val="solid"/>
          </a:ln>
        </p:spPr>
      </p:sp>
      <p:sp>
        <p:nvSpPr>
          <p:cNvPr id="15" name="Text 12"/>
          <p:cNvSpPr txBox="1"/>
          <p:nvPr/>
        </p:nvSpPr>
        <p:spPr>
          <a:xfrm>
            <a:off x="7955280" y="452628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10m</a:t>
            </a:r>
            <a:endParaRPr lang="en-US" sz="2000" dirty="0"/>
          </a:p>
        </p:txBody>
      </p:sp>
      <p:sp>
        <p:nvSpPr>
          <p:cNvPr id="16" name="Text 13"/>
          <p:cNvSpPr txBox="1"/>
          <p:nvPr/>
        </p:nvSpPr>
        <p:spPr>
          <a:xfrm>
            <a:off x="8686800" y="452628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+35</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7" name="Text 14"/>
          <p:cNvSpPr txBox="1"/>
          <p:nvPr/>
        </p:nvSpPr>
        <p:spPr>
          <a:xfrm>
            <a:off x="10241280" y="452628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0.34 → 0.69</a:t>
            </a:r>
            <a:endParaRPr lang="en-US" sz="1000" dirty="0"/>
          </a:p>
        </p:txBody>
      </p:sp>
      <p:sp>
        <p:nvSpPr>
          <p:cNvPr id="18" name="Shape 15"/>
          <p:cNvSpPr/>
          <p:nvPr/>
        </p:nvSpPr>
        <p:spPr>
          <a:xfrm>
            <a:off x="548640" y="5806440"/>
            <a:ext cx="11091672" cy="566928"/>
          </a:xfrm>
          <a:prstGeom prst="rect">
            <a:avLst/>
          </a:prstGeom>
          <a:solidFill>
            <a:srgbClr val="FDF1DE"/>
          </a:solidFill>
          <a:ln w="12700">
            <a:solidFill>
              <a:srgbClr val="FDF1DE"/>
            </a:solidFill>
            <a:prstDash val="solid"/>
          </a:ln>
        </p:spPr>
      </p:sp>
      <p:sp>
        <p:nvSpPr>
          <p:cNvPr id="19" name="Shape 16"/>
          <p:cNvSpPr/>
          <p:nvPr/>
        </p:nvSpPr>
        <p:spPr>
          <a:xfrm>
            <a:off x="548640" y="5806440"/>
            <a:ext cx="64008" cy="566928"/>
          </a:xfrm>
          <a:prstGeom prst="rect">
            <a:avLst/>
          </a:prstGeom>
          <a:solidFill>
            <a:srgbClr val="E58A2B"/>
          </a:solidFill>
          <a:ln w="12700">
            <a:solidFill>
              <a:srgbClr val="E58A2B"/>
            </a:solidFill>
            <a:prstDash val="solid"/>
          </a:ln>
        </p:spPr>
      </p:sp>
      <p:sp>
        <p:nvSpPr>
          <p:cNvPr id="20" name="Text 17"/>
          <p:cNvSpPr txBox="1"/>
          <p:nvPr/>
        </p:nvSpPr>
        <p:spPr>
          <a:xfrm>
            <a:off x="777240" y="5806440"/>
            <a:ext cx="10698480" cy="566928"/>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at the 10-month horizon, adding the transcript-derived capex acceleration signal lifts out-of-sample R² from 0.34 to 0.69, cuts RMSE from 9.78 to 6.72 and raises correlation from 0.62 to 0.83.</a:t>
            </a:r>
            <a:endParaRPr lang="en-US" sz="1350" dirty="0"/>
          </a:p>
        </p:txBody>
      </p:sp>
      <p:sp>
        <p:nvSpPr>
          <p:cNvPr id="21" name="Text 18"/>
          <p:cNvSpPr txBox="1"/>
          <p:nvPr/>
        </p:nvSpPr>
        <p:spPr>
          <a:xfrm>
            <a:off x="548640" y="640080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Expanding-window OLS forecasts of ISM Mfg PMI YoY% (N = 133 at 10m). Added = model with capex acceleration minus AR(2)+ISM. Capex acceleration = inverted share of firms accelerating capex (1 − x), 24-month 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Release Watcher - new slides (collated)</dc:title>
  <dc:subject>PptxGenJS Presentation</dc:subject>
  <dc:creator>PptxGenJS</dc:creator>
  <cp:lastModifiedBy>PptxGenJS</cp:lastModifiedBy>
  <cp:revision>1</cp:revision>
  <dcterms:created xsi:type="dcterms:W3CDTF">2026-10-12T19:02:42Z</dcterms:created>
  <dcterms:modified xsi:type="dcterms:W3CDTF">2026-10-12T19:02:42Z</dcterms:modified>
</cp:coreProperties>
</file>