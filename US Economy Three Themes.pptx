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RBC's core 2026 narrative, restated in the September Executive Briefing: a resilient high-income consumer, a solid labor market, generous fiscal spending and an AI-powered investment boom. The April briefing says the US is still likely to produce the strongest growth in the G7 in 2026. The June briefing notes the consumer accounts for nearly two-thirds of US GDP. The September briefing says nearly 20% of US income comes from government transfers, and that without the AI investment boost US growth would have run about half as fast in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shocks. Energy prices from the Middle East conflict (April briefing: headline inflation above 3%), tariff pass-through now visible in producer and consumer prices, and the Fed's first hike in three years in September, with two more expected this year. Right: what is still standing. Unemployment fell from 4.3% to 4.1% over the summer, underlying growth is slightly above 2%, and payrolls are averaging about 80,000 a month after only 10,000 a month in 2025. The columns are not paired one-to-one. The point is the contrast between the pile of shocks and the resilience of the aggregates.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RBC's estimate of break-even job growth has fallen to about 20,000 a month because of record retirements and slower immigration, while the US is now averaging about 80,000 a month (September briefing). Bar lengths are drawn in proportion to those two numbers. Right: the April briefing frames the economy as growing on the back of productivity rather than hiring, and says the AI-driven productivity surge is probably still ahead. The September briefing flags the dependency: without the AI investment boost, US GDP growth would have run about half as fast in 2026, under 1.0% in the first half. The right-hand bars are illustrative of that half-as-fast comparison, not of exact growth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ends of the age curve. The retired population reached 52.8 million in 2025, up from 39.6 million in 2015, and retirements topped 1.7 million in 2025 (America needs workers, not jobs, June 2025). On the other end, about 22% of 25-to-35-year-olds, roughly 10 million people, were living with a parent, grandparent or parent-in-law in 2025 (How much housing demand in the US still lives at home?, September 2026). The circle areas are drawn to scale with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retirements topped 1.7 million in 2025 versus about 1.2 million a year between the financial crisis and the pandemic. Baby Boomers hold nearly $75 trillion of wealth, spend out of savings rather than labor income, and weight spending toward services, particularly health care. Social Security supports over 57 million beneficiaries and is inflation adjusted, with a 2027 COLA of 3.5% expected; the September briefing flags that if inflation cools while COLAs stay elevated, benefits meant to support retirees could fuel broader price pressure. Bottom band: the ratio of retirees to unemployed new entrants was roughly 1-to-1 between 1970 and 2010 and has risen to nearly 3-to-1 since, which means retirements are creating job openings for people looking for work. Person icons are a pictogram of those ratios.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RBC's September 22 piece. About 22% of 25-to-35-year-olds lived with a parent, grandparent or parent-in-law in 2025, roughly 10 million people. The dot grid shows that share as 22 of every 100: 20 blue dots stay at home and 2 yellow dots are the people who would move out if a normalizing entry-level job market pulled the share down by 2 percentage points. RBC estimates that would create about 675,000 units of incremental housing demand, split roughly 66/34 between rental and owner. That is more renter-heavy than recent household growth, which was about 63% owner. The rental market can absorb it, with vacancy at 7.3%, the highest since 2019. What holds household formation back: housing costs up about 36% since 2019 against 35% for young-adult weekly earnings, unemployment for recent graduates well above 5% versus 4.1% overall, and mortgage rates that went from a record-low 2.96% average in 2021 to a mid-6% range. Propensity increases across all subgroups explain 71% of the weakness between 2006 and 2019, so affordability and financing, not marriage patterns, are the dominant drivers.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RBC's K-shape thesis. The top 10 to 20% of income earners, flush with appreciating liquid assets, are driving consumption growth. The bottom 80% hold minimal financial reserves, and real wages have been trending negative since April, particularly for low and middle-income households. RBC's June briefing says the K-shape is still in effect and likely widening, and its November 2025 analysis says apparent consumer strength is largely an illusion created by the top of the K, and that consumer sentiment has weakened as a predictor of aggregate consumption.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bar: RBC's November 2025 analysis says the top 20% of households hold about 87% of directly and indirectly held corporate equities, which makes a stock market correction a bigger risk to growth than weakness at the bottom of the K. The top 10% poured roughly $30 trillion into liquid, income-generating assets since 2020, six times more than any other group, whose cumulative flows peaked near $5 trillion. Bottom of the K: wages are the main income source for low and mid-income households, whereas the top 10% draw more from dividends, rent and interest. Real wages have trended negative since April, the savings rate fell to 2.6% in April (June briefing), and non-mortgage personal interest payments consume 2.5% of disposable income, near the 2.8% threshold that preceded the three pre-COVID recessions (September briefing). The 87/13 bar is drawn to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Households at the top of the K spend from asset income and are less affected by inflation, so their behavior is tied to equity markets; RBC sees a stock market correction as the bigger threat to growth. Households at the bottom face negative real wages and cumulative price increases of about 27% since 2019 (November 2025 analysis), and the options are to draw down savings, borrow more or trade down and cut back. RBC's June briefing adds that the new measure of consumer health is not whether someone has a job, but whether they work enough hours and earn enough to cover the cost of living. For businesses and policymakers, the average growth outlook can understate the strength of the high-end consumer and overstate the strength of the average American.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6F9"/>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31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0A2240"/>
                </a:solidFill>
                <a:latin typeface="Public Sans" pitchFamily="34" charset="0"/>
                <a:ea typeface="Public Sans" pitchFamily="34" charset="-122"/>
                <a:cs typeface="Public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04950"/>
            <a:ext cx="10566400" cy="4140250"/>
          </a:xfrm>
          <a:prstGeom prst="rect">
            <a:avLst/>
          </a:prstGeom>
          <a:noFill/>
          <a:ln/>
        </p:spPr>
        <p:txBody>
          <a:bodyPr wrap="square" lIns="0" tIns="0" rIns="0" bIns="0" rtlCol="0" anchor="t"/>
          <a:lstStyle>
            <a:lvl1pPr algn="l" indent="0" marL="0">
              <a:lnSpc>
                <a:spcPct val="140000"/>
              </a:lnSpc>
              <a:buNone/>
              <a:defRPr lang="en-US" sz="1600" dirty="0">
                <a:solidFill>
                  <a:srgbClr val="0A2240"/>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6F9"/>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31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0A2240"/>
                </a:solidFill>
                <a:latin typeface="Public Sans" pitchFamily="34" charset="0"/>
                <a:ea typeface="Public Sans" pitchFamily="34" charset="-122"/>
                <a:cs typeface="Public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04950"/>
            <a:ext cx="10566400" cy="4140250"/>
          </a:xfrm>
          <a:prstGeom prst="rect">
            <a:avLst/>
          </a:prstGeom>
          <a:noFill/>
          <a:ln/>
        </p:spPr>
        <p:txBody>
          <a:bodyPr wrap="square" lIns="0" tIns="0" rIns="0" bIns="0" rtlCol="0" anchor="t"/>
          <a:lstStyle>
            <a:lvl1pPr algn="l" indent="0" marL="0">
              <a:lnSpc>
                <a:spcPct val="140000"/>
              </a:lnSpc>
              <a:buNone/>
              <a:defRPr lang="en-US" sz="1600" dirty="0">
                <a:solidFill>
                  <a:srgbClr val="0A2240"/>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240"/>
        </a:solidFill>
      </p:bgPr>
    </p:bg>
    <p:spTree>
      <p:nvGrpSpPr>
        <p:cNvPr id="1" name=""/>
        <p:cNvGrpSpPr/>
        <p:nvPr/>
      </p:nvGrpSpPr>
      <p:grpSpPr>
        <a:xfrm>
          <a:off x="0" y="0"/>
          <a:ext cx="0" cy="0"/>
          <a:chOff x="0" y="0"/>
          <a:chExt cx="0" cy="0"/>
        </a:xfrm>
      </p:grpSpPr>
      <p:sp>
        <p:nvSpPr>
          <p:cNvPr id="2" name="Text 0"/>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4CA"/>
                </a:solidFill>
                <a:latin typeface="Public Sans" pitchFamily="34" charset="0"/>
                <a:ea typeface="Public Sans" pitchFamily="34" charset="-122"/>
                <a:cs typeface="Public Sans" pitchFamily="34" charset="-120"/>
              </a:rPr>
              <a:t>RBC Economics, US Executive Briefings (Apr, Jun, Sep 2026)</a:t>
            </a:r>
            <a:endParaRPr lang="en-US" sz="1200" dirty="0"/>
          </a:p>
        </p:txBody>
      </p:sp>
      <p:sp>
        <p:nvSpPr>
          <p:cNvPr id="3" name="Text 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4CA"/>
                </a:solidFill>
                <a:latin typeface="Public Sans" pitchFamily="34" charset="0"/>
                <a:ea typeface="Public Sans" pitchFamily="34" charset="-122"/>
                <a:cs typeface="Public Sans" pitchFamily="34" charset="-120"/>
              </a:rPr>
              <a:t>1</a:t>
            </a:r>
            <a:endParaRPr lang="en-US" sz="1200" dirty="0"/>
          </a:p>
        </p:txBody>
      </p:sp>
      <p:sp>
        <p:nvSpPr>
          <p:cNvPr id="4" name="Shape 2"/>
          <p:cNvSpPr/>
          <p:nvPr/>
        </p:nvSpPr>
        <p:spPr>
          <a:xfrm>
            <a:off x="812800" y="894060"/>
            <a:ext cx="355600" cy="50800"/>
          </a:xfrm>
          <a:prstGeom prst="rect">
            <a:avLst/>
          </a:prstGeom>
          <a:solidFill>
            <a:srgbClr val="FFDD00"/>
          </a:solidFill>
          <a:ln/>
        </p:spPr>
      </p:sp>
      <p:sp>
        <p:nvSpPr>
          <p:cNvPr id="5" name="Text 3"/>
          <p:cNvSpPr/>
          <p:nvPr/>
        </p:nvSpPr>
        <p:spPr>
          <a:xfrm>
            <a:off x="1295400" y="812800"/>
            <a:ext cx="228403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DD00"/>
                </a:solidFill>
                <a:latin typeface="Public Sans" pitchFamily="34" charset="0"/>
                <a:ea typeface="Public Sans" pitchFamily="34" charset="-122"/>
                <a:cs typeface="Public Sans" pitchFamily="34" charset="-120"/>
              </a:rPr>
              <a:t>01 · THE US ECONOMY</a:t>
            </a:r>
            <a:endParaRPr lang="en-US" sz="1200" dirty="0"/>
          </a:p>
        </p:txBody>
      </p:sp>
      <p:sp>
        <p:nvSpPr>
          <p:cNvPr id="6" name="Text 4"/>
          <p:cNvSpPr/>
          <p:nvPr>
            <p:ph type="title"/>
          </p:nvPr>
        </p:nvSpPr>
        <p:spPr>
          <a:xfrm>
            <a:off x="812800" y="1203920"/>
            <a:ext cx="4578350" cy="103118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6F9"/>
                </a:solidFill>
                <a:latin typeface="Public Sans" pitchFamily="34" charset="0"/>
                <a:ea typeface="Public Sans" pitchFamily="34" charset="-122"/>
                <a:cs typeface="Public Sans" pitchFamily="34" charset="-120"/>
              </a:rPr>
              <a:t>Don’t bet against the US economy</a:t>
            </a:r>
            <a:endParaRPr lang="en-US" sz="3600" dirty="0"/>
          </a:p>
        </p:txBody>
      </p:sp>
      <p:sp>
        <p:nvSpPr>
          <p:cNvPr id="7" name="Text 5"/>
          <p:cNvSpPr/>
          <p:nvPr/>
        </p:nvSpPr>
        <p:spPr>
          <a:xfrm>
            <a:off x="812800" y="2387501"/>
            <a:ext cx="457835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8E8"/>
                </a:solidFill>
                <a:latin typeface="Public Sans" pitchFamily="34" charset="0"/>
                <a:ea typeface="Public Sans" pitchFamily="34" charset="-122"/>
                <a:cs typeface="Public Sans" pitchFamily="34" charset="-120"/>
              </a:rPr>
              <a:t>RBC expects the US to post the strongest growth in the G7 in 2026, held up by four supports.</a:t>
            </a:r>
            <a:endParaRPr lang="en-US" sz="1400" dirty="0"/>
          </a:p>
        </p:txBody>
      </p:sp>
      <p:pic>
        <p:nvPicPr>
          <p:cNvPr id="8" name="Image 0" descr="A temple roof sitting on four pillars">    </p:cNvPr>
          <p:cNvPicPr>
            <a:picLocks noChangeAspect="1"/>
          </p:cNvPicPr>
          <p:nvPr/>
        </p:nvPicPr>
        <p:blipFill>
          <a:blip r:embed="rId1"/>
          <a:srcRect l="0" r="0" t="0" b="0"/>
          <a:stretch/>
        </p:blipFill>
        <p:spPr>
          <a:xfrm>
            <a:off x="5664200" y="812800"/>
            <a:ext cx="5334000" cy="952500"/>
          </a:xfrm>
          <a:prstGeom prst="rect">
            <a:avLst/>
          </a:prstGeom>
        </p:spPr>
      </p:pic>
      <p:sp>
        <p:nvSpPr>
          <p:cNvPr id="9" name="Text 6"/>
          <p:cNvSpPr/>
          <p:nvPr/>
        </p:nvSpPr>
        <p:spPr>
          <a:xfrm>
            <a:off x="6696075" y="1206500"/>
            <a:ext cx="3270250" cy="34543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0A2240"/>
                </a:solidFill>
                <a:latin typeface="Public Sans" pitchFamily="34" charset="0"/>
                <a:ea typeface="Public Sans" pitchFamily="34" charset="-122"/>
                <a:cs typeface="Public Sans" pitchFamily="34" charset="-120"/>
              </a:rPr>
              <a:t>Growth above 2%</a:t>
            </a:r>
            <a:endParaRPr lang="en-US" sz="1800" dirty="0"/>
          </a:p>
        </p:txBody>
      </p:sp>
      <p:sp>
        <p:nvSpPr>
          <p:cNvPr id="10" name="Text 7"/>
          <p:cNvSpPr/>
          <p:nvPr/>
        </p:nvSpPr>
        <p:spPr>
          <a:xfrm>
            <a:off x="6696075" y="1485900"/>
            <a:ext cx="327025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A2240"/>
                </a:solidFill>
                <a:latin typeface="Public Sans" pitchFamily="34" charset="0"/>
                <a:ea typeface="Public Sans" pitchFamily="34" charset="-122"/>
                <a:cs typeface="Public Sans" pitchFamily="34" charset="-120"/>
              </a:rPr>
              <a:t>G7’s strongest in 2026</a:t>
            </a:r>
            <a:endParaRPr lang="en-US" sz="1200" dirty="0"/>
          </a:p>
        </p:txBody>
      </p:sp>
      <p:sp>
        <p:nvSpPr>
          <p:cNvPr id="11" name="Shape 8"/>
          <p:cNvSpPr/>
          <p:nvPr/>
        </p:nvSpPr>
        <p:spPr>
          <a:xfrm>
            <a:off x="5664200" y="1765300"/>
            <a:ext cx="5334000" cy="127000"/>
          </a:xfrm>
          <a:prstGeom prst="rect">
            <a:avLst/>
          </a:prstGeom>
          <a:solidFill>
            <a:srgbClr val="9CC3E6"/>
          </a:solidFill>
          <a:ln/>
        </p:spPr>
      </p:sp>
      <p:sp>
        <p:nvSpPr>
          <p:cNvPr id="12" name="Shape 9"/>
          <p:cNvSpPr/>
          <p:nvPr/>
        </p:nvSpPr>
        <p:spPr>
          <a:xfrm>
            <a:off x="7080250" y="1892300"/>
            <a:ext cx="1206500" cy="2984500"/>
          </a:xfrm>
          <a:prstGeom prst="rect">
            <a:avLst/>
          </a:prstGeom>
          <a:solidFill>
            <a:srgbClr val="005DAA"/>
          </a:solidFill>
          <a:ln/>
        </p:spPr>
      </p:sp>
      <p:pic>
        <p:nvPicPr>
          <p:cNvPr id="13" name="Image 1" descr="Users">    </p:cNvPr>
          <p:cNvPicPr>
            <a:picLocks noChangeAspect="1"/>
          </p:cNvPicPr>
          <p:nvPr/>
        </p:nvPicPr>
        <p:blipFill>
          <a:blip r:embed="rId2"/>
          <a:srcRect l="0" r="0" t="0" b="0"/>
          <a:stretch/>
        </p:blipFill>
        <p:spPr>
          <a:xfrm>
            <a:off x="7505700" y="2070100"/>
            <a:ext cx="355600" cy="355600"/>
          </a:xfrm>
          <a:prstGeom prst="rect">
            <a:avLst/>
          </a:prstGeom>
        </p:spPr>
      </p:pic>
      <p:sp>
        <p:nvSpPr>
          <p:cNvPr id="14" name="Text 10"/>
          <p:cNvSpPr/>
          <p:nvPr/>
        </p:nvSpPr>
        <p:spPr>
          <a:xfrm>
            <a:off x="7118350" y="2501900"/>
            <a:ext cx="1130300" cy="52318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4F6F9"/>
                </a:solidFill>
                <a:latin typeface="Public Sans" pitchFamily="34" charset="0"/>
                <a:ea typeface="Public Sans" pitchFamily="34" charset="-122"/>
                <a:cs typeface="Public Sans" pitchFamily="34" charset="-120"/>
              </a:rPr>
              <a:t>Tight labor market</a:t>
            </a:r>
            <a:endParaRPr lang="en-US" sz="1400" dirty="0"/>
          </a:p>
        </p:txBody>
      </p:sp>
      <p:sp>
        <p:nvSpPr>
          <p:cNvPr id="15" name="Text 11"/>
          <p:cNvSpPr/>
          <p:nvPr/>
        </p:nvSpPr>
        <p:spPr>
          <a:xfrm>
            <a:off x="7110095" y="3858320"/>
            <a:ext cx="1146810" cy="431800"/>
          </a:xfrm>
          <a:prstGeom prst="rect">
            <a:avLst/>
          </a:prstGeom>
          <a:noFill/>
          <a:ln/>
        </p:spPr>
        <p:txBody>
          <a:bodyPr wrap="square" lIns="0" tIns="0" rIns="0" bIns="0" rtlCol="0" anchor="t">
            <a:normAutofit/>
          </a:bodyPr>
          <a:lstStyle/>
          <a:p>
            <a:pPr algn="ctr" indent="0" marL="0">
              <a:lnSpc>
                <a:spcPts val="3200"/>
              </a:lnSpc>
              <a:buNone/>
            </a:pPr>
            <a:r>
              <a:rPr lang="en-US" sz="3200" b="1" dirty="0">
                <a:solidFill>
                  <a:srgbClr val="FFDD00"/>
                </a:solidFill>
                <a:latin typeface="Public Sans" pitchFamily="34" charset="0"/>
                <a:ea typeface="Public Sans" pitchFamily="34" charset="-122"/>
                <a:cs typeface="Public Sans" pitchFamily="34" charset="-120"/>
              </a:rPr>
              <a:t>4.1%</a:t>
            </a:r>
            <a:endParaRPr lang="en-US" sz="3200" dirty="0"/>
          </a:p>
        </p:txBody>
      </p:sp>
      <p:sp>
        <p:nvSpPr>
          <p:cNvPr id="16" name="Text 12"/>
          <p:cNvSpPr/>
          <p:nvPr/>
        </p:nvSpPr>
        <p:spPr>
          <a:xfrm>
            <a:off x="7118350" y="4302820"/>
            <a:ext cx="1130300" cy="42158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C9D8E8"/>
                </a:solidFill>
                <a:latin typeface="Public Sans" pitchFamily="34" charset="0"/>
                <a:ea typeface="Public Sans" pitchFamily="34" charset="-122"/>
                <a:cs typeface="Public Sans" pitchFamily="34" charset="-120"/>
              </a:rPr>
              <a:t>unemployment rate</a:t>
            </a:r>
            <a:endParaRPr lang="en-US" sz="1200" dirty="0"/>
          </a:p>
        </p:txBody>
      </p:sp>
      <p:sp>
        <p:nvSpPr>
          <p:cNvPr id="17" name="Shape 13"/>
          <p:cNvSpPr/>
          <p:nvPr/>
        </p:nvSpPr>
        <p:spPr>
          <a:xfrm>
            <a:off x="8432800" y="1892300"/>
            <a:ext cx="1206500" cy="2984500"/>
          </a:xfrm>
          <a:prstGeom prst="rect">
            <a:avLst/>
          </a:prstGeom>
          <a:solidFill>
            <a:srgbClr val="005DAA"/>
          </a:solidFill>
          <a:ln/>
        </p:spPr>
      </p:sp>
      <p:pic>
        <p:nvPicPr>
          <p:cNvPr id="18" name="Image 2" descr="Chart">    </p:cNvPr>
          <p:cNvPicPr>
            <a:picLocks noChangeAspect="1"/>
          </p:cNvPicPr>
          <p:nvPr/>
        </p:nvPicPr>
        <p:blipFill>
          <a:blip r:embed="rId3"/>
          <a:srcRect l="0" r="0" t="0" b="0"/>
          <a:stretch/>
        </p:blipFill>
        <p:spPr>
          <a:xfrm>
            <a:off x="8858250" y="2070100"/>
            <a:ext cx="355600" cy="355600"/>
          </a:xfrm>
          <a:prstGeom prst="rect">
            <a:avLst/>
          </a:prstGeom>
        </p:spPr>
      </p:pic>
      <p:sp>
        <p:nvSpPr>
          <p:cNvPr id="19" name="Text 14"/>
          <p:cNvSpPr/>
          <p:nvPr/>
        </p:nvSpPr>
        <p:spPr>
          <a:xfrm>
            <a:off x="8470900" y="2501900"/>
            <a:ext cx="1130300" cy="52318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4F6F9"/>
                </a:solidFill>
                <a:latin typeface="Public Sans" pitchFamily="34" charset="0"/>
                <a:ea typeface="Public Sans" pitchFamily="34" charset="-122"/>
                <a:cs typeface="Public Sans" pitchFamily="34" charset="-120"/>
              </a:rPr>
              <a:t>Fiscal support</a:t>
            </a:r>
            <a:endParaRPr lang="en-US" sz="1400" dirty="0"/>
          </a:p>
        </p:txBody>
      </p:sp>
      <p:sp>
        <p:nvSpPr>
          <p:cNvPr id="20" name="Text 15"/>
          <p:cNvSpPr/>
          <p:nvPr/>
        </p:nvSpPr>
        <p:spPr>
          <a:xfrm>
            <a:off x="8421539" y="3660229"/>
            <a:ext cx="1229023" cy="431800"/>
          </a:xfrm>
          <a:prstGeom prst="rect">
            <a:avLst/>
          </a:prstGeom>
          <a:noFill/>
          <a:ln/>
        </p:spPr>
        <p:txBody>
          <a:bodyPr wrap="square" lIns="0" tIns="0" rIns="0" bIns="0" rtlCol="0" anchor="t">
            <a:normAutofit/>
          </a:bodyPr>
          <a:lstStyle/>
          <a:p>
            <a:pPr algn="ctr" indent="0" marL="0">
              <a:lnSpc>
                <a:spcPts val="3200"/>
              </a:lnSpc>
              <a:buNone/>
            </a:pPr>
            <a:r>
              <a:rPr lang="en-US" sz="3200" b="1" dirty="0">
                <a:solidFill>
                  <a:srgbClr val="FFDD00"/>
                </a:solidFill>
                <a:latin typeface="Public Sans" pitchFamily="34" charset="0"/>
                <a:ea typeface="Public Sans" pitchFamily="34" charset="-122"/>
                <a:cs typeface="Public Sans" pitchFamily="34" charset="-120"/>
              </a:rPr>
              <a:t>~20%</a:t>
            </a:r>
            <a:endParaRPr lang="en-US" sz="3200" dirty="0"/>
          </a:p>
        </p:txBody>
      </p:sp>
      <p:sp>
        <p:nvSpPr>
          <p:cNvPr id="21" name="Text 16"/>
          <p:cNvSpPr/>
          <p:nvPr/>
        </p:nvSpPr>
        <p:spPr>
          <a:xfrm>
            <a:off x="8421539" y="4104729"/>
            <a:ext cx="1229023" cy="619671"/>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C9D8E8"/>
                </a:solidFill>
                <a:latin typeface="Public Sans" pitchFamily="34" charset="0"/>
                <a:ea typeface="Public Sans" pitchFamily="34" charset="-122"/>
                <a:cs typeface="Public Sans" pitchFamily="34" charset="-120"/>
              </a:rPr>
              <a:t>of US income is government transfers</a:t>
            </a:r>
            <a:endParaRPr lang="en-US" sz="1200" dirty="0"/>
          </a:p>
        </p:txBody>
      </p:sp>
      <p:sp>
        <p:nvSpPr>
          <p:cNvPr id="22" name="Shape 17"/>
          <p:cNvSpPr/>
          <p:nvPr/>
        </p:nvSpPr>
        <p:spPr>
          <a:xfrm>
            <a:off x="9785350" y="1892300"/>
            <a:ext cx="1206500" cy="2984500"/>
          </a:xfrm>
          <a:prstGeom prst="rect">
            <a:avLst/>
          </a:prstGeom>
          <a:solidFill>
            <a:srgbClr val="005DAA"/>
          </a:solidFill>
          <a:ln/>
        </p:spPr>
      </p:sp>
      <p:pic>
        <p:nvPicPr>
          <p:cNvPr id="23" name="Image 3" descr="Lightning">    </p:cNvPr>
          <p:cNvPicPr>
            <a:picLocks noChangeAspect="1"/>
          </p:cNvPicPr>
          <p:nvPr/>
        </p:nvPicPr>
        <p:blipFill>
          <a:blip r:embed="rId4"/>
          <a:srcRect l="0" r="0" t="0" b="0"/>
          <a:stretch/>
        </p:blipFill>
        <p:spPr>
          <a:xfrm>
            <a:off x="10210800" y="2070100"/>
            <a:ext cx="355600" cy="355600"/>
          </a:xfrm>
          <a:prstGeom prst="rect">
            <a:avLst/>
          </a:prstGeom>
        </p:spPr>
      </p:pic>
      <p:sp>
        <p:nvSpPr>
          <p:cNvPr id="24" name="Text 18"/>
          <p:cNvSpPr/>
          <p:nvPr/>
        </p:nvSpPr>
        <p:spPr>
          <a:xfrm>
            <a:off x="9823450" y="2501900"/>
            <a:ext cx="1130300" cy="52318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4F6F9"/>
                </a:solidFill>
                <a:latin typeface="Public Sans" pitchFamily="34" charset="0"/>
                <a:ea typeface="Public Sans" pitchFamily="34" charset="-122"/>
                <a:cs typeface="Public Sans" pitchFamily="34" charset="-120"/>
              </a:rPr>
              <a:t>AI investment</a:t>
            </a:r>
            <a:endParaRPr lang="en-US" sz="1400" dirty="0"/>
          </a:p>
        </p:txBody>
      </p:sp>
      <p:sp>
        <p:nvSpPr>
          <p:cNvPr id="25" name="Text 19"/>
          <p:cNvSpPr/>
          <p:nvPr/>
        </p:nvSpPr>
        <p:spPr>
          <a:xfrm>
            <a:off x="9872285" y="3858320"/>
            <a:ext cx="1032629" cy="431800"/>
          </a:xfrm>
          <a:prstGeom prst="rect">
            <a:avLst/>
          </a:prstGeom>
          <a:noFill/>
          <a:ln/>
        </p:spPr>
        <p:txBody>
          <a:bodyPr wrap="square" lIns="0" tIns="0" rIns="0" bIns="0" rtlCol="0" anchor="t">
            <a:normAutofit/>
          </a:bodyPr>
          <a:lstStyle/>
          <a:p>
            <a:pPr algn="ctr" indent="0" marL="0">
              <a:lnSpc>
                <a:spcPts val="3200"/>
              </a:lnSpc>
              <a:buNone/>
            </a:pPr>
            <a:r>
              <a:rPr lang="en-US" sz="3200" b="1" dirty="0">
                <a:solidFill>
                  <a:srgbClr val="FFDD00"/>
                </a:solidFill>
                <a:latin typeface="Public Sans" pitchFamily="34" charset="0"/>
                <a:ea typeface="Public Sans" pitchFamily="34" charset="-122"/>
                <a:cs typeface="Public Sans" pitchFamily="34" charset="-120"/>
              </a:rPr>
              <a:t>~1/2</a:t>
            </a:r>
            <a:endParaRPr lang="en-US" sz="3200" dirty="0"/>
          </a:p>
        </p:txBody>
      </p:sp>
      <p:sp>
        <p:nvSpPr>
          <p:cNvPr id="26" name="Text 20"/>
          <p:cNvSpPr/>
          <p:nvPr/>
        </p:nvSpPr>
        <p:spPr>
          <a:xfrm>
            <a:off x="9823450" y="4302820"/>
            <a:ext cx="1130300" cy="42158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C9D8E8"/>
                </a:solidFill>
                <a:latin typeface="Public Sans" pitchFamily="34" charset="0"/>
                <a:ea typeface="Public Sans" pitchFamily="34" charset="-122"/>
                <a:cs typeface="Public Sans" pitchFamily="34" charset="-120"/>
              </a:rPr>
              <a:t>the growth pace without it</a:t>
            </a:r>
            <a:endParaRPr lang="en-US" sz="1200" dirty="0"/>
          </a:p>
        </p:txBody>
      </p:sp>
      <p:sp>
        <p:nvSpPr>
          <p:cNvPr id="27" name="Shape 21"/>
          <p:cNvSpPr/>
          <p:nvPr/>
        </p:nvSpPr>
        <p:spPr>
          <a:xfrm>
            <a:off x="5664200" y="4876800"/>
            <a:ext cx="5334000" cy="152400"/>
          </a:xfrm>
          <a:prstGeom prst="rect">
            <a:avLst/>
          </a:prstGeom>
          <a:solidFill>
            <a:srgbClr val="9CC3E6"/>
          </a:solidFill>
          <a:ln/>
        </p:spPr>
      </p:sp>
      <p:sp>
        <p:nvSpPr>
          <p:cNvPr id="28" name="Shape 22"/>
          <p:cNvSpPr/>
          <p:nvPr/>
        </p:nvSpPr>
        <p:spPr>
          <a:xfrm>
            <a:off x="5664200" y="5029200"/>
            <a:ext cx="5334000" cy="152400"/>
          </a:xfrm>
          <a:prstGeom prst="rect">
            <a:avLst/>
          </a:prstGeom>
          <a:solidFill>
            <a:srgbClr val="5C9BD6"/>
          </a:solidFill>
          <a:ln/>
        </p:spPr>
      </p:sp>
      <p:sp>
        <p:nvSpPr>
          <p:cNvPr id="29" name="Shape 23"/>
          <p:cNvSpPr/>
          <p:nvPr/>
        </p:nvSpPr>
        <p:spPr>
          <a:xfrm>
            <a:off x="5671592" y="1870918"/>
            <a:ext cx="1206500" cy="2984500"/>
          </a:xfrm>
          <a:prstGeom prst="rect">
            <a:avLst/>
          </a:prstGeom>
          <a:solidFill>
            <a:srgbClr val="005DAA"/>
          </a:solidFill>
          <a:ln/>
        </p:spPr>
      </p:sp>
      <p:pic>
        <p:nvPicPr>
          <p:cNvPr id="30" name="Image 4" descr="Star">    </p:cNvPr>
          <p:cNvPicPr>
            <a:picLocks noChangeAspect="1"/>
          </p:cNvPicPr>
          <p:nvPr/>
        </p:nvPicPr>
        <p:blipFill>
          <a:blip r:embed="rId5"/>
          <a:srcRect l="0" r="0" t="0" b="0"/>
          <a:stretch/>
        </p:blipFill>
        <p:spPr>
          <a:xfrm>
            <a:off x="6097042" y="2048718"/>
            <a:ext cx="355600" cy="355600"/>
          </a:xfrm>
          <a:prstGeom prst="rect">
            <a:avLst/>
          </a:prstGeom>
        </p:spPr>
      </p:pic>
      <p:sp>
        <p:nvSpPr>
          <p:cNvPr id="31" name="Text 24"/>
          <p:cNvSpPr/>
          <p:nvPr/>
        </p:nvSpPr>
        <p:spPr>
          <a:xfrm>
            <a:off x="5709692" y="2480518"/>
            <a:ext cx="1130300" cy="52318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4F6F9"/>
                </a:solidFill>
                <a:latin typeface="Public Sans" pitchFamily="34" charset="0"/>
                <a:ea typeface="Public Sans" pitchFamily="34" charset="-122"/>
                <a:cs typeface="Public Sans" pitchFamily="34" charset="-120"/>
              </a:rPr>
              <a:t>Wealthy consumers</a:t>
            </a:r>
            <a:endParaRPr lang="en-US" sz="1400" dirty="0"/>
          </a:p>
        </p:txBody>
      </p:sp>
      <p:sp>
        <p:nvSpPr>
          <p:cNvPr id="32" name="Text 25"/>
          <p:cNvSpPr/>
          <p:nvPr/>
        </p:nvSpPr>
        <p:spPr>
          <a:xfrm>
            <a:off x="5699294" y="3638848"/>
            <a:ext cx="1151096" cy="431800"/>
          </a:xfrm>
          <a:prstGeom prst="rect">
            <a:avLst/>
          </a:prstGeom>
          <a:noFill/>
          <a:ln/>
        </p:spPr>
        <p:txBody>
          <a:bodyPr wrap="square" lIns="0" tIns="0" rIns="0" bIns="0" rtlCol="0" anchor="t">
            <a:normAutofit/>
          </a:bodyPr>
          <a:lstStyle/>
          <a:p>
            <a:pPr algn="ctr" indent="0" marL="0">
              <a:lnSpc>
                <a:spcPts val="3200"/>
              </a:lnSpc>
              <a:buNone/>
            </a:pPr>
            <a:r>
              <a:rPr lang="en-US" sz="3200" b="1" dirty="0">
                <a:solidFill>
                  <a:srgbClr val="FFDD00"/>
                </a:solidFill>
                <a:latin typeface="Public Sans" pitchFamily="34" charset="0"/>
                <a:ea typeface="Public Sans" pitchFamily="34" charset="-122"/>
                <a:cs typeface="Public Sans" pitchFamily="34" charset="-120"/>
              </a:rPr>
              <a:t>~2/3</a:t>
            </a:r>
            <a:endParaRPr lang="en-US" sz="3200" dirty="0"/>
          </a:p>
        </p:txBody>
      </p:sp>
      <p:sp>
        <p:nvSpPr>
          <p:cNvPr id="33" name="Text 26"/>
          <p:cNvSpPr/>
          <p:nvPr/>
        </p:nvSpPr>
        <p:spPr>
          <a:xfrm>
            <a:off x="5709692" y="4083348"/>
            <a:ext cx="1130300" cy="619671"/>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C9D8E8"/>
                </a:solidFill>
                <a:latin typeface="Public Sans" pitchFamily="34" charset="0"/>
                <a:ea typeface="Public Sans" pitchFamily="34" charset="-122"/>
                <a:cs typeface="Public Sans" pitchFamily="34" charset="-120"/>
              </a:rPr>
              <a:t>of GDP is consumer spending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812800" y="894060"/>
            <a:ext cx="355600" cy="50800"/>
          </a:xfrm>
          <a:prstGeom prst="rect">
            <a:avLst/>
          </a:prstGeom>
          <a:solidFill>
            <a:srgbClr val="FFDD00"/>
          </a:solidFill>
          <a:ln/>
        </p:spPr>
      </p:sp>
      <p:sp>
        <p:nvSpPr>
          <p:cNvPr id="3" name="Text 1"/>
          <p:cNvSpPr/>
          <p:nvPr/>
        </p:nvSpPr>
        <p:spPr>
          <a:xfrm>
            <a:off x="1295400" y="812800"/>
            <a:ext cx="228403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05DAA"/>
                </a:solidFill>
                <a:latin typeface="Public Sans" pitchFamily="34" charset="0"/>
                <a:ea typeface="Public Sans" pitchFamily="34" charset="-122"/>
                <a:cs typeface="Public Sans" pitchFamily="34" charset="-120"/>
              </a:rPr>
              <a:t>01 · THE US ECONOMY</a:t>
            </a:r>
            <a:endParaRPr lang="en-US" sz="1200" dirty="0"/>
          </a:p>
        </p:txBody>
      </p:sp>
      <p:sp>
        <p:nvSpPr>
          <p:cNvPr id="4" name="Text 2"/>
          <p:cNvSpPr/>
          <p:nvPr>
            <p:ph type="title"/>
          </p:nvPr>
        </p:nvSpPr>
        <p:spPr>
          <a:xfrm>
            <a:off x="812800" y="1153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A2240"/>
                </a:solidFill>
                <a:latin typeface="Public Sans" pitchFamily="34" charset="0"/>
                <a:ea typeface="Public Sans" pitchFamily="34" charset="-122"/>
                <a:cs typeface="Public Sans" pitchFamily="34" charset="-120"/>
              </a:rPr>
              <a:t>A US economy that absorbs shocks</a:t>
            </a:r>
            <a:endParaRPr lang="en-US" sz="3200" dirty="0"/>
          </a:p>
        </p:txBody>
      </p:sp>
      <p:sp>
        <p:nvSpPr>
          <p:cNvPr id="5" name="Text 3"/>
          <p:cNvSpPr/>
          <p:nvPr/>
        </p:nvSpPr>
        <p:spPr>
          <a:xfrm>
            <a:off x="812800" y="1828750"/>
            <a:ext cx="489229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B5B6B"/>
                </a:solidFill>
                <a:latin typeface="Public Sans" pitchFamily="34" charset="0"/>
                <a:ea typeface="Public Sans" pitchFamily="34" charset="-122"/>
                <a:cs typeface="Public Sans" pitchFamily="34" charset="-120"/>
              </a:rPr>
              <a:t>SHOCKS HITTING IT</a:t>
            </a:r>
            <a:endParaRPr lang="en-US" sz="1200" dirty="0"/>
          </a:p>
        </p:txBody>
      </p:sp>
      <p:sp>
        <p:nvSpPr>
          <p:cNvPr id="6" name="Shape 4"/>
          <p:cNvSpPr/>
          <p:nvPr/>
        </p:nvSpPr>
        <p:spPr>
          <a:xfrm>
            <a:off x="812800" y="2143671"/>
            <a:ext cx="4749800" cy="1165027"/>
          </a:xfrm>
          <a:prstGeom prst="rect">
            <a:avLst/>
          </a:prstGeom>
          <a:solidFill>
            <a:srgbClr val="0A2240"/>
          </a:solidFill>
          <a:ln/>
        </p:spPr>
      </p:sp>
      <p:pic>
        <p:nvPicPr>
          <p:cNvPr id="7" name="Image 0" descr="Lightning">    </p:cNvPr>
          <p:cNvPicPr>
            <a:picLocks noChangeAspect="1"/>
          </p:cNvPicPr>
          <p:nvPr/>
        </p:nvPicPr>
        <p:blipFill>
          <a:blip r:embed="rId1"/>
          <a:srcRect l="0" r="0" t="0" b="0"/>
          <a:stretch/>
        </p:blipFill>
        <p:spPr>
          <a:xfrm>
            <a:off x="990600" y="2548384"/>
            <a:ext cx="355600" cy="355600"/>
          </a:xfrm>
          <a:prstGeom prst="rect">
            <a:avLst/>
          </a:prstGeom>
        </p:spPr>
      </p:pic>
      <p:sp>
        <p:nvSpPr>
          <p:cNvPr id="8" name="Text 5"/>
          <p:cNvSpPr/>
          <p:nvPr/>
        </p:nvSpPr>
        <p:spPr>
          <a:xfrm>
            <a:off x="1498600" y="2379464"/>
            <a:ext cx="400278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6F9"/>
                </a:solidFill>
                <a:latin typeface="Public Sans" pitchFamily="34" charset="0"/>
                <a:ea typeface="Public Sans" pitchFamily="34" charset="-122"/>
                <a:cs typeface="Public Sans" pitchFamily="34" charset="-120"/>
              </a:rPr>
              <a:t>Energy shock</a:t>
            </a:r>
            <a:endParaRPr lang="en-US" sz="1600" dirty="0"/>
          </a:p>
        </p:txBody>
      </p:sp>
      <p:sp>
        <p:nvSpPr>
          <p:cNvPr id="9" name="Text 6"/>
          <p:cNvSpPr/>
          <p:nvPr/>
        </p:nvSpPr>
        <p:spPr>
          <a:xfrm>
            <a:off x="1498600" y="2661394"/>
            <a:ext cx="4002786"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8E8"/>
                </a:solidFill>
                <a:latin typeface="Public Sans" pitchFamily="34" charset="0"/>
                <a:ea typeface="Public Sans" pitchFamily="34" charset="-122"/>
                <a:cs typeface="Public Sans" pitchFamily="34" charset="-120"/>
              </a:rPr>
              <a:t>Middle East conflict pushes headline inflation above 3%.</a:t>
            </a:r>
            <a:endParaRPr lang="en-US" sz="1200" dirty="0"/>
          </a:p>
        </p:txBody>
      </p:sp>
      <p:sp>
        <p:nvSpPr>
          <p:cNvPr id="10" name="Shape 7"/>
          <p:cNvSpPr/>
          <p:nvPr/>
        </p:nvSpPr>
        <p:spPr>
          <a:xfrm>
            <a:off x="812800" y="3410297"/>
            <a:ext cx="4749800" cy="1165076"/>
          </a:xfrm>
          <a:prstGeom prst="rect">
            <a:avLst/>
          </a:prstGeom>
          <a:solidFill>
            <a:srgbClr val="0A2240"/>
          </a:solidFill>
          <a:ln/>
        </p:spPr>
      </p:sp>
      <p:pic>
        <p:nvPicPr>
          <p:cNvPr id="11" name="Image 1" descr="Globe">    </p:cNvPr>
          <p:cNvPicPr>
            <a:picLocks noChangeAspect="1"/>
          </p:cNvPicPr>
          <p:nvPr/>
        </p:nvPicPr>
        <p:blipFill>
          <a:blip r:embed="rId2"/>
          <a:srcRect l="0" r="0" t="0" b="0"/>
          <a:stretch/>
        </p:blipFill>
        <p:spPr>
          <a:xfrm>
            <a:off x="990600" y="3815011"/>
            <a:ext cx="355600" cy="355600"/>
          </a:xfrm>
          <a:prstGeom prst="rect">
            <a:avLst/>
          </a:prstGeom>
        </p:spPr>
      </p:pic>
      <p:sp>
        <p:nvSpPr>
          <p:cNvPr id="12" name="Text 8"/>
          <p:cNvSpPr/>
          <p:nvPr/>
        </p:nvSpPr>
        <p:spPr>
          <a:xfrm>
            <a:off x="1498600" y="3646140"/>
            <a:ext cx="400278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6F9"/>
                </a:solidFill>
                <a:latin typeface="Public Sans" pitchFamily="34" charset="0"/>
                <a:ea typeface="Public Sans" pitchFamily="34" charset="-122"/>
                <a:cs typeface="Public Sans" pitchFamily="34" charset="-120"/>
              </a:rPr>
              <a:t>Tariffs</a:t>
            </a:r>
            <a:endParaRPr lang="en-US" sz="1600" dirty="0"/>
          </a:p>
        </p:txBody>
      </p:sp>
      <p:sp>
        <p:nvSpPr>
          <p:cNvPr id="13" name="Text 9"/>
          <p:cNvSpPr/>
          <p:nvPr/>
        </p:nvSpPr>
        <p:spPr>
          <a:xfrm>
            <a:off x="1498600" y="3928070"/>
            <a:ext cx="4002786"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8E8"/>
                </a:solidFill>
                <a:latin typeface="Public Sans" pitchFamily="34" charset="0"/>
                <a:ea typeface="Public Sans" pitchFamily="34" charset="-122"/>
                <a:cs typeface="Public Sans" pitchFamily="34" charset="-120"/>
              </a:rPr>
              <a:t>Trade-war costs show up in producer and consumer prices.</a:t>
            </a:r>
            <a:endParaRPr lang="en-US" sz="1200" dirty="0"/>
          </a:p>
        </p:txBody>
      </p:sp>
      <p:sp>
        <p:nvSpPr>
          <p:cNvPr id="14" name="Shape 10"/>
          <p:cNvSpPr/>
          <p:nvPr/>
        </p:nvSpPr>
        <p:spPr>
          <a:xfrm>
            <a:off x="812800" y="4676973"/>
            <a:ext cx="4749800" cy="1165027"/>
          </a:xfrm>
          <a:prstGeom prst="rect">
            <a:avLst/>
          </a:prstGeom>
          <a:solidFill>
            <a:srgbClr val="0A2240"/>
          </a:solidFill>
          <a:ln/>
        </p:spPr>
      </p:sp>
      <p:pic>
        <p:nvPicPr>
          <p:cNvPr id="15" name="Image 2" descr="Lock">    </p:cNvPr>
          <p:cNvPicPr>
            <a:picLocks noChangeAspect="1"/>
          </p:cNvPicPr>
          <p:nvPr/>
        </p:nvPicPr>
        <p:blipFill>
          <a:blip r:embed="rId3"/>
          <a:srcRect l="0" r="0" t="0" b="0"/>
          <a:stretch/>
        </p:blipFill>
        <p:spPr>
          <a:xfrm>
            <a:off x="990600" y="5081687"/>
            <a:ext cx="355600" cy="355600"/>
          </a:xfrm>
          <a:prstGeom prst="rect">
            <a:avLst/>
          </a:prstGeom>
        </p:spPr>
      </p:pic>
      <p:sp>
        <p:nvSpPr>
          <p:cNvPr id="16" name="Text 11"/>
          <p:cNvSpPr/>
          <p:nvPr/>
        </p:nvSpPr>
        <p:spPr>
          <a:xfrm>
            <a:off x="1498600" y="4912767"/>
            <a:ext cx="400278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6F9"/>
                </a:solidFill>
                <a:latin typeface="Public Sans" pitchFamily="34" charset="0"/>
                <a:ea typeface="Public Sans" pitchFamily="34" charset="-122"/>
                <a:cs typeface="Public Sans" pitchFamily="34" charset="-120"/>
              </a:rPr>
              <a:t>Fed tightening</a:t>
            </a:r>
            <a:endParaRPr lang="en-US" sz="1600" dirty="0"/>
          </a:p>
        </p:txBody>
      </p:sp>
      <p:sp>
        <p:nvSpPr>
          <p:cNvPr id="17" name="Text 12"/>
          <p:cNvSpPr/>
          <p:nvPr/>
        </p:nvSpPr>
        <p:spPr>
          <a:xfrm>
            <a:off x="1498600" y="5194697"/>
            <a:ext cx="4002786"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8E8"/>
                </a:solidFill>
                <a:latin typeface="Public Sans" pitchFamily="34" charset="0"/>
                <a:ea typeface="Public Sans" pitchFamily="34" charset="-122"/>
                <a:cs typeface="Public Sans" pitchFamily="34" charset="-120"/>
              </a:rPr>
              <a:t>First hike in three years, with two more expected this year.</a:t>
            </a:r>
            <a:endParaRPr lang="en-US" sz="1200" dirty="0"/>
          </a:p>
        </p:txBody>
      </p:sp>
      <p:sp>
        <p:nvSpPr>
          <p:cNvPr id="18" name="Text 13"/>
          <p:cNvSpPr/>
          <p:nvPr/>
        </p:nvSpPr>
        <p:spPr>
          <a:xfrm>
            <a:off x="5830610" y="3502620"/>
            <a:ext cx="530781" cy="309860"/>
          </a:xfrm>
          <a:prstGeom prst="rect">
            <a:avLst/>
          </a:prstGeom>
          <a:noFill/>
          <a:ln/>
        </p:spPr>
        <p:txBody>
          <a:bodyPr wrap="square" lIns="0" tIns="0" rIns="0" bIns="0" rtlCol="0" anchor="t">
            <a:normAutofit/>
          </a:bodyPr>
          <a:lstStyle/>
          <a:p>
            <a:pPr algn="ctr" indent="0" marL="0">
              <a:lnSpc>
                <a:spcPts val="2240"/>
              </a:lnSpc>
              <a:buNone/>
            </a:pPr>
            <a:r>
              <a:rPr lang="en-US" sz="1600" b="1" spc="100" kern="0" dirty="0">
                <a:solidFill>
                  <a:srgbClr val="005DAA"/>
                </a:solidFill>
                <a:latin typeface="Public Sans" pitchFamily="34" charset="0"/>
                <a:ea typeface="Public Sans" pitchFamily="34" charset="-122"/>
                <a:cs typeface="Public Sans" pitchFamily="34" charset="-120"/>
              </a:rPr>
              <a:t>YET</a:t>
            </a:r>
            <a:endParaRPr lang="en-US" sz="1600" dirty="0"/>
          </a:p>
        </p:txBody>
      </p:sp>
      <p:pic>
        <p:nvPicPr>
          <p:cNvPr id="19" name="Image 3" descr="arrow-right">    </p:cNvPr>
          <p:cNvPicPr>
            <a:picLocks noChangeAspect="1"/>
          </p:cNvPicPr>
          <p:nvPr/>
        </p:nvPicPr>
        <p:blipFill>
          <a:blip r:embed="rId4"/>
          <a:srcRect l="0" r="0" t="0" b="0"/>
          <a:stretch/>
        </p:blipFill>
        <p:spPr>
          <a:xfrm>
            <a:off x="5816600" y="3888680"/>
            <a:ext cx="558800" cy="279400"/>
          </a:xfrm>
          <a:prstGeom prst="rect">
            <a:avLst/>
          </a:prstGeom>
        </p:spPr>
      </p:pic>
      <p:sp>
        <p:nvSpPr>
          <p:cNvPr id="20" name="Text 14"/>
          <p:cNvSpPr/>
          <p:nvPr/>
        </p:nvSpPr>
        <p:spPr>
          <a:xfrm>
            <a:off x="6629400" y="1828750"/>
            <a:ext cx="489229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B5B6B"/>
                </a:solidFill>
                <a:latin typeface="Public Sans" pitchFamily="34" charset="0"/>
                <a:ea typeface="Public Sans" pitchFamily="34" charset="-122"/>
                <a:cs typeface="Public Sans" pitchFamily="34" charset="-120"/>
              </a:rPr>
              <a:t>STILL STANDING</a:t>
            </a:r>
            <a:endParaRPr lang="en-US" sz="1200" dirty="0"/>
          </a:p>
        </p:txBody>
      </p:sp>
      <p:sp>
        <p:nvSpPr>
          <p:cNvPr id="21" name="Shape 15"/>
          <p:cNvSpPr/>
          <p:nvPr/>
        </p:nvSpPr>
        <p:spPr>
          <a:xfrm>
            <a:off x="6632575" y="2146846"/>
            <a:ext cx="4743450" cy="1158677"/>
          </a:xfrm>
          <a:prstGeom prst="rect">
            <a:avLst/>
          </a:prstGeom>
          <a:solidFill>
            <a:srgbClr val="FBFCFD"/>
          </a:solidFill>
          <a:ln w="6350">
            <a:solidFill>
              <a:srgbClr val="D5DEE8"/>
            </a:solidFill>
            <a:prstDash val="solid"/>
          </a:ln>
        </p:spPr>
      </p:sp>
      <p:sp>
        <p:nvSpPr>
          <p:cNvPr id="22" name="Text 16"/>
          <p:cNvSpPr/>
          <p:nvPr/>
        </p:nvSpPr>
        <p:spPr>
          <a:xfrm>
            <a:off x="6813550" y="2497584"/>
            <a:ext cx="138430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005DAA"/>
                </a:solidFill>
                <a:latin typeface="Public Sans" pitchFamily="34" charset="0"/>
                <a:ea typeface="Public Sans" pitchFamily="34" charset="-122"/>
                <a:cs typeface="Public Sans" pitchFamily="34" charset="-120"/>
              </a:rPr>
              <a:t>4.1%</a:t>
            </a:r>
            <a:endParaRPr lang="en-US" sz="3600" dirty="0"/>
          </a:p>
        </p:txBody>
      </p:sp>
      <p:sp>
        <p:nvSpPr>
          <p:cNvPr id="23" name="Text 17"/>
          <p:cNvSpPr/>
          <p:nvPr/>
        </p:nvSpPr>
        <p:spPr>
          <a:xfrm>
            <a:off x="8299450" y="2520454"/>
            <a:ext cx="2982468"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B5B6B"/>
                </a:solidFill>
                <a:latin typeface="Public Sans" pitchFamily="34" charset="0"/>
                <a:ea typeface="Public Sans" pitchFamily="34" charset="-122"/>
                <a:cs typeface="Public Sans" pitchFamily="34" charset="-120"/>
              </a:rPr>
              <a:t>Unemployment, down from 4.3% at the start of summer.</a:t>
            </a:r>
            <a:endParaRPr lang="en-US" sz="1200" dirty="0"/>
          </a:p>
        </p:txBody>
      </p:sp>
      <p:sp>
        <p:nvSpPr>
          <p:cNvPr id="24" name="Shape 18"/>
          <p:cNvSpPr/>
          <p:nvPr/>
        </p:nvSpPr>
        <p:spPr>
          <a:xfrm>
            <a:off x="6632575" y="3413472"/>
            <a:ext cx="4743450" cy="1158726"/>
          </a:xfrm>
          <a:prstGeom prst="rect">
            <a:avLst/>
          </a:prstGeom>
          <a:solidFill>
            <a:srgbClr val="FBFCFD"/>
          </a:solidFill>
          <a:ln w="6350">
            <a:solidFill>
              <a:srgbClr val="D5DEE8"/>
            </a:solidFill>
            <a:prstDash val="solid"/>
          </a:ln>
        </p:spPr>
      </p:sp>
      <p:sp>
        <p:nvSpPr>
          <p:cNvPr id="25" name="Text 19"/>
          <p:cNvSpPr/>
          <p:nvPr/>
        </p:nvSpPr>
        <p:spPr>
          <a:xfrm>
            <a:off x="6813550" y="3764211"/>
            <a:ext cx="138430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005DAA"/>
                </a:solidFill>
                <a:latin typeface="Public Sans" pitchFamily="34" charset="0"/>
                <a:ea typeface="Public Sans" pitchFamily="34" charset="-122"/>
                <a:cs typeface="Public Sans" pitchFamily="34" charset="-120"/>
              </a:rPr>
              <a:t>2%+</a:t>
            </a:r>
            <a:endParaRPr lang="en-US" sz="3600" dirty="0"/>
          </a:p>
        </p:txBody>
      </p:sp>
      <p:sp>
        <p:nvSpPr>
          <p:cNvPr id="26" name="Text 20"/>
          <p:cNvSpPr/>
          <p:nvPr/>
        </p:nvSpPr>
        <p:spPr>
          <a:xfrm>
            <a:off x="8299450" y="3787080"/>
            <a:ext cx="2982468"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B5B6B"/>
                </a:solidFill>
                <a:latin typeface="Public Sans" pitchFamily="34" charset="0"/>
                <a:ea typeface="Public Sans" pitchFamily="34" charset="-122"/>
                <a:cs typeface="Public Sans" pitchFamily="34" charset="-120"/>
              </a:rPr>
              <a:t>Underlying growth, slightly above the 2% trend.</a:t>
            </a:r>
            <a:endParaRPr lang="en-US" sz="1200" dirty="0"/>
          </a:p>
        </p:txBody>
      </p:sp>
      <p:sp>
        <p:nvSpPr>
          <p:cNvPr id="27" name="Shape 21"/>
          <p:cNvSpPr/>
          <p:nvPr/>
        </p:nvSpPr>
        <p:spPr>
          <a:xfrm>
            <a:off x="6632575" y="4680148"/>
            <a:ext cx="4743450" cy="1158677"/>
          </a:xfrm>
          <a:prstGeom prst="rect">
            <a:avLst/>
          </a:prstGeom>
          <a:solidFill>
            <a:srgbClr val="FBFCFD"/>
          </a:solidFill>
          <a:ln w="6350">
            <a:solidFill>
              <a:srgbClr val="D5DEE8"/>
            </a:solidFill>
            <a:prstDash val="solid"/>
          </a:ln>
        </p:spPr>
      </p:sp>
      <p:sp>
        <p:nvSpPr>
          <p:cNvPr id="28" name="Text 22"/>
          <p:cNvSpPr/>
          <p:nvPr/>
        </p:nvSpPr>
        <p:spPr>
          <a:xfrm>
            <a:off x="6813550" y="5030887"/>
            <a:ext cx="138430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005DAA"/>
                </a:solidFill>
                <a:latin typeface="Public Sans" pitchFamily="34" charset="0"/>
                <a:ea typeface="Public Sans" pitchFamily="34" charset="-122"/>
                <a:cs typeface="Public Sans" pitchFamily="34" charset="-120"/>
              </a:rPr>
              <a:t>80K</a:t>
            </a:r>
            <a:endParaRPr lang="en-US" sz="3600" dirty="0"/>
          </a:p>
        </p:txBody>
      </p:sp>
      <p:sp>
        <p:nvSpPr>
          <p:cNvPr id="29" name="Text 23"/>
          <p:cNvSpPr/>
          <p:nvPr/>
        </p:nvSpPr>
        <p:spPr>
          <a:xfrm>
            <a:off x="8299450" y="5053757"/>
            <a:ext cx="2982468"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B5B6B"/>
                </a:solidFill>
                <a:latin typeface="Public Sans" pitchFamily="34" charset="0"/>
                <a:ea typeface="Public Sans" pitchFamily="34" charset="-122"/>
                <a:cs typeface="Public Sans" pitchFamily="34" charset="-120"/>
              </a:rPr>
              <a:t>Jobs added a month, versus 10K a month in 2025.</a:t>
            </a:r>
            <a:endParaRPr lang="en-US" sz="1200" dirty="0"/>
          </a:p>
        </p:txBody>
      </p:sp>
      <p:sp>
        <p:nvSpPr>
          <p:cNvPr id="30" name="Text 24"/>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B"/>
                </a:solidFill>
                <a:latin typeface="Public Sans" pitchFamily="34" charset="0"/>
                <a:ea typeface="Public Sans" pitchFamily="34" charset="-122"/>
                <a:cs typeface="Public Sans" pitchFamily="34" charset="-120"/>
              </a:rPr>
              <a:t>Source: RBC Economics, US Executive Briefings (Apr, Sep 2026)</a:t>
            </a:r>
            <a:endParaRPr lang="en-US" sz="1200" dirty="0"/>
          </a:p>
        </p:txBody>
      </p:sp>
      <p:sp>
        <p:nvSpPr>
          <p:cNvPr id="31" name="Text 25"/>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B"/>
                </a:solidFill>
                <a:latin typeface="Public Sans" pitchFamily="34" charset="0"/>
                <a:ea typeface="Public Sans" pitchFamily="34" charset="-122"/>
                <a:cs typeface="Public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812800" y="894060"/>
            <a:ext cx="355600" cy="50800"/>
          </a:xfrm>
          <a:prstGeom prst="rect">
            <a:avLst/>
          </a:prstGeom>
          <a:solidFill>
            <a:srgbClr val="FFDD00"/>
          </a:solidFill>
          <a:ln/>
        </p:spPr>
      </p:sp>
      <p:sp>
        <p:nvSpPr>
          <p:cNvPr id="3" name="Text 1"/>
          <p:cNvSpPr/>
          <p:nvPr/>
        </p:nvSpPr>
        <p:spPr>
          <a:xfrm>
            <a:off x="1295400" y="812800"/>
            <a:ext cx="228403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05DAA"/>
                </a:solidFill>
                <a:latin typeface="Public Sans" pitchFamily="34" charset="0"/>
                <a:ea typeface="Public Sans" pitchFamily="34" charset="-122"/>
                <a:cs typeface="Public Sans" pitchFamily="34" charset="-120"/>
              </a:rPr>
              <a:t>01 · THE US ECONOMY</a:t>
            </a:r>
            <a:endParaRPr lang="en-US" sz="1200" dirty="0"/>
          </a:p>
        </p:txBody>
      </p:sp>
      <p:sp>
        <p:nvSpPr>
          <p:cNvPr id="4" name="Text 2"/>
          <p:cNvSpPr/>
          <p:nvPr>
            <p:ph type="title"/>
          </p:nvPr>
        </p:nvSpPr>
        <p:spPr>
          <a:xfrm>
            <a:off x="812800" y="1153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A2240"/>
                </a:solidFill>
                <a:latin typeface="Public Sans" pitchFamily="34" charset="0"/>
                <a:ea typeface="Public Sans" pitchFamily="34" charset="-122"/>
                <a:cs typeface="Public Sans" pitchFamily="34" charset="-120"/>
              </a:rPr>
              <a:t>Growth runs on productivity, not hiring</a:t>
            </a:r>
            <a:endParaRPr lang="en-US" sz="3200" dirty="0"/>
          </a:p>
        </p:txBody>
      </p:sp>
      <p:sp>
        <p:nvSpPr>
          <p:cNvPr id="5" name="Shape 3"/>
          <p:cNvSpPr/>
          <p:nvPr/>
        </p:nvSpPr>
        <p:spPr>
          <a:xfrm>
            <a:off x="815975" y="1831925"/>
            <a:ext cx="5175250" cy="4006900"/>
          </a:xfrm>
          <a:prstGeom prst="rect">
            <a:avLst/>
          </a:prstGeom>
          <a:solidFill>
            <a:srgbClr val="FBFCFD"/>
          </a:solidFill>
          <a:ln w="6350">
            <a:solidFill>
              <a:srgbClr val="D5DEE8"/>
            </a:solidFill>
            <a:prstDash val="solid"/>
          </a:ln>
        </p:spPr>
      </p:sp>
      <p:sp>
        <p:nvSpPr>
          <p:cNvPr id="6" name="Text 4"/>
          <p:cNvSpPr/>
          <p:nvPr/>
        </p:nvSpPr>
        <p:spPr>
          <a:xfrm>
            <a:off x="1022350" y="2038300"/>
            <a:ext cx="490537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05DAA"/>
                </a:solidFill>
                <a:latin typeface="Public Sans" pitchFamily="34" charset="0"/>
                <a:ea typeface="Public Sans" pitchFamily="34" charset="-122"/>
                <a:cs typeface="Public Sans" pitchFamily="34" charset="-120"/>
              </a:rPr>
              <a:t>JOBS A MONTH</a:t>
            </a:r>
            <a:endParaRPr lang="en-US" sz="1200" dirty="0"/>
          </a:p>
        </p:txBody>
      </p:sp>
      <p:sp>
        <p:nvSpPr>
          <p:cNvPr id="7" name="Text 5"/>
          <p:cNvSpPr/>
          <p:nvPr/>
        </p:nvSpPr>
        <p:spPr>
          <a:xfrm>
            <a:off x="1022350" y="2302421"/>
            <a:ext cx="490537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A2240"/>
                </a:solidFill>
                <a:latin typeface="Public Sans" pitchFamily="34" charset="0"/>
                <a:ea typeface="Public Sans" pitchFamily="34" charset="-122"/>
                <a:cs typeface="Public Sans" pitchFamily="34" charset="-120"/>
              </a:rPr>
              <a:t>Hiring is beating what the economy needs</a:t>
            </a:r>
            <a:endParaRPr lang="en-US" sz="1800" dirty="0"/>
          </a:p>
        </p:txBody>
      </p:sp>
      <p:sp>
        <p:nvSpPr>
          <p:cNvPr id="8" name="Text 6"/>
          <p:cNvSpPr/>
          <p:nvPr/>
        </p:nvSpPr>
        <p:spPr>
          <a:xfrm>
            <a:off x="1022350" y="3157240"/>
            <a:ext cx="49053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B6B"/>
                </a:solidFill>
                <a:latin typeface="Public Sans" pitchFamily="34" charset="0"/>
                <a:ea typeface="Public Sans" pitchFamily="34" charset="-122"/>
                <a:cs typeface="Public Sans" pitchFamily="34" charset="-120"/>
              </a:rPr>
              <a:t>Break-even pace (RBC estimate)</a:t>
            </a:r>
            <a:endParaRPr lang="en-US" sz="1200" dirty="0"/>
          </a:p>
        </p:txBody>
      </p:sp>
      <p:sp>
        <p:nvSpPr>
          <p:cNvPr id="9" name="Shape 7"/>
          <p:cNvSpPr/>
          <p:nvPr/>
        </p:nvSpPr>
        <p:spPr>
          <a:xfrm>
            <a:off x="1022350" y="3421360"/>
            <a:ext cx="762000" cy="406400"/>
          </a:xfrm>
          <a:prstGeom prst="rect">
            <a:avLst/>
          </a:prstGeom>
          <a:solidFill>
            <a:srgbClr val="9CC3E6"/>
          </a:solidFill>
          <a:ln/>
        </p:spPr>
      </p:sp>
      <p:sp>
        <p:nvSpPr>
          <p:cNvPr id="10" name="Text 8"/>
          <p:cNvSpPr/>
          <p:nvPr/>
        </p:nvSpPr>
        <p:spPr>
          <a:xfrm>
            <a:off x="1911350" y="3429000"/>
            <a:ext cx="897493"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A2240"/>
                </a:solidFill>
                <a:latin typeface="Public Sans" pitchFamily="34" charset="0"/>
                <a:ea typeface="Public Sans" pitchFamily="34" charset="-122"/>
                <a:cs typeface="Public Sans" pitchFamily="34" charset="-120"/>
              </a:rPr>
              <a:t>~20K</a:t>
            </a:r>
            <a:endParaRPr lang="en-US" sz="2200" dirty="0"/>
          </a:p>
        </p:txBody>
      </p:sp>
      <p:sp>
        <p:nvSpPr>
          <p:cNvPr id="11" name="Text 9"/>
          <p:cNvSpPr/>
          <p:nvPr/>
        </p:nvSpPr>
        <p:spPr>
          <a:xfrm>
            <a:off x="1022350" y="3954760"/>
            <a:ext cx="49053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B6B"/>
                </a:solidFill>
                <a:latin typeface="Public Sans" pitchFamily="34" charset="0"/>
                <a:ea typeface="Public Sans" pitchFamily="34" charset="-122"/>
                <a:cs typeface="Public Sans" pitchFamily="34" charset="-120"/>
              </a:rPr>
              <a:t>Actual recent pace</a:t>
            </a:r>
            <a:endParaRPr lang="en-US" sz="1200" dirty="0"/>
          </a:p>
        </p:txBody>
      </p:sp>
      <p:sp>
        <p:nvSpPr>
          <p:cNvPr id="12" name="Shape 10"/>
          <p:cNvSpPr/>
          <p:nvPr/>
        </p:nvSpPr>
        <p:spPr>
          <a:xfrm>
            <a:off x="1022350" y="4218880"/>
            <a:ext cx="3048000" cy="406400"/>
          </a:xfrm>
          <a:prstGeom prst="rect">
            <a:avLst/>
          </a:prstGeom>
          <a:solidFill>
            <a:srgbClr val="005DAA"/>
          </a:solidFill>
          <a:ln/>
        </p:spPr>
      </p:sp>
      <p:sp>
        <p:nvSpPr>
          <p:cNvPr id="13" name="Text 11"/>
          <p:cNvSpPr/>
          <p:nvPr/>
        </p:nvSpPr>
        <p:spPr>
          <a:xfrm>
            <a:off x="4197350" y="4226520"/>
            <a:ext cx="906661"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05DAA"/>
                </a:solidFill>
                <a:latin typeface="Public Sans" pitchFamily="34" charset="0"/>
                <a:ea typeface="Public Sans" pitchFamily="34" charset="-122"/>
                <a:cs typeface="Public Sans" pitchFamily="34" charset="-120"/>
              </a:rPr>
              <a:t>~80K</a:t>
            </a:r>
            <a:endParaRPr lang="en-US" sz="2200" dirty="0"/>
          </a:p>
        </p:txBody>
      </p:sp>
      <p:sp>
        <p:nvSpPr>
          <p:cNvPr id="14" name="Text 12"/>
          <p:cNvSpPr/>
          <p:nvPr/>
        </p:nvSpPr>
        <p:spPr>
          <a:xfrm>
            <a:off x="1022350" y="5205809"/>
            <a:ext cx="490537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B6B"/>
                </a:solidFill>
                <a:latin typeface="Public Sans" pitchFamily="34" charset="0"/>
                <a:ea typeface="Public Sans" pitchFamily="34" charset="-122"/>
                <a:cs typeface="Public Sans" pitchFamily="34" charset="-120"/>
              </a:rPr>
              <a:t>Record retirements and slower immigration shrink labor supply, so far fewer jobs are needed to hold unemployment steady.</a:t>
            </a:r>
            <a:endParaRPr lang="en-US" sz="1200" dirty="0"/>
          </a:p>
        </p:txBody>
      </p:sp>
      <p:sp>
        <p:nvSpPr>
          <p:cNvPr id="15" name="Shape 13"/>
          <p:cNvSpPr/>
          <p:nvPr/>
        </p:nvSpPr>
        <p:spPr>
          <a:xfrm>
            <a:off x="6200775" y="1831925"/>
            <a:ext cx="5175250" cy="4006900"/>
          </a:xfrm>
          <a:prstGeom prst="rect">
            <a:avLst/>
          </a:prstGeom>
          <a:solidFill>
            <a:srgbClr val="FBFCFD"/>
          </a:solidFill>
          <a:ln w="6350">
            <a:solidFill>
              <a:srgbClr val="D5DEE8"/>
            </a:solidFill>
            <a:prstDash val="solid"/>
          </a:ln>
        </p:spPr>
      </p:sp>
      <p:sp>
        <p:nvSpPr>
          <p:cNvPr id="16" name="Text 14"/>
          <p:cNvSpPr/>
          <p:nvPr/>
        </p:nvSpPr>
        <p:spPr>
          <a:xfrm>
            <a:off x="6407150" y="2038300"/>
            <a:ext cx="490537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05DAA"/>
                </a:solidFill>
                <a:latin typeface="Public Sans" pitchFamily="34" charset="0"/>
                <a:ea typeface="Public Sans" pitchFamily="34" charset="-122"/>
                <a:cs typeface="Public Sans" pitchFamily="34" charset="-120"/>
              </a:rPr>
              <a:t>GDP GROWTH IN 2026</a:t>
            </a:r>
            <a:endParaRPr lang="en-US" sz="1200" dirty="0"/>
          </a:p>
        </p:txBody>
      </p:sp>
      <p:sp>
        <p:nvSpPr>
          <p:cNvPr id="17" name="Text 15"/>
          <p:cNvSpPr/>
          <p:nvPr/>
        </p:nvSpPr>
        <p:spPr>
          <a:xfrm>
            <a:off x="6407150" y="2302421"/>
            <a:ext cx="490537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A2240"/>
                </a:solidFill>
                <a:latin typeface="Public Sans" pitchFamily="34" charset="0"/>
                <a:ea typeface="Public Sans" pitchFamily="34" charset="-122"/>
                <a:cs typeface="Public Sans" pitchFamily="34" charset="-120"/>
              </a:rPr>
              <a:t>AI investment is doing heavy lifting</a:t>
            </a:r>
            <a:endParaRPr lang="en-US" sz="1800" dirty="0"/>
          </a:p>
        </p:txBody>
      </p:sp>
      <p:sp>
        <p:nvSpPr>
          <p:cNvPr id="18" name="Text 16"/>
          <p:cNvSpPr/>
          <p:nvPr/>
        </p:nvSpPr>
        <p:spPr>
          <a:xfrm>
            <a:off x="6407150" y="3157240"/>
            <a:ext cx="49053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B6B"/>
                </a:solidFill>
                <a:latin typeface="Public Sans" pitchFamily="34" charset="0"/>
                <a:ea typeface="Public Sans" pitchFamily="34" charset="-122"/>
                <a:cs typeface="Public Sans" pitchFamily="34" charset="-120"/>
              </a:rPr>
              <a:t>With the AI investment boom</a:t>
            </a:r>
            <a:endParaRPr lang="en-US" sz="1200" dirty="0"/>
          </a:p>
        </p:txBody>
      </p:sp>
      <p:sp>
        <p:nvSpPr>
          <p:cNvPr id="19" name="Shape 17"/>
          <p:cNvSpPr/>
          <p:nvPr/>
        </p:nvSpPr>
        <p:spPr>
          <a:xfrm>
            <a:off x="6407150" y="3421360"/>
            <a:ext cx="3048000" cy="406400"/>
          </a:xfrm>
          <a:prstGeom prst="rect">
            <a:avLst/>
          </a:prstGeom>
          <a:solidFill>
            <a:srgbClr val="005DAA"/>
          </a:solidFill>
          <a:ln/>
        </p:spPr>
      </p:sp>
      <p:sp>
        <p:nvSpPr>
          <p:cNvPr id="20" name="Text 18"/>
          <p:cNvSpPr/>
          <p:nvPr/>
        </p:nvSpPr>
        <p:spPr>
          <a:xfrm>
            <a:off x="9582150" y="3429000"/>
            <a:ext cx="1479233"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05DAA"/>
                </a:solidFill>
                <a:latin typeface="Public Sans" pitchFamily="34" charset="0"/>
                <a:ea typeface="Public Sans" pitchFamily="34" charset="-122"/>
                <a:cs typeface="Public Sans" pitchFamily="34" charset="-120"/>
              </a:rPr>
              <a:t>Full pace</a:t>
            </a:r>
            <a:endParaRPr lang="en-US" sz="2200" dirty="0"/>
          </a:p>
        </p:txBody>
      </p:sp>
      <p:sp>
        <p:nvSpPr>
          <p:cNvPr id="21" name="Text 19"/>
          <p:cNvSpPr/>
          <p:nvPr/>
        </p:nvSpPr>
        <p:spPr>
          <a:xfrm>
            <a:off x="6407150" y="3954760"/>
            <a:ext cx="49053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B6B"/>
                </a:solidFill>
                <a:latin typeface="Public Sans" pitchFamily="34" charset="0"/>
                <a:ea typeface="Public Sans" pitchFamily="34" charset="-122"/>
                <a:cs typeface="Public Sans" pitchFamily="34" charset="-120"/>
              </a:rPr>
              <a:t>Without it</a:t>
            </a:r>
            <a:endParaRPr lang="en-US" sz="1200" dirty="0"/>
          </a:p>
        </p:txBody>
      </p:sp>
      <p:sp>
        <p:nvSpPr>
          <p:cNvPr id="22" name="Shape 20"/>
          <p:cNvSpPr/>
          <p:nvPr/>
        </p:nvSpPr>
        <p:spPr>
          <a:xfrm>
            <a:off x="6407150" y="4218880"/>
            <a:ext cx="1524000" cy="406400"/>
          </a:xfrm>
          <a:prstGeom prst="rect">
            <a:avLst/>
          </a:prstGeom>
          <a:solidFill>
            <a:srgbClr val="FFDD00"/>
          </a:solidFill>
          <a:ln/>
        </p:spPr>
      </p:sp>
      <p:sp>
        <p:nvSpPr>
          <p:cNvPr id="23" name="Text 21"/>
          <p:cNvSpPr/>
          <p:nvPr/>
        </p:nvSpPr>
        <p:spPr>
          <a:xfrm>
            <a:off x="8058150" y="4226520"/>
            <a:ext cx="169521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A2240"/>
                </a:solidFill>
                <a:latin typeface="Public Sans" pitchFamily="34" charset="0"/>
                <a:ea typeface="Public Sans" pitchFamily="34" charset="-122"/>
                <a:cs typeface="Public Sans" pitchFamily="34" charset="-120"/>
              </a:rPr>
              <a:t>About half</a:t>
            </a:r>
            <a:endParaRPr lang="en-US" sz="2200" dirty="0"/>
          </a:p>
        </p:txBody>
      </p:sp>
      <p:sp>
        <p:nvSpPr>
          <p:cNvPr id="24" name="Text 22"/>
          <p:cNvSpPr/>
          <p:nvPr/>
        </p:nvSpPr>
        <p:spPr>
          <a:xfrm>
            <a:off x="6407150" y="5205809"/>
            <a:ext cx="490537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B6B"/>
                </a:solidFill>
                <a:latin typeface="Public Sans" pitchFamily="34" charset="0"/>
                <a:ea typeface="Public Sans" pitchFamily="34" charset="-122"/>
                <a:cs typeface="Public Sans" pitchFamily="34" charset="-120"/>
              </a:rPr>
              <a:t>RBC puts first-half growth under 1% without it. An AI-driven productivity surge may still be ahead.</a:t>
            </a:r>
            <a:endParaRPr lang="en-US" sz="1200" dirty="0"/>
          </a:p>
        </p:txBody>
      </p:sp>
      <p:sp>
        <p:nvSpPr>
          <p:cNvPr id="25" name="Text 23"/>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B"/>
                </a:solidFill>
                <a:latin typeface="Public Sans" pitchFamily="34" charset="0"/>
                <a:ea typeface="Public Sans" pitchFamily="34" charset="-122"/>
                <a:cs typeface="Public Sans" pitchFamily="34" charset="-120"/>
              </a:rPr>
              <a:t>Source: RBC Economics, US Executive Briefings (Apr, Sep 2026); bar lengths illustrative</a:t>
            </a:r>
            <a:endParaRPr lang="en-US" sz="1200" dirty="0"/>
          </a:p>
        </p:txBody>
      </p:sp>
      <p:sp>
        <p:nvSpPr>
          <p:cNvPr id="26" name="Text 2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B"/>
                </a:solidFill>
                <a:latin typeface="Public Sans" pitchFamily="34" charset="0"/>
                <a:ea typeface="Public Sans" pitchFamily="34" charset="-122"/>
                <a:cs typeface="Public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2240"/>
        </a:solidFill>
      </p:bgPr>
    </p:bg>
    <p:spTree>
      <p:nvGrpSpPr>
        <p:cNvPr id="1" name=""/>
        <p:cNvGrpSpPr/>
        <p:nvPr/>
      </p:nvGrpSpPr>
      <p:grpSpPr>
        <a:xfrm>
          <a:off x="0" y="0"/>
          <a:ext cx="0" cy="0"/>
          <a:chOff x="0" y="0"/>
          <a:chExt cx="0" cy="0"/>
        </a:xfrm>
      </p:grpSpPr>
      <p:sp>
        <p:nvSpPr>
          <p:cNvPr id="2" name="Shape 0"/>
          <p:cNvSpPr/>
          <p:nvPr/>
        </p:nvSpPr>
        <p:spPr>
          <a:xfrm>
            <a:off x="812800" y="894060"/>
            <a:ext cx="355600" cy="50800"/>
          </a:xfrm>
          <a:prstGeom prst="rect">
            <a:avLst/>
          </a:prstGeom>
          <a:solidFill>
            <a:srgbClr val="FFDD00"/>
          </a:solidFill>
          <a:ln/>
        </p:spPr>
      </p:sp>
      <p:sp>
        <p:nvSpPr>
          <p:cNvPr id="3" name="Text 1"/>
          <p:cNvSpPr/>
          <p:nvPr/>
        </p:nvSpPr>
        <p:spPr>
          <a:xfrm>
            <a:off x="1295400" y="812800"/>
            <a:ext cx="215080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DD00"/>
                </a:solidFill>
                <a:latin typeface="Public Sans" pitchFamily="34" charset="0"/>
                <a:ea typeface="Public Sans" pitchFamily="34" charset="-122"/>
                <a:cs typeface="Public Sans" pitchFamily="34" charset="-120"/>
              </a:rPr>
              <a:t>02 · DEMOGRAPHICS</a:t>
            </a:r>
            <a:endParaRPr lang="en-US" sz="1200" dirty="0"/>
          </a:p>
        </p:txBody>
      </p:sp>
      <p:sp>
        <p:nvSpPr>
          <p:cNvPr id="4" name="Text 2"/>
          <p:cNvSpPr/>
          <p:nvPr>
            <p:ph type="title"/>
          </p:nvPr>
        </p:nvSpPr>
        <p:spPr>
          <a:xfrm>
            <a:off x="812800" y="1203920"/>
            <a:ext cx="4578350" cy="103118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6F9"/>
                </a:solidFill>
                <a:latin typeface="Public Sans" pitchFamily="34" charset="0"/>
                <a:ea typeface="Public Sans" pitchFamily="34" charset="-122"/>
                <a:cs typeface="Public Sans" pitchFamily="34" charset="-120"/>
              </a:rPr>
              <a:t>Demographics are ruling everything</a:t>
            </a:r>
            <a:endParaRPr lang="en-US" sz="3600" dirty="0"/>
          </a:p>
        </p:txBody>
      </p:sp>
      <p:sp>
        <p:nvSpPr>
          <p:cNvPr id="5" name="Text 3"/>
          <p:cNvSpPr/>
          <p:nvPr/>
        </p:nvSpPr>
        <p:spPr>
          <a:xfrm>
            <a:off x="812800" y="2387501"/>
            <a:ext cx="457835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8E8"/>
                </a:solidFill>
                <a:latin typeface="Public Sans" pitchFamily="34" charset="0"/>
                <a:ea typeface="Public Sans" pitchFamily="34" charset="-122"/>
                <a:cs typeface="Public Sans" pitchFamily="34" charset="-120"/>
              </a:rPr>
              <a:t>From retirees to young adults, the age profile now shapes labor supply, spending and housing demand.</a:t>
            </a:r>
            <a:endParaRPr lang="en-US" sz="1400" dirty="0"/>
          </a:p>
        </p:txBody>
      </p:sp>
      <p:sp>
        <p:nvSpPr>
          <p:cNvPr id="6" name="Shape 4"/>
          <p:cNvSpPr/>
          <p:nvPr/>
        </p:nvSpPr>
        <p:spPr>
          <a:xfrm>
            <a:off x="812800" y="3063081"/>
            <a:ext cx="2171700" cy="904230"/>
          </a:xfrm>
          <a:prstGeom prst="rect">
            <a:avLst/>
          </a:prstGeom>
          <a:solidFill>
            <a:srgbClr val="123560"/>
          </a:solidFill>
          <a:ln/>
        </p:spPr>
      </p:sp>
      <p:sp>
        <p:nvSpPr>
          <p:cNvPr id="7" name="Shape 5"/>
          <p:cNvSpPr/>
          <p:nvPr/>
        </p:nvSpPr>
        <p:spPr>
          <a:xfrm>
            <a:off x="812800" y="3088481"/>
            <a:ext cx="2171700" cy="0"/>
          </a:xfrm>
          <a:prstGeom prst="line">
            <a:avLst/>
          </a:prstGeom>
          <a:noFill/>
          <a:ln w="50800">
            <a:solidFill>
              <a:srgbClr val="FFDD00"/>
            </a:solidFill>
            <a:prstDash val="solid"/>
          </a:ln>
        </p:spPr>
      </p:sp>
      <p:sp>
        <p:nvSpPr>
          <p:cNvPr id="8" name="Text 6"/>
          <p:cNvSpPr/>
          <p:nvPr/>
        </p:nvSpPr>
        <p:spPr>
          <a:xfrm>
            <a:off x="965200" y="3240881"/>
            <a:ext cx="1922907"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FDD00"/>
                </a:solidFill>
                <a:latin typeface="Public Sans" pitchFamily="34" charset="0"/>
                <a:ea typeface="Public Sans" pitchFamily="34" charset="-122"/>
                <a:cs typeface="Public Sans" pitchFamily="34" charset="-120"/>
              </a:rPr>
              <a:t>1.7M</a:t>
            </a:r>
            <a:endParaRPr lang="en-US" sz="2800" dirty="0"/>
          </a:p>
        </p:txBody>
      </p:sp>
      <p:sp>
        <p:nvSpPr>
          <p:cNvPr id="9" name="Text 7"/>
          <p:cNvSpPr/>
          <p:nvPr/>
        </p:nvSpPr>
        <p:spPr>
          <a:xfrm>
            <a:off x="965200" y="3634581"/>
            <a:ext cx="20193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8E8"/>
                </a:solidFill>
                <a:latin typeface="Public Sans" pitchFamily="34" charset="0"/>
                <a:ea typeface="Public Sans" pitchFamily="34" charset="-122"/>
                <a:cs typeface="Public Sans" pitchFamily="34" charset="-120"/>
              </a:rPr>
              <a:t>Americans retired in 2025</a:t>
            </a:r>
            <a:endParaRPr lang="en-US" sz="1200" dirty="0"/>
          </a:p>
        </p:txBody>
      </p:sp>
      <p:sp>
        <p:nvSpPr>
          <p:cNvPr id="10" name="Shape 8"/>
          <p:cNvSpPr/>
          <p:nvPr/>
        </p:nvSpPr>
        <p:spPr>
          <a:xfrm>
            <a:off x="3086100" y="3063081"/>
            <a:ext cx="2171700" cy="904230"/>
          </a:xfrm>
          <a:prstGeom prst="rect">
            <a:avLst/>
          </a:prstGeom>
          <a:solidFill>
            <a:srgbClr val="123560"/>
          </a:solidFill>
          <a:ln/>
        </p:spPr>
      </p:sp>
      <p:sp>
        <p:nvSpPr>
          <p:cNvPr id="11" name="Shape 9"/>
          <p:cNvSpPr/>
          <p:nvPr/>
        </p:nvSpPr>
        <p:spPr>
          <a:xfrm>
            <a:off x="3086100" y="3088481"/>
            <a:ext cx="2171700" cy="0"/>
          </a:xfrm>
          <a:prstGeom prst="line">
            <a:avLst/>
          </a:prstGeom>
          <a:noFill/>
          <a:ln w="50800">
            <a:solidFill>
              <a:srgbClr val="FFDD00"/>
            </a:solidFill>
            <a:prstDash val="solid"/>
          </a:ln>
        </p:spPr>
      </p:sp>
      <p:sp>
        <p:nvSpPr>
          <p:cNvPr id="12" name="Text 10"/>
          <p:cNvSpPr/>
          <p:nvPr/>
        </p:nvSpPr>
        <p:spPr>
          <a:xfrm>
            <a:off x="3238500" y="3240881"/>
            <a:ext cx="1922907"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FDD00"/>
                </a:solidFill>
                <a:latin typeface="Public Sans" pitchFamily="34" charset="0"/>
                <a:ea typeface="Public Sans" pitchFamily="34" charset="-122"/>
                <a:cs typeface="Public Sans" pitchFamily="34" charset="-120"/>
              </a:rPr>
              <a:t>22%</a:t>
            </a:r>
            <a:endParaRPr lang="en-US" sz="2800" dirty="0"/>
          </a:p>
        </p:txBody>
      </p:sp>
      <p:sp>
        <p:nvSpPr>
          <p:cNvPr id="13" name="Text 11"/>
          <p:cNvSpPr/>
          <p:nvPr/>
        </p:nvSpPr>
        <p:spPr>
          <a:xfrm>
            <a:off x="3238500" y="3634581"/>
            <a:ext cx="20193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8E8"/>
                </a:solidFill>
                <a:latin typeface="Public Sans" pitchFamily="34" charset="0"/>
                <a:ea typeface="Public Sans" pitchFamily="34" charset="-122"/>
                <a:cs typeface="Public Sans" pitchFamily="34" charset="-120"/>
              </a:rPr>
              <a:t>of 25–35s live with family</a:t>
            </a:r>
            <a:endParaRPr lang="en-US" sz="1200" dirty="0"/>
          </a:p>
        </p:txBody>
      </p:sp>
      <p:sp>
        <p:nvSpPr>
          <p:cNvPr id="14" name="Shape 12"/>
          <p:cNvSpPr/>
          <p:nvPr/>
        </p:nvSpPr>
        <p:spPr>
          <a:xfrm>
            <a:off x="5664200" y="1193800"/>
            <a:ext cx="3302000" cy="3302000"/>
          </a:xfrm>
          <a:prstGeom prst="roundRect">
            <a:avLst>
              <a:gd name="adj" fmla="val 49231"/>
            </a:avLst>
          </a:prstGeom>
          <a:solidFill>
            <a:srgbClr val="005DAA"/>
          </a:solidFill>
          <a:ln/>
        </p:spPr>
      </p:sp>
      <p:sp>
        <p:nvSpPr>
          <p:cNvPr id="15" name="Text 13"/>
          <p:cNvSpPr/>
          <p:nvPr/>
        </p:nvSpPr>
        <p:spPr>
          <a:xfrm>
            <a:off x="5830967" y="2181870"/>
            <a:ext cx="2968466" cy="787400"/>
          </a:xfrm>
          <a:prstGeom prst="rect">
            <a:avLst/>
          </a:prstGeom>
          <a:noFill/>
          <a:ln/>
        </p:spPr>
        <p:txBody>
          <a:bodyPr wrap="square" lIns="0" tIns="0" rIns="0" bIns="0" rtlCol="0" anchor="t">
            <a:normAutofit/>
          </a:bodyPr>
          <a:lstStyle/>
          <a:p>
            <a:pPr algn="ctr" indent="0" marL="0">
              <a:lnSpc>
                <a:spcPts val="6000"/>
              </a:lnSpc>
              <a:buNone/>
            </a:pPr>
            <a:r>
              <a:rPr lang="en-US" sz="6000" b="1" dirty="0">
                <a:solidFill>
                  <a:srgbClr val="F4F6F9"/>
                </a:solidFill>
                <a:latin typeface="Public Sans" pitchFamily="34" charset="0"/>
                <a:ea typeface="Public Sans" pitchFamily="34" charset="-122"/>
                <a:cs typeface="Public Sans" pitchFamily="34" charset="-120"/>
              </a:rPr>
              <a:t>52.8M</a:t>
            </a:r>
            <a:endParaRPr lang="en-US" sz="6000" dirty="0"/>
          </a:p>
        </p:txBody>
      </p:sp>
      <p:sp>
        <p:nvSpPr>
          <p:cNvPr id="16" name="Text 14"/>
          <p:cNvSpPr/>
          <p:nvPr/>
        </p:nvSpPr>
        <p:spPr>
          <a:xfrm>
            <a:off x="6028318" y="2994670"/>
            <a:ext cx="2573715" cy="274290"/>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F4F6F9"/>
                </a:solidFill>
                <a:latin typeface="Public Sans" pitchFamily="34" charset="0"/>
                <a:ea typeface="Public Sans" pitchFamily="34" charset="-122"/>
                <a:cs typeface="Public Sans" pitchFamily="34" charset="-120"/>
              </a:rPr>
              <a:t>retired Americans in 2025</a:t>
            </a:r>
            <a:endParaRPr lang="en-US" sz="1400" dirty="0"/>
          </a:p>
        </p:txBody>
      </p:sp>
      <p:sp>
        <p:nvSpPr>
          <p:cNvPr id="17" name="Text 15"/>
          <p:cNvSpPr/>
          <p:nvPr/>
        </p:nvSpPr>
        <p:spPr>
          <a:xfrm>
            <a:off x="6362105" y="3294360"/>
            <a:ext cx="190619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9D8E8"/>
                </a:solidFill>
                <a:latin typeface="Public Sans" pitchFamily="34" charset="0"/>
                <a:ea typeface="Public Sans" pitchFamily="34" charset="-122"/>
                <a:cs typeface="Public Sans" pitchFamily="34" charset="-120"/>
              </a:rPr>
              <a:t>up from 39.6M in 2015</a:t>
            </a:r>
            <a:endParaRPr lang="en-US" sz="1200" dirty="0"/>
          </a:p>
        </p:txBody>
      </p:sp>
      <p:sp>
        <p:nvSpPr>
          <p:cNvPr id="18" name="Text 16"/>
          <p:cNvSpPr/>
          <p:nvPr/>
        </p:nvSpPr>
        <p:spPr>
          <a:xfrm>
            <a:off x="9283700" y="1257300"/>
            <a:ext cx="1765935" cy="452041"/>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DD00"/>
                </a:solidFill>
                <a:latin typeface="Public Sans" pitchFamily="34" charset="0"/>
                <a:ea typeface="Public Sans" pitchFamily="34" charset="-122"/>
                <a:cs typeface="Public Sans" pitchFamily="34" charset="-120"/>
              </a:rPr>
              <a:t>TWO ENDS OF THE AGE CURVE</a:t>
            </a:r>
            <a:endParaRPr lang="en-US" sz="1200" dirty="0"/>
          </a:p>
        </p:txBody>
      </p:sp>
      <p:sp>
        <p:nvSpPr>
          <p:cNvPr id="19" name="Shape 17"/>
          <p:cNvSpPr/>
          <p:nvPr/>
        </p:nvSpPr>
        <p:spPr>
          <a:xfrm>
            <a:off x="9410700" y="2908300"/>
            <a:ext cx="1460500" cy="1460500"/>
          </a:xfrm>
          <a:prstGeom prst="roundRect">
            <a:avLst>
              <a:gd name="adj" fmla="val 50000"/>
            </a:avLst>
          </a:prstGeom>
          <a:solidFill>
            <a:srgbClr val="FFDD00"/>
          </a:solidFill>
          <a:ln/>
        </p:spPr>
      </p:sp>
      <p:sp>
        <p:nvSpPr>
          <p:cNvPr id="20" name="Text 18"/>
          <p:cNvSpPr/>
          <p:nvPr/>
        </p:nvSpPr>
        <p:spPr>
          <a:xfrm>
            <a:off x="9410794" y="3290590"/>
            <a:ext cx="1460361" cy="482600"/>
          </a:xfrm>
          <a:prstGeom prst="rect">
            <a:avLst/>
          </a:prstGeom>
          <a:noFill/>
          <a:ln/>
        </p:spPr>
        <p:txBody>
          <a:bodyPr wrap="square" lIns="0" tIns="0" rIns="0" bIns="0" rtlCol="0" anchor="t">
            <a:normAutofit/>
          </a:bodyPr>
          <a:lstStyle/>
          <a:p>
            <a:pPr algn="ctr" indent="0" marL="0">
              <a:lnSpc>
                <a:spcPts val="3600"/>
              </a:lnSpc>
              <a:buNone/>
            </a:pPr>
            <a:r>
              <a:rPr lang="en-US" sz="3600" b="1" dirty="0">
                <a:solidFill>
                  <a:srgbClr val="0A2240"/>
                </a:solidFill>
                <a:latin typeface="Public Sans" pitchFamily="34" charset="0"/>
                <a:ea typeface="Public Sans" pitchFamily="34" charset="-122"/>
                <a:cs typeface="Public Sans" pitchFamily="34" charset="-120"/>
              </a:rPr>
              <a:t>~10M</a:t>
            </a:r>
            <a:endParaRPr lang="en-US" sz="3600" dirty="0"/>
          </a:p>
        </p:txBody>
      </p:sp>
      <p:sp>
        <p:nvSpPr>
          <p:cNvPr id="21" name="Text 19"/>
          <p:cNvSpPr/>
          <p:nvPr/>
        </p:nvSpPr>
        <p:spPr>
          <a:xfrm>
            <a:off x="9616068" y="3773190"/>
            <a:ext cx="104971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A2240"/>
                </a:solidFill>
                <a:latin typeface="Public Sans" pitchFamily="34" charset="0"/>
                <a:ea typeface="Public Sans" pitchFamily="34" charset="-122"/>
                <a:cs typeface="Public Sans" pitchFamily="34" charset="-120"/>
              </a:rPr>
              <a:t>aged 25–35</a:t>
            </a:r>
            <a:endParaRPr lang="en-US" sz="1200" dirty="0"/>
          </a:p>
        </p:txBody>
      </p:sp>
      <p:sp>
        <p:nvSpPr>
          <p:cNvPr id="22" name="Text 20"/>
          <p:cNvSpPr/>
          <p:nvPr/>
        </p:nvSpPr>
        <p:spPr>
          <a:xfrm>
            <a:off x="9283700" y="4495800"/>
            <a:ext cx="176593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8E8"/>
                </a:solidFill>
                <a:latin typeface="Public Sans" pitchFamily="34" charset="0"/>
                <a:ea typeface="Public Sans" pitchFamily="34" charset="-122"/>
                <a:cs typeface="Public Sans" pitchFamily="34" charset="-120"/>
              </a:rPr>
              <a:t>young adults living with a parent or grandparent</a:t>
            </a:r>
            <a:endParaRPr lang="en-US" sz="1200" dirty="0"/>
          </a:p>
        </p:txBody>
      </p:sp>
      <p:sp>
        <p:nvSpPr>
          <p:cNvPr id="23" name="Text 21"/>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4CA"/>
                </a:solidFill>
                <a:latin typeface="Public Sans" pitchFamily="34" charset="0"/>
                <a:ea typeface="Public Sans" pitchFamily="34" charset="-122"/>
                <a:cs typeface="Public Sans" pitchFamily="34" charset="-120"/>
              </a:rPr>
              <a:t>Source: RBC Economics (Jun 2025, Sep 2026); circle areas to scale</a:t>
            </a:r>
            <a:endParaRPr lang="en-US" sz="1200" dirty="0"/>
          </a:p>
        </p:txBody>
      </p:sp>
      <p:sp>
        <p:nvSpPr>
          <p:cNvPr id="24" name="Text 2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4CA"/>
                </a:solidFill>
                <a:latin typeface="Public Sans" pitchFamily="34" charset="0"/>
                <a:ea typeface="Public Sans" pitchFamily="34" charset="-122"/>
                <a:cs typeface="Public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812800" y="894060"/>
            <a:ext cx="355600" cy="50800"/>
          </a:xfrm>
          <a:prstGeom prst="rect">
            <a:avLst/>
          </a:prstGeom>
          <a:solidFill>
            <a:srgbClr val="FFDD00"/>
          </a:solidFill>
          <a:ln/>
        </p:spPr>
      </p:sp>
      <p:sp>
        <p:nvSpPr>
          <p:cNvPr id="3" name="Text 1"/>
          <p:cNvSpPr/>
          <p:nvPr/>
        </p:nvSpPr>
        <p:spPr>
          <a:xfrm>
            <a:off x="1295400" y="812800"/>
            <a:ext cx="215080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05DAA"/>
                </a:solidFill>
                <a:latin typeface="Public Sans" pitchFamily="34" charset="0"/>
                <a:ea typeface="Public Sans" pitchFamily="34" charset="-122"/>
                <a:cs typeface="Public Sans" pitchFamily="34" charset="-120"/>
              </a:rPr>
              <a:t>02 · DEMOGRAPHICS</a:t>
            </a:r>
            <a:endParaRPr lang="en-US" sz="1200" dirty="0"/>
          </a:p>
        </p:txBody>
      </p:sp>
      <p:sp>
        <p:nvSpPr>
          <p:cNvPr id="4" name="Text 2"/>
          <p:cNvSpPr/>
          <p:nvPr>
            <p:ph type="title"/>
          </p:nvPr>
        </p:nvSpPr>
        <p:spPr>
          <a:xfrm>
            <a:off x="812800" y="1153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A2240"/>
                </a:solidFill>
                <a:latin typeface="Public Sans" pitchFamily="34" charset="0"/>
                <a:ea typeface="Public Sans" pitchFamily="34" charset="-122"/>
                <a:cs typeface="Public Sans" pitchFamily="34" charset="-120"/>
              </a:rPr>
              <a:t>Retirees are a hidden tailwind</a:t>
            </a:r>
            <a:endParaRPr lang="en-US" sz="3200" dirty="0"/>
          </a:p>
        </p:txBody>
      </p:sp>
      <p:sp>
        <p:nvSpPr>
          <p:cNvPr id="5" name="Shape 3"/>
          <p:cNvSpPr/>
          <p:nvPr/>
        </p:nvSpPr>
        <p:spPr>
          <a:xfrm>
            <a:off x="815975" y="1806525"/>
            <a:ext cx="3414167" cy="1606500"/>
          </a:xfrm>
          <a:prstGeom prst="rect">
            <a:avLst/>
          </a:prstGeom>
          <a:solidFill>
            <a:srgbClr val="FBFCFD"/>
          </a:solidFill>
          <a:ln w="6350">
            <a:solidFill>
              <a:srgbClr val="D5DEE8"/>
            </a:solidFill>
            <a:prstDash val="solid"/>
          </a:ln>
        </p:spPr>
      </p:sp>
      <p:sp>
        <p:nvSpPr>
          <p:cNvPr id="6" name="Text 4"/>
          <p:cNvSpPr/>
          <p:nvPr/>
        </p:nvSpPr>
        <p:spPr>
          <a:xfrm>
            <a:off x="996950" y="1962100"/>
            <a:ext cx="3143783"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005DAA"/>
                </a:solidFill>
                <a:latin typeface="Public Sans" pitchFamily="34" charset="0"/>
                <a:ea typeface="Public Sans" pitchFamily="34" charset="-122"/>
                <a:cs typeface="Public Sans" pitchFamily="34" charset="-120"/>
              </a:rPr>
              <a:t>1.7M</a:t>
            </a:r>
            <a:endParaRPr lang="en-US" sz="4400" dirty="0"/>
          </a:p>
        </p:txBody>
      </p:sp>
      <p:sp>
        <p:nvSpPr>
          <p:cNvPr id="7" name="Text 5"/>
          <p:cNvSpPr/>
          <p:nvPr/>
        </p:nvSpPr>
        <p:spPr>
          <a:xfrm>
            <a:off x="996950" y="2559000"/>
            <a:ext cx="314378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A2240"/>
                </a:solidFill>
                <a:latin typeface="Public Sans" pitchFamily="34" charset="0"/>
                <a:ea typeface="Public Sans" pitchFamily="34" charset="-122"/>
                <a:cs typeface="Public Sans" pitchFamily="34" charset="-120"/>
              </a:rPr>
              <a:t>Retirements in 2025</a:t>
            </a:r>
            <a:endParaRPr lang="en-US" sz="1400" dirty="0"/>
          </a:p>
        </p:txBody>
      </p:sp>
      <p:sp>
        <p:nvSpPr>
          <p:cNvPr id="8" name="Text 6"/>
          <p:cNvSpPr/>
          <p:nvPr/>
        </p:nvSpPr>
        <p:spPr>
          <a:xfrm>
            <a:off x="996950" y="2845991"/>
            <a:ext cx="3143783"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B5B6B"/>
                </a:solidFill>
                <a:latin typeface="Public Sans" pitchFamily="34" charset="0"/>
                <a:ea typeface="Public Sans" pitchFamily="34" charset="-122"/>
                <a:cs typeface="Public Sans" pitchFamily="34" charset="-120"/>
              </a:rPr>
              <a:t>Up from about 1.2M a year before the pandemic.</a:t>
            </a:r>
            <a:endParaRPr lang="en-US" sz="1200" dirty="0"/>
          </a:p>
        </p:txBody>
      </p:sp>
      <p:sp>
        <p:nvSpPr>
          <p:cNvPr id="9" name="Shape 7"/>
          <p:cNvSpPr/>
          <p:nvPr/>
        </p:nvSpPr>
        <p:spPr>
          <a:xfrm>
            <a:off x="4388892" y="1806525"/>
            <a:ext cx="3414216" cy="1606500"/>
          </a:xfrm>
          <a:prstGeom prst="rect">
            <a:avLst/>
          </a:prstGeom>
          <a:solidFill>
            <a:srgbClr val="FBFCFD"/>
          </a:solidFill>
          <a:ln w="6350">
            <a:solidFill>
              <a:srgbClr val="D5DEE8"/>
            </a:solidFill>
            <a:prstDash val="solid"/>
          </a:ln>
        </p:spPr>
      </p:sp>
      <p:sp>
        <p:nvSpPr>
          <p:cNvPr id="10" name="Text 8"/>
          <p:cNvSpPr/>
          <p:nvPr/>
        </p:nvSpPr>
        <p:spPr>
          <a:xfrm>
            <a:off x="4569867" y="1962100"/>
            <a:ext cx="3143834"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005DAA"/>
                </a:solidFill>
                <a:latin typeface="Public Sans" pitchFamily="34" charset="0"/>
                <a:ea typeface="Public Sans" pitchFamily="34" charset="-122"/>
                <a:cs typeface="Public Sans" pitchFamily="34" charset="-120"/>
              </a:rPr>
              <a:t>$75T</a:t>
            </a:r>
            <a:endParaRPr lang="en-US" sz="4400" dirty="0"/>
          </a:p>
        </p:txBody>
      </p:sp>
      <p:sp>
        <p:nvSpPr>
          <p:cNvPr id="11" name="Text 9"/>
          <p:cNvSpPr/>
          <p:nvPr/>
        </p:nvSpPr>
        <p:spPr>
          <a:xfrm>
            <a:off x="4569867" y="2559000"/>
            <a:ext cx="314383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A2240"/>
                </a:solidFill>
                <a:latin typeface="Public Sans" pitchFamily="34" charset="0"/>
                <a:ea typeface="Public Sans" pitchFamily="34" charset="-122"/>
                <a:cs typeface="Public Sans" pitchFamily="34" charset="-120"/>
              </a:rPr>
              <a:t>Boomer wealth</a:t>
            </a:r>
            <a:endParaRPr lang="en-US" sz="1400" dirty="0"/>
          </a:p>
        </p:txBody>
      </p:sp>
      <p:sp>
        <p:nvSpPr>
          <p:cNvPr id="12" name="Text 10"/>
          <p:cNvSpPr/>
          <p:nvPr/>
        </p:nvSpPr>
        <p:spPr>
          <a:xfrm>
            <a:off x="4569867" y="2845991"/>
            <a:ext cx="3143834"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B5B6B"/>
                </a:solidFill>
                <a:latin typeface="Public Sans" pitchFamily="34" charset="0"/>
                <a:ea typeface="Public Sans" pitchFamily="34" charset="-122"/>
                <a:cs typeface="Public Sans" pitchFamily="34" charset="-120"/>
              </a:rPr>
              <a:t>Retirees spend from savings, mostly on services like health care.</a:t>
            </a:r>
            <a:endParaRPr lang="en-US" sz="1200" dirty="0"/>
          </a:p>
        </p:txBody>
      </p:sp>
      <p:sp>
        <p:nvSpPr>
          <p:cNvPr id="13" name="Shape 11"/>
          <p:cNvSpPr/>
          <p:nvPr/>
        </p:nvSpPr>
        <p:spPr>
          <a:xfrm>
            <a:off x="7961858" y="1806525"/>
            <a:ext cx="3414167" cy="1606500"/>
          </a:xfrm>
          <a:prstGeom prst="rect">
            <a:avLst/>
          </a:prstGeom>
          <a:solidFill>
            <a:srgbClr val="FBFCFD"/>
          </a:solidFill>
          <a:ln w="6350">
            <a:solidFill>
              <a:srgbClr val="D5DEE8"/>
            </a:solidFill>
            <a:prstDash val="solid"/>
          </a:ln>
        </p:spPr>
      </p:sp>
      <p:sp>
        <p:nvSpPr>
          <p:cNvPr id="14" name="Text 12"/>
          <p:cNvSpPr/>
          <p:nvPr/>
        </p:nvSpPr>
        <p:spPr>
          <a:xfrm>
            <a:off x="8142833" y="1962100"/>
            <a:ext cx="3143783"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005DAA"/>
                </a:solidFill>
                <a:latin typeface="Public Sans" pitchFamily="34" charset="0"/>
                <a:ea typeface="Public Sans" pitchFamily="34" charset="-122"/>
                <a:cs typeface="Public Sans" pitchFamily="34" charset="-120"/>
              </a:rPr>
              <a:t>3.5%</a:t>
            </a:r>
            <a:endParaRPr lang="en-US" sz="4400" dirty="0"/>
          </a:p>
        </p:txBody>
      </p:sp>
      <p:sp>
        <p:nvSpPr>
          <p:cNvPr id="15" name="Text 13"/>
          <p:cNvSpPr/>
          <p:nvPr/>
        </p:nvSpPr>
        <p:spPr>
          <a:xfrm>
            <a:off x="8142833" y="2559000"/>
            <a:ext cx="314378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A2240"/>
                </a:solidFill>
                <a:latin typeface="Public Sans" pitchFamily="34" charset="0"/>
                <a:ea typeface="Public Sans" pitchFamily="34" charset="-122"/>
                <a:cs typeface="Public Sans" pitchFamily="34" charset="-120"/>
              </a:rPr>
              <a:t>Expected 2027 COLA</a:t>
            </a:r>
            <a:endParaRPr lang="en-US" sz="1400" dirty="0"/>
          </a:p>
        </p:txBody>
      </p:sp>
      <p:sp>
        <p:nvSpPr>
          <p:cNvPr id="16" name="Text 14"/>
          <p:cNvSpPr/>
          <p:nvPr/>
        </p:nvSpPr>
        <p:spPr>
          <a:xfrm>
            <a:off x="8142833" y="2845991"/>
            <a:ext cx="3143783"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B5B6B"/>
                </a:solidFill>
                <a:latin typeface="Public Sans" pitchFamily="34" charset="0"/>
                <a:ea typeface="Public Sans" pitchFamily="34" charset="-122"/>
                <a:cs typeface="Public Sans" pitchFamily="34" charset="-120"/>
              </a:rPr>
              <a:t>Inflation-adjusted benefits for 57M+ Social Security recipients.</a:t>
            </a:r>
            <a:endParaRPr lang="en-US" sz="1200" dirty="0"/>
          </a:p>
        </p:txBody>
      </p:sp>
      <p:sp>
        <p:nvSpPr>
          <p:cNvPr id="17" name="Shape 15"/>
          <p:cNvSpPr/>
          <p:nvPr/>
        </p:nvSpPr>
        <p:spPr>
          <a:xfrm>
            <a:off x="812800" y="3619401"/>
            <a:ext cx="10566400" cy="2222599"/>
          </a:xfrm>
          <a:prstGeom prst="rect">
            <a:avLst/>
          </a:prstGeom>
          <a:solidFill>
            <a:srgbClr val="0A2240"/>
          </a:solidFill>
          <a:ln/>
        </p:spPr>
      </p:sp>
      <p:sp>
        <p:nvSpPr>
          <p:cNvPr id="18" name="Text 16"/>
          <p:cNvSpPr/>
          <p:nvPr/>
        </p:nvSpPr>
        <p:spPr>
          <a:xfrm>
            <a:off x="1066800" y="4180830"/>
            <a:ext cx="248539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DD00"/>
                </a:solidFill>
                <a:latin typeface="Public Sans" pitchFamily="34" charset="0"/>
                <a:ea typeface="Public Sans" pitchFamily="34" charset="-122"/>
                <a:cs typeface="Public Sans" pitchFamily="34" charset="-120"/>
              </a:rPr>
              <a:t>LABOR MARKET</a:t>
            </a:r>
            <a:endParaRPr lang="en-US" sz="1200" dirty="0"/>
          </a:p>
        </p:txBody>
      </p:sp>
      <p:sp>
        <p:nvSpPr>
          <p:cNvPr id="19" name="Text 17"/>
          <p:cNvSpPr/>
          <p:nvPr/>
        </p:nvSpPr>
        <p:spPr>
          <a:xfrm>
            <a:off x="1066800" y="4457650"/>
            <a:ext cx="2485390" cy="84827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4F6F9"/>
                </a:solidFill>
                <a:latin typeface="Public Sans" pitchFamily="34" charset="0"/>
                <a:ea typeface="Public Sans" pitchFamily="34" charset="-122"/>
                <a:cs typeface="Public Sans" pitchFamily="34" charset="-120"/>
              </a:rPr>
              <a:t>Retirees per unemployed new entrant</a:t>
            </a:r>
            <a:endParaRPr lang="en-US" sz="1800" dirty="0"/>
          </a:p>
        </p:txBody>
      </p:sp>
      <p:sp>
        <p:nvSpPr>
          <p:cNvPr id="20" name="Text 18"/>
          <p:cNvSpPr/>
          <p:nvPr/>
        </p:nvSpPr>
        <p:spPr>
          <a:xfrm>
            <a:off x="3784600" y="4098280"/>
            <a:ext cx="1130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9D8E8"/>
                </a:solidFill>
                <a:latin typeface="Public Sans" pitchFamily="34" charset="0"/>
                <a:ea typeface="Public Sans" pitchFamily="34" charset="-122"/>
                <a:cs typeface="Public Sans" pitchFamily="34" charset="-120"/>
              </a:rPr>
              <a:t>1970–2010</a:t>
            </a:r>
            <a:endParaRPr lang="en-US" sz="1200" dirty="0"/>
          </a:p>
        </p:txBody>
      </p:sp>
      <p:pic>
        <p:nvPicPr>
          <p:cNvPr id="21" name="Image 0" descr="One retiree for each new entrant to the labor force">    </p:cNvPr>
          <p:cNvPicPr>
            <a:picLocks noChangeAspect="1"/>
          </p:cNvPicPr>
          <p:nvPr/>
        </p:nvPicPr>
        <p:blipFill>
          <a:blip r:embed="rId1"/>
          <a:srcRect l="0" r="0" t="0" b="0"/>
          <a:stretch/>
        </p:blipFill>
        <p:spPr>
          <a:xfrm>
            <a:off x="5016500" y="3912840"/>
            <a:ext cx="762000" cy="584200"/>
          </a:xfrm>
          <a:prstGeom prst="rect">
            <a:avLst/>
          </a:prstGeom>
        </p:spPr>
      </p:pic>
      <p:sp>
        <p:nvSpPr>
          <p:cNvPr id="22" name="Text 19"/>
          <p:cNvSpPr/>
          <p:nvPr/>
        </p:nvSpPr>
        <p:spPr>
          <a:xfrm>
            <a:off x="6819900" y="4009380"/>
            <a:ext cx="187958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4F6F9"/>
                </a:solidFill>
                <a:latin typeface="Public Sans" pitchFamily="34" charset="0"/>
                <a:ea typeface="Public Sans" pitchFamily="34" charset="-122"/>
                <a:cs typeface="Public Sans" pitchFamily="34" charset="-120"/>
              </a:rPr>
              <a:t>about 1-to-1</a:t>
            </a:r>
            <a:endParaRPr lang="en-US" sz="2200" dirty="0"/>
          </a:p>
        </p:txBody>
      </p:sp>
      <p:sp>
        <p:nvSpPr>
          <p:cNvPr id="23" name="Text 20"/>
          <p:cNvSpPr/>
          <p:nvPr/>
        </p:nvSpPr>
        <p:spPr>
          <a:xfrm>
            <a:off x="3784600" y="4809480"/>
            <a:ext cx="1130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9D8E8"/>
                </a:solidFill>
                <a:latin typeface="Public Sans" pitchFamily="34" charset="0"/>
                <a:ea typeface="Public Sans" pitchFamily="34" charset="-122"/>
                <a:cs typeface="Public Sans" pitchFamily="34" charset="-120"/>
              </a:rPr>
              <a:t>Since 2010</a:t>
            </a:r>
            <a:endParaRPr lang="en-US" sz="1200" dirty="0"/>
          </a:p>
        </p:txBody>
      </p:sp>
      <p:pic>
        <p:nvPicPr>
          <p:cNvPr id="24" name="Image 1" descr="Three retirees for each new entrant to the labor force">    </p:cNvPr>
          <p:cNvPicPr>
            <a:picLocks noChangeAspect="1"/>
          </p:cNvPicPr>
          <p:nvPr/>
        </p:nvPicPr>
        <p:blipFill>
          <a:blip r:embed="rId2"/>
          <a:srcRect l="0" r="0" t="0" b="0"/>
          <a:stretch/>
        </p:blipFill>
        <p:spPr>
          <a:xfrm>
            <a:off x="5016500" y="4624040"/>
            <a:ext cx="1574800" cy="584200"/>
          </a:xfrm>
          <a:prstGeom prst="rect">
            <a:avLst/>
          </a:prstGeom>
        </p:spPr>
      </p:pic>
      <p:sp>
        <p:nvSpPr>
          <p:cNvPr id="25" name="Text 21"/>
          <p:cNvSpPr/>
          <p:nvPr/>
        </p:nvSpPr>
        <p:spPr>
          <a:xfrm>
            <a:off x="6819900" y="4720580"/>
            <a:ext cx="2048589"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DD00"/>
                </a:solidFill>
                <a:latin typeface="Public Sans" pitchFamily="34" charset="0"/>
                <a:ea typeface="Public Sans" pitchFamily="34" charset="-122"/>
                <a:cs typeface="Public Sans" pitchFamily="34" charset="-120"/>
              </a:rPr>
              <a:t>nearly 3-to-1</a:t>
            </a:r>
            <a:endParaRPr lang="en-US" sz="2200" dirty="0"/>
          </a:p>
        </p:txBody>
      </p:sp>
      <p:sp>
        <p:nvSpPr>
          <p:cNvPr id="26" name="Shape 22"/>
          <p:cNvSpPr/>
          <p:nvPr/>
        </p:nvSpPr>
        <p:spPr>
          <a:xfrm>
            <a:off x="3784600" y="5378400"/>
            <a:ext cx="127000" cy="127000"/>
          </a:xfrm>
          <a:prstGeom prst="roundRect">
            <a:avLst>
              <a:gd name="adj" fmla="val 50000"/>
            </a:avLst>
          </a:prstGeom>
          <a:solidFill>
            <a:srgbClr val="9CC3E6"/>
          </a:solidFill>
          <a:ln/>
        </p:spPr>
      </p:sp>
      <p:sp>
        <p:nvSpPr>
          <p:cNvPr id="27" name="Text 23"/>
          <p:cNvSpPr/>
          <p:nvPr/>
        </p:nvSpPr>
        <p:spPr>
          <a:xfrm>
            <a:off x="4064000" y="5335240"/>
            <a:ext cx="6148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8E8"/>
                </a:solidFill>
                <a:latin typeface="Public Sans" pitchFamily="34" charset="0"/>
                <a:ea typeface="Public Sans" pitchFamily="34" charset="-122"/>
                <a:cs typeface="Public Sans" pitchFamily="34" charset="-120"/>
              </a:rPr>
              <a:t>Retiree</a:t>
            </a:r>
            <a:endParaRPr lang="en-US" sz="1200" dirty="0"/>
          </a:p>
        </p:txBody>
      </p:sp>
      <p:sp>
        <p:nvSpPr>
          <p:cNvPr id="28" name="Shape 24"/>
          <p:cNvSpPr/>
          <p:nvPr/>
        </p:nvSpPr>
        <p:spPr>
          <a:xfrm>
            <a:off x="4728815" y="5378400"/>
            <a:ext cx="127000" cy="127000"/>
          </a:xfrm>
          <a:prstGeom prst="roundRect">
            <a:avLst>
              <a:gd name="adj" fmla="val 50000"/>
            </a:avLst>
          </a:prstGeom>
          <a:solidFill>
            <a:srgbClr val="FFDD00"/>
          </a:solidFill>
          <a:ln/>
        </p:spPr>
      </p:sp>
      <p:sp>
        <p:nvSpPr>
          <p:cNvPr id="29" name="Text 25"/>
          <p:cNvSpPr/>
          <p:nvPr/>
        </p:nvSpPr>
        <p:spPr>
          <a:xfrm>
            <a:off x="5008215" y="5335240"/>
            <a:ext cx="21206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8E8"/>
                </a:solidFill>
                <a:latin typeface="Public Sans" pitchFamily="34" charset="0"/>
                <a:ea typeface="Public Sans" pitchFamily="34" charset="-122"/>
                <a:cs typeface="Public Sans" pitchFamily="34" charset="-120"/>
              </a:rPr>
              <a:t>Unemployed new entrant</a:t>
            </a:r>
            <a:endParaRPr lang="en-US" sz="1200" dirty="0"/>
          </a:p>
        </p:txBody>
      </p:sp>
      <p:sp>
        <p:nvSpPr>
          <p:cNvPr id="30" name="Text 26"/>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B"/>
                </a:solidFill>
                <a:latin typeface="Public Sans" pitchFamily="34" charset="0"/>
                <a:ea typeface="Public Sans" pitchFamily="34" charset="-122"/>
                <a:cs typeface="Public Sans" pitchFamily="34" charset="-120"/>
              </a:rPr>
              <a:t>Source: RBC Economics (Jun 2025; Sep 2026)</a:t>
            </a:r>
            <a:endParaRPr lang="en-US" sz="1200" dirty="0"/>
          </a:p>
        </p:txBody>
      </p:sp>
      <p:sp>
        <p:nvSpPr>
          <p:cNvPr id="31" name="Text 27"/>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B"/>
                </a:solidFill>
                <a:latin typeface="Public Sans" pitchFamily="34" charset="0"/>
                <a:ea typeface="Public Sans" pitchFamily="34" charset="-122"/>
                <a:cs typeface="Public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812800" y="894060"/>
            <a:ext cx="355600" cy="50800"/>
          </a:xfrm>
          <a:prstGeom prst="rect">
            <a:avLst/>
          </a:prstGeom>
          <a:solidFill>
            <a:srgbClr val="FFDD00"/>
          </a:solidFill>
          <a:ln/>
        </p:spPr>
      </p:sp>
      <p:sp>
        <p:nvSpPr>
          <p:cNvPr id="3" name="Text 1"/>
          <p:cNvSpPr/>
          <p:nvPr/>
        </p:nvSpPr>
        <p:spPr>
          <a:xfrm>
            <a:off x="1295400" y="812800"/>
            <a:ext cx="215080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05DAA"/>
                </a:solidFill>
                <a:latin typeface="Public Sans" pitchFamily="34" charset="0"/>
                <a:ea typeface="Public Sans" pitchFamily="34" charset="-122"/>
                <a:cs typeface="Public Sans" pitchFamily="34" charset="-120"/>
              </a:rPr>
              <a:t>02 · DEMOGRAPHICS</a:t>
            </a:r>
            <a:endParaRPr lang="en-US" sz="1200" dirty="0"/>
          </a:p>
        </p:txBody>
      </p:sp>
      <p:sp>
        <p:nvSpPr>
          <p:cNvPr id="4" name="Text 2"/>
          <p:cNvSpPr/>
          <p:nvPr>
            <p:ph type="title"/>
          </p:nvPr>
        </p:nvSpPr>
        <p:spPr>
          <a:xfrm>
            <a:off x="812800" y="1153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A2240"/>
                </a:solidFill>
                <a:latin typeface="Public Sans" pitchFamily="34" charset="0"/>
                <a:ea typeface="Public Sans" pitchFamily="34" charset="-122"/>
                <a:cs typeface="Public Sans" pitchFamily="34" charset="-120"/>
              </a:rPr>
              <a:t>Housing demand still lives at home</a:t>
            </a:r>
            <a:endParaRPr lang="en-US" sz="3200" dirty="0"/>
          </a:p>
        </p:txBody>
      </p:sp>
      <p:sp>
        <p:nvSpPr>
          <p:cNvPr id="5" name="Text 3"/>
          <p:cNvSpPr/>
          <p:nvPr/>
        </p:nvSpPr>
        <p:spPr>
          <a:xfrm>
            <a:off x="812800" y="1803350"/>
            <a:ext cx="366268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A2240"/>
                </a:solidFill>
                <a:latin typeface="Public Sans" pitchFamily="34" charset="0"/>
                <a:ea typeface="Public Sans" pitchFamily="34" charset="-122"/>
                <a:cs typeface="Public Sans" pitchFamily="34" charset="-120"/>
              </a:rPr>
              <a:t>Every 100 young adults (25–35)</a:t>
            </a:r>
            <a:endParaRPr lang="en-US" sz="1400" dirty="0"/>
          </a:p>
        </p:txBody>
      </p:sp>
      <p:sp>
        <p:nvSpPr>
          <p:cNvPr id="6" name="Shape 4"/>
          <p:cNvSpPr/>
          <p:nvPr/>
        </p:nvSpPr>
        <p:spPr>
          <a:xfrm>
            <a:off x="812800" y="2141141"/>
            <a:ext cx="203200" cy="203200"/>
          </a:xfrm>
          <a:prstGeom prst="roundRect">
            <a:avLst>
              <a:gd name="adj" fmla="val 50000"/>
            </a:avLst>
          </a:prstGeom>
          <a:solidFill>
            <a:srgbClr val="005DAA"/>
          </a:solidFill>
          <a:ln/>
        </p:spPr>
      </p:sp>
      <p:sp>
        <p:nvSpPr>
          <p:cNvPr id="7" name="Shape 5"/>
          <p:cNvSpPr/>
          <p:nvPr/>
        </p:nvSpPr>
        <p:spPr>
          <a:xfrm>
            <a:off x="1079500" y="2141141"/>
            <a:ext cx="203200" cy="203200"/>
          </a:xfrm>
          <a:prstGeom prst="roundRect">
            <a:avLst>
              <a:gd name="adj" fmla="val 50000"/>
            </a:avLst>
          </a:prstGeom>
          <a:solidFill>
            <a:srgbClr val="005DAA"/>
          </a:solidFill>
          <a:ln/>
        </p:spPr>
      </p:sp>
      <p:sp>
        <p:nvSpPr>
          <p:cNvPr id="8" name="Shape 6"/>
          <p:cNvSpPr/>
          <p:nvPr/>
        </p:nvSpPr>
        <p:spPr>
          <a:xfrm>
            <a:off x="1346200" y="2141141"/>
            <a:ext cx="203200" cy="203200"/>
          </a:xfrm>
          <a:prstGeom prst="roundRect">
            <a:avLst>
              <a:gd name="adj" fmla="val 50000"/>
            </a:avLst>
          </a:prstGeom>
          <a:solidFill>
            <a:srgbClr val="005DAA"/>
          </a:solidFill>
          <a:ln/>
        </p:spPr>
      </p:sp>
      <p:sp>
        <p:nvSpPr>
          <p:cNvPr id="9" name="Shape 7"/>
          <p:cNvSpPr/>
          <p:nvPr/>
        </p:nvSpPr>
        <p:spPr>
          <a:xfrm>
            <a:off x="1612900" y="2141141"/>
            <a:ext cx="203200" cy="203200"/>
          </a:xfrm>
          <a:prstGeom prst="roundRect">
            <a:avLst>
              <a:gd name="adj" fmla="val 50000"/>
            </a:avLst>
          </a:prstGeom>
          <a:solidFill>
            <a:srgbClr val="005DAA"/>
          </a:solidFill>
          <a:ln/>
        </p:spPr>
      </p:sp>
      <p:sp>
        <p:nvSpPr>
          <p:cNvPr id="10" name="Shape 8"/>
          <p:cNvSpPr/>
          <p:nvPr/>
        </p:nvSpPr>
        <p:spPr>
          <a:xfrm>
            <a:off x="1879600" y="2141141"/>
            <a:ext cx="203200" cy="203200"/>
          </a:xfrm>
          <a:prstGeom prst="roundRect">
            <a:avLst>
              <a:gd name="adj" fmla="val 50000"/>
            </a:avLst>
          </a:prstGeom>
          <a:solidFill>
            <a:srgbClr val="005DAA"/>
          </a:solidFill>
          <a:ln/>
        </p:spPr>
      </p:sp>
      <p:sp>
        <p:nvSpPr>
          <p:cNvPr id="11" name="Shape 9"/>
          <p:cNvSpPr/>
          <p:nvPr/>
        </p:nvSpPr>
        <p:spPr>
          <a:xfrm>
            <a:off x="2146300" y="2141141"/>
            <a:ext cx="203200" cy="203200"/>
          </a:xfrm>
          <a:prstGeom prst="roundRect">
            <a:avLst>
              <a:gd name="adj" fmla="val 50000"/>
            </a:avLst>
          </a:prstGeom>
          <a:solidFill>
            <a:srgbClr val="005DAA"/>
          </a:solidFill>
          <a:ln/>
        </p:spPr>
      </p:sp>
      <p:sp>
        <p:nvSpPr>
          <p:cNvPr id="12" name="Shape 10"/>
          <p:cNvSpPr/>
          <p:nvPr/>
        </p:nvSpPr>
        <p:spPr>
          <a:xfrm>
            <a:off x="2413000" y="2141141"/>
            <a:ext cx="203200" cy="203200"/>
          </a:xfrm>
          <a:prstGeom prst="roundRect">
            <a:avLst>
              <a:gd name="adj" fmla="val 50000"/>
            </a:avLst>
          </a:prstGeom>
          <a:solidFill>
            <a:srgbClr val="005DAA"/>
          </a:solidFill>
          <a:ln/>
        </p:spPr>
      </p:sp>
      <p:sp>
        <p:nvSpPr>
          <p:cNvPr id="13" name="Shape 11"/>
          <p:cNvSpPr/>
          <p:nvPr/>
        </p:nvSpPr>
        <p:spPr>
          <a:xfrm>
            <a:off x="2679700" y="2141141"/>
            <a:ext cx="203200" cy="203200"/>
          </a:xfrm>
          <a:prstGeom prst="roundRect">
            <a:avLst>
              <a:gd name="adj" fmla="val 50000"/>
            </a:avLst>
          </a:prstGeom>
          <a:solidFill>
            <a:srgbClr val="005DAA"/>
          </a:solidFill>
          <a:ln/>
        </p:spPr>
      </p:sp>
      <p:sp>
        <p:nvSpPr>
          <p:cNvPr id="14" name="Shape 12"/>
          <p:cNvSpPr/>
          <p:nvPr/>
        </p:nvSpPr>
        <p:spPr>
          <a:xfrm>
            <a:off x="2946400" y="2141141"/>
            <a:ext cx="203200" cy="203200"/>
          </a:xfrm>
          <a:prstGeom prst="roundRect">
            <a:avLst>
              <a:gd name="adj" fmla="val 50000"/>
            </a:avLst>
          </a:prstGeom>
          <a:solidFill>
            <a:srgbClr val="005DAA"/>
          </a:solidFill>
          <a:ln/>
        </p:spPr>
      </p:sp>
      <p:sp>
        <p:nvSpPr>
          <p:cNvPr id="15" name="Shape 13"/>
          <p:cNvSpPr/>
          <p:nvPr/>
        </p:nvSpPr>
        <p:spPr>
          <a:xfrm>
            <a:off x="3213100" y="2141141"/>
            <a:ext cx="203200" cy="203200"/>
          </a:xfrm>
          <a:prstGeom prst="roundRect">
            <a:avLst>
              <a:gd name="adj" fmla="val 50000"/>
            </a:avLst>
          </a:prstGeom>
          <a:solidFill>
            <a:srgbClr val="005DAA"/>
          </a:solidFill>
          <a:ln/>
        </p:spPr>
      </p:sp>
      <p:sp>
        <p:nvSpPr>
          <p:cNvPr id="16" name="Shape 14"/>
          <p:cNvSpPr/>
          <p:nvPr/>
        </p:nvSpPr>
        <p:spPr>
          <a:xfrm>
            <a:off x="812800" y="2407841"/>
            <a:ext cx="203200" cy="203200"/>
          </a:xfrm>
          <a:prstGeom prst="roundRect">
            <a:avLst>
              <a:gd name="adj" fmla="val 50000"/>
            </a:avLst>
          </a:prstGeom>
          <a:solidFill>
            <a:srgbClr val="005DAA"/>
          </a:solidFill>
          <a:ln/>
        </p:spPr>
      </p:sp>
      <p:sp>
        <p:nvSpPr>
          <p:cNvPr id="17" name="Shape 15"/>
          <p:cNvSpPr/>
          <p:nvPr/>
        </p:nvSpPr>
        <p:spPr>
          <a:xfrm>
            <a:off x="1079500" y="2407841"/>
            <a:ext cx="203200" cy="203200"/>
          </a:xfrm>
          <a:prstGeom prst="roundRect">
            <a:avLst>
              <a:gd name="adj" fmla="val 50000"/>
            </a:avLst>
          </a:prstGeom>
          <a:solidFill>
            <a:srgbClr val="005DAA"/>
          </a:solidFill>
          <a:ln/>
        </p:spPr>
      </p:sp>
      <p:sp>
        <p:nvSpPr>
          <p:cNvPr id="18" name="Shape 16"/>
          <p:cNvSpPr/>
          <p:nvPr/>
        </p:nvSpPr>
        <p:spPr>
          <a:xfrm>
            <a:off x="1346200" y="2407841"/>
            <a:ext cx="203200" cy="203200"/>
          </a:xfrm>
          <a:prstGeom prst="roundRect">
            <a:avLst>
              <a:gd name="adj" fmla="val 50000"/>
            </a:avLst>
          </a:prstGeom>
          <a:solidFill>
            <a:srgbClr val="005DAA"/>
          </a:solidFill>
          <a:ln/>
        </p:spPr>
      </p:sp>
      <p:sp>
        <p:nvSpPr>
          <p:cNvPr id="19" name="Shape 17"/>
          <p:cNvSpPr/>
          <p:nvPr/>
        </p:nvSpPr>
        <p:spPr>
          <a:xfrm>
            <a:off x="1612900" y="2407841"/>
            <a:ext cx="203200" cy="203200"/>
          </a:xfrm>
          <a:prstGeom prst="roundRect">
            <a:avLst>
              <a:gd name="adj" fmla="val 50000"/>
            </a:avLst>
          </a:prstGeom>
          <a:solidFill>
            <a:srgbClr val="005DAA"/>
          </a:solidFill>
          <a:ln/>
        </p:spPr>
      </p:sp>
      <p:sp>
        <p:nvSpPr>
          <p:cNvPr id="20" name="Shape 18"/>
          <p:cNvSpPr/>
          <p:nvPr/>
        </p:nvSpPr>
        <p:spPr>
          <a:xfrm>
            <a:off x="1879600" y="2407841"/>
            <a:ext cx="203200" cy="203200"/>
          </a:xfrm>
          <a:prstGeom prst="roundRect">
            <a:avLst>
              <a:gd name="adj" fmla="val 50000"/>
            </a:avLst>
          </a:prstGeom>
          <a:solidFill>
            <a:srgbClr val="005DAA"/>
          </a:solidFill>
          <a:ln/>
        </p:spPr>
      </p:sp>
      <p:sp>
        <p:nvSpPr>
          <p:cNvPr id="21" name="Shape 19"/>
          <p:cNvSpPr/>
          <p:nvPr/>
        </p:nvSpPr>
        <p:spPr>
          <a:xfrm>
            <a:off x="2146300" y="2407841"/>
            <a:ext cx="203200" cy="203200"/>
          </a:xfrm>
          <a:prstGeom prst="roundRect">
            <a:avLst>
              <a:gd name="adj" fmla="val 50000"/>
            </a:avLst>
          </a:prstGeom>
          <a:solidFill>
            <a:srgbClr val="005DAA"/>
          </a:solidFill>
          <a:ln/>
        </p:spPr>
      </p:sp>
      <p:sp>
        <p:nvSpPr>
          <p:cNvPr id="22" name="Shape 20"/>
          <p:cNvSpPr/>
          <p:nvPr/>
        </p:nvSpPr>
        <p:spPr>
          <a:xfrm>
            <a:off x="2413000" y="2407841"/>
            <a:ext cx="203200" cy="203200"/>
          </a:xfrm>
          <a:prstGeom prst="roundRect">
            <a:avLst>
              <a:gd name="adj" fmla="val 50000"/>
            </a:avLst>
          </a:prstGeom>
          <a:solidFill>
            <a:srgbClr val="005DAA"/>
          </a:solidFill>
          <a:ln/>
        </p:spPr>
      </p:sp>
      <p:sp>
        <p:nvSpPr>
          <p:cNvPr id="23" name="Shape 21"/>
          <p:cNvSpPr/>
          <p:nvPr/>
        </p:nvSpPr>
        <p:spPr>
          <a:xfrm>
            <a:off x="2679700" y="2407841"/>
            <a:ext cx="203200" cy="203200"/>
          </a:xfrm>
          <a:prstGeom prst="roundRect">
            <a:avLst>
              <a:gd name="adj" fmla="val 50000"/>
            </a:avLst>
          </a:prstGeom>
          <a:solidFill>
            <a:srgbClr val="005DAA"/>
          </a:solidFill>
          <a:ln/>
        </p:spPr>
      </p:sp>
      <p:sp>
        <p:nvSpPr>
          <p:cNvPr id="24" name="Shape 22"/>
          <p:cNvSpPr/>
          <p:nvPr/>
        </p:nvSpPr>
        <p:spPr>
          <a:xfrm>
            <a:off x="2946400" y="2407841"/>
            <a:ext cx="203200" cy="203200"/>
          </a:xfrm>
          <a:prstGeom prst="roundRect">
            <a:avLst>
              <a:gd name="adj" fmla="val 50000"/>
            </a:avLst>
          </a:prstGeom>
          <a:solidFill>
            <a:srgbClr val="005DAA"/>
          </a:solidFill>
          <a:ln/>
        </p:spPr>
      </p:sp>
      <p:sp>
        <p:nvSpPr>
          <p:cNvPr id="25" name="Shape 23"/>
          <p:cNvSpPr/>
          <p:nvPr/>
        </p:nvSpPr>
        <p:spPr>
          <a:xfrm>
            <a:off x="3213100" y="2407841"/>
            <a:ext cx="203200" cy="203200"/>
          </a:xfrm>
          <a:prstGeom prst="roundRect">
            <a:avLst>
              <a:gd name="adj" fmla="val 50000"/>
            </a:avLst>
          </a:prstGeom>
          <a:solidFill>
            <a:srgbClr val="005DAA"/>
          </a:solidFill>
          <a:ln/>
        </p:spPr>
      </p:sp>
      <p:sp>
        <p:nvSpPr>
          <p:cNvPr id="26" name="Shape 24"/>
          <p:cNvSpPr/>
          <p:nvPr/>
        </p:nvSpPr>
        <p:spPr>
          <a:xfrm>
            <a:off x="822325" y="2684066"/>
            <a:ext cx="146050" cy="146050"/>
          </a:xfrm>
          <a:prstGeom prst="roundRect">
            <a:avLst>
              <a:gd name="adj" fmla="val 50000"/>
            </a:avLst>
          </a:prstGeom>
          <a:solidFill>
            <a:srgbClr val="FFDD00"/>
          </a:solidFill>
          <a:ln w="19050">
            <a:solidFill>
              <a:srgbClr val="0A2240"/>
            </a:solidFill>
            <a:prstDash val="solid"/>
          </a:ln>
        </p:spPr>
      </p:sp>
      <p:sp>
        <p:nvSpPr>
          <p:cNvPr id="27" name="Shape 25"/>
          <p:cNvSpPr/>
          <p:nvPr/>
        </p:nvSpPr>
        <p:spPr>
          <a:xfrm>
            <a:off x="1089025" y="2684066"/>
            <a:ext cx="146050" cy="146050"/>
          </a:xfrm>
          <a:prstGeom prst="roundRect">
            <a:avLst>
              <a:gd name="adj" fmla="val 50000"/>
            </a:avLst>
          </a:prstGeom>
          <a:solidFill>
            <a:srgbClr val="FFDD00"/>
          </a:solidFill>
          <a:ln w="19050">
            <a:solidFill>
              <a:srgbClr val="0A2240"/>
            </a:solidFill>
            <a:prstDash val="solid"/>
          </a:ln>
        </p:spPr>
      </p:sp>
      <p:sp>
        <p:nvSpPr>
          <p:cNvPr id="28" name="Shape 26"/>
          <p:cNvSpPr/>
          <p:nvPr/>
        </p:nvSpPr>
        <p:spPr>
          <a:xfrm>
            <a:off x="1346200" y="2674541"/>
            <a:ext cx="203200" cy="203200"/>
          </a:xfrm>
          <a:prstGeom prst="roundRect">
            <a:avLst>
              <a:gd name="adj" fmla="val 50000"/>
            </a:avLst>
          </a:prstGeom>
          <a:solidFill>
            <a:srgbClr val="C9D6E3"/>
          </a:solidFill>
          <a:ln/>
        </p:spPr>
      </p:sp>
      <p:sp>
        <p:nvSpPr>
          <p:cNvPr id="29" name="Shape 27"/>
          <p:cNvSpPr/>
          <p:nvPr/>
        </p:nvSpPr>
        <p:spPr>
          <a:xfrm>
            <a:off x="1612900" y="2674541"/>
            <a:ext cx="203200" cy="203200"/>
          </a:xfrm>
          <a:prstGeom prst="roundRect">
            <a:avLst>
              <a:gd name="adj" fmla="val 50000"/>
            </a:avLst>
          </a:prstGeom>
          <a:solidFill>
            <a:srgbClr val="C9D6E3"/>
          </a:solidFill>
          <a:ln/>
        </p:spPr>
      </p:sp>
      <p:sp>
        <p:nvSpPr>
          <p:cNvPr id="30" name="Shape 28"/>
          <p:cNvSpPr/>
          <p:nvPr/>
        </p:nvSpPr>
        <p:spPr>
          <a:xfrm>
            <a:off x="1879600" y="2674541"/>
            <a:ext cx="203200" cy="203200"/>
          </a:xfrm>
          <a:prstGeom prst="roundRect">
            <a:avLst>
              <a:gd name="adj" fmla="val 50000"/>
            </a:avLst>
          </a:prstGeom>
          <a:solidFill>
            <a:srgbClr val="C9D6E3"/>
          </a:solidFill>
          <a:ln/>
        </p:spPr>
      </p:sp>
      <p:sp>
        <p:nvSpPr>
          <p:cNvPr id="31" name="Shape 29"/>
          <p:cNvSpPr/>
          <p:nvPr/>
        </p:nvSpPr>
        <p:spPr>
          <a:xfrm>
            <a:off x="2146300" y="2674541"/>
            <a:ext cx="203200" cy="203200"/>
          </a:xfrm>
          <a:prstGeom prst="roundRect">
            <a:avLst>
              <a:gd name="adj" fmla="val 50000"/>
            </a:avLst>
          </a:prstGeom>
          <a:solidFill>
            <a:srgbClr val="C9D6E3"/>
          </a:solidFill>
          <a:ln/>
        </p:spPr>
      </p:sp>
      <p:sp>
        <p:nvSpPr>
          <p:cNvPr id="32" name="Shape 30"/>
          <p:cNvSpPr/>
          <p:nvPr/>
        </p:nvSpPr>
        <p:spPr>
          <a:xfrm>
            <a:off x="2413000" y="2674541"/>
            <a:ext cx="203200" cy="203200"/>
          </a:xfrm>
          <a:prstGeom prst="roundRect">
            <a:avLst>
              <a:gd name="adj" fmla="val 50000"/>
            </a:avLst>
          </a:prstGeom>
          <a:solidFill>
            <a:srgbClr val="C9D6E3"/>
          </a:solidFill>
          <a:ln/>
        </p:spPr>
      </p:sp>
      <p:sp>
        <p:nvSpPr>
          <p:cNvPr id="33" name="Shape 31"/>
          <p:cNvSpPr/>
          <p:nvPr/>
        </p:nvSpPr>
        <p:spPr>
          <a:xfrm>
            <a:off x="2679700" y="2674541"/>
            <a:ext cx="203200" cy="203200"/>
          </a:xfrm>
          <a:prstGeom prst="roundRect">
            <a:avLst>
              <a:gd name="adj" fmla="val 50000"/>
            </a:avLst>
          </a:prstGeom>
          <a:solidFill>
            <a:srgbClr val="C9D6E3"/>
          </a:solidFill>
          <a:ln/>
        </p:spPr>
      </p:sp>
      <p:sp>
        <p:nvSpPr>
          <p:cNvPr id="34" name="Shape 32"/>
          <p:cNvSpPr/>
          <p:nvPr/>
        </p:nvSpPr>
        <p:spPr>
          <a:xfrm>
            <a:off x="2946400" y="2674541"/>
            <a:ext cx="203200" cy="203200"/>
          </a:xfrm>
          <a:prstGeom prst="roundRect">
            <a:avLst>
              <a:gd name="adj" fmla="val 50000"/>
            </a:avLst>
          </a:prstGeom>
          <a:solidFill>
            <a:srgbClr val="C9D6E3"/>
          </a:solidFill>
          <a:ln/>
        </p:spPr>
      </p:sp>
      <p:sp>
        <p:nvSpPr>
          <p:cNvPr id="35" name="Shape 33"/>
          <p:cNvSpPr/>
          <p:nvPr/>
        </p:nvSpPr>
        <p:spPr>
          <a:xfrm>
            <a:off x="3213100" y="2674541"/>
            <a:ext cx="203200" cy="203200"/>
          </a:xfrm>
          <a:prstGeom prst="roundRect">
            <a:avLst>
              <a:gd name="adj" fmla="val 50000"/>
            </a:avLst>
          </a:prstGeom>
          <a:solidFill>
            <a:srgbClr val="C9D6E3"/>
          </a:solidFill>
          <a:ln/>
        </p:spPr>
      </p:sp>
      <p:sp>
        <p:nvSpPr>
          <p:cNvPr id="36" name="Shape 34"/>
          <p:cNvSpPr/>
          <p:nvPr/>
        </p:nvSpPr>
        <p:spPr>
          <a:xfrm>
            <a:off x="812800" y="2941241"/>
            <a:ext cx="203200" cy="203200"/>
          </a:xfrm>
          <a:prstGeom prst="roundRect">
            <a:avLst>
              <a:gd name="adj" fmla="val 50000"/>
            </a:avLst>
          </a:prstGeom>
          <a:solidFill>
            <a:srgbClr val="C9D6E3"/>
          </a:solidFill>
          <a:ln/>
        </p:spPr>
      </p:sp>
      <p:sp>
        <p:nvSpPr>
          <p:cNvPr id="37" name="Shape 35"/>
          <p:cNvSpPr/>
          <p:nvPr/>
        </p:nvSpPr>
        <p:spPr>
          <a:xfrm>
            <a:off x="1079500" y="2941241"/>
            <a:ext cx="203200" cy="203200"/>
          </a:xfrm>
          <a:prstGeom prst="roundRect">
            <a:avLst>
              <a:gd name="adj" fmla="val 50000"/>
            </a:avLst>
          </a:prstGeom>
          <a:solidFill>
            <a:srgbClr val="C9D6E3"/>
          </a:solidFill>
          <a:ln/>
        </p:spPr>
      </p:sp>
      <p:sp>
        <p:nvSpPr>
          <p:cNvPr id="38" name="Shape 36"/>
          <p:cNvSpPr/>
          <p:nvPr/>
        </p:nvSpPr>
        <p:spPr>
          <a:xfrm>
            <a:off x="1346200" y="2941241"/>
            <a:ext cx="203200" cy="203200"/>
          </a:xfrm>
          <a:prstGeom prst="roundRect">
            <a:avLst>
              <a:gd name="adj" fmla="val 50000"/>
            </a:avLst>
          </a:prstGeom>
          <a:solidFill>
            <a:srgbClr val="C9D6E3"/>
          </a:solidFill>
          <a:ln/>
        </p:spPr>
      </p:sp>
      <p:sp>
        <p:nvSpPr>
          <p:cNvPr id="39" name="Shape 37"/>
          <p:cNvSpPr/>
          <p:nvPr/>
        </p:nvSpPr>
        <p:spPr>
          <a:xfrm>
            <a:off x="1612900" y="2941241"/>
            <a:ext cx="203200" cy="203200"/>
          </a:xfrm>
          <a:prstGeom prst="roundRect">
            <a:avLst>
              <a:gd name="adj" fmla="val 50000"/>
            </a:avLst>
          </a:prstGeom>
          <a:solidFill>
            <a:srgbClr val="C9D6E3"/>
          </a:solidFill>
          <a:ln/>
        </p:spPr>
      </p:sp>
      <p:sp>
        <p:nvSpPr>
          <p:cNvPr id="40" name="Shape 38"/>
          <p:cNvSpPr/>
          <p:nvPr/>
        </p:nvSpPr>
        <p:spPr>
          <a:xfrm>
            <a:off x="1879600" y="2941241"/>
            <a:ext cx="203200" cy="203200"/>
          </a:xfrm>
          <a:prstGeom prst="roundRect">
            <a:avLst>
              <a:gd name="adj" fmla="val 50000"/>
            </a:avLst>
          </a:prstGeom>
          <a:solidFill>
            <a:srgbClr val="C9D6E3"/>
          </a:solidFill>
          <a:ln/>
        </p:spPr>
      </p:sp>
      <p:sp>
        <p:nvSpPr>
          <p:cNvPr id="41" name="Shape 39"/>
          <p:cNvSpPr/>
          <p:nvPr/>
        </p:nvSpPr>
        <p:spPr>
          <a:xfrm>
            <a:off x="2146300" y="2941241"/>
            <a:ext cx="203200" cy="203200"/>
          </a:xfrm>
          <a:prstGeom prst="roundRect">
            <a:avLst>
              <a:gd name="adj" fmla="val 50000"/>
            </a:avLst>
          </a:prstGeom>
          <a:solidFill>
            <a:srgbClr val="C9D6E3"/>
          </a:solidFill>
          <a:ln/>
        </p:spPr>
      </p:sp>
      <p:sp>
        <p:nvSpPr>
          <p:cNvPr id="42" name="Shape 40"/>
          <p:cNvSpPr/>
          <p:nvPr/>
        </p:nvSpPr>
        <p:spPr>
          <a:xfrm>
            <a:off x="2413000" y="2941241"/>
            <a:ext cx="203200" cy="203200"/>
          </a:xfrm>
          <a:prstGeom prst="roundRect">
            <a:avLst>
              <a:gd name="adj" fmla="val 50000"/>
            </a:avLst>
          </a:prstGeom>
          <a:solidFill>
            <a:srgbClr val="C9D6E3"/>
          </a:solidFill>
          <a:ln/>
        </p:spPr>
      </p:sp>
      <p:sp>
        <p:nvSpPr>
          <p:cNvPr id="43" name="Shape 41"/>
          <p:cNvSpPr/>
          <p:nvPr/>
        </p:nvSpPr>
        <p:spPr>
          <a:xfrm>
            <a:off x="2679700" y="2941241"/>
            <a:ext cx="203200" cy="203200"/>
          </a:xfrm>
          <a:prstGeom prst="roundRect">
            <a:avLst>
              <a:gd name="adj" fmla="val 50000"/>
            </a:avLst>
          </a:prstGeom>
          <a:solidFill>
            <a:srgbClr val="C9D6E3"/>
          </a:solidFill>
          <a:ln/>
        </p:spPr>
      </p:sp>
      <p:sp>
        <p:nvSpPr>
          <p:cNvPr id="44" name="Shape 42"/>
          <p:cNvSpPr/>
          <p:nvPr/>
        </p:nvSpPr>
        <p:spPr>
          <a:xfrm>
            <a:off x="2946400" y="2941241"/>
            <a:ext cx="203200" cy="203200"/>
          </a:xfrm>
          <a:prstGeom prst="roundRect">
            <a:avLst>
              <a:gd name="adj" fmla="val 50000"/>
            </a:avLst>
          </a:prstGeom>
          <a:solidFill>
            <a:srgbClr val="C9D6E3"/>
          </a:solidFill>
          <a:ln/>
        </p:spPr>
      </p:sp>
      <p:sp>
        <p:nvSpPr>
          <p:cNvPr id="45" name="Shape 43"/>
          <p:cNvSpPr/>
          <p:nvPr/>
        </p:nvSpPr>
        <p:spPr>
          <a:xfrm>
            <a:off x="3213100" y="2941241"/>
            <a:ext cx="203200" cy="203200"/>
          </a:xfrm>
          <a:prstGeom prst="roundRect">
            <a:avLst>
              <a:gd name="adj" fmla="val 50000"/>
            </a:avLst>
          </a:prstGeom>
          <a:solidFill>
            <a:srgbClr val="C9D6E3"/>
          </a:solidFill>
          <a:ln/>
        </p:spPr>
      </p:sp>
      <p:sp>
        <p:nvSpPr>
          <p:cNvPr id="46" name="Shape 44"/>
          <p:cNvSpPr/>
          <p:nvPr/>
        </p:nvSpPr>
        <p:spPr>
          <a:xfrm>
            <a:off x="812800" y="3207941"/>
            <a:ext cx="203200" cy="203200"/>
          </a:xfrm>
          <a:prstGeom prst="roundRect">
            <a:avLst>
              <a:gd name="adj" fmla="val 50000"/>
            </a:avLst>
          </a:prstGeom>
          <a:solidFill>
            <a:srgbClr val="C9D6E3"/>
          </a:solidFill>
          <a:ln/>
        </p:spPr>
      </p:sp>
      <p:sp>
        <p:nvSpPr>
          <p:cNvPr id="47" name="Shape 45"/>
          <p:cNvSpPr/>
          <p:nvPr/>
        </p:nvSpPr>
        <p:spPr>
          <a:xfrm>
            <a:off x="1079500" y="3207941"/>
            <a:ext cx="203200" cy="203200"/>
          </a:xfrm>
          <a:prstGeom prst="roundRect">
            <a:avLst>
              <a:gd name="adj" fmla="val 50000"/>
            </a:avLst>
          </a:prstGeom>
          <a:solidFill>
            <a:srgbClr val="C9D6E3"/>
          </a:solidFill>
          <a:ln/>
        </p:spPr>
      </p:sp>
      <p:sp>
        <p:nvSpPr>
          <p:cNvPr id="48" name="Shape 46"/>
          <p:cNvSpPr/>
          <p:nvPr/>
        </p:nvSpPr>
        <p:spPr>
          <a:xfrm>
            <a:off x="1346200" y="3207941"/>
            <a:ext cx="203200" cy="203200"/>
          </a:xfrm>
          <a:prstGeom prst="roundRect">
            <a:avLst>
              <a:gd name="adj" fmla="val 50000"/>
            </a:avLst>
          </a:prstGeom>
          <a:solidFill>
            <a:srgbClr val="C9D6E3"/>
          </a:solidFill>
          <a:ln/>
        </p:spPr>
      </p:sp>
      <p:sp>
        <p:nvSpPr>
          <p:cNvPr id="49" name="Shape 47"/>
          <p:cNvSpPr/>
          <p:nvPr/>
        </p:nvSpPr>
        <p:spPr>
          <a:xfrm>
            <a:off x="1612900" y="3207941"/>
            <a:ext cx="203200" cy="203200"/>
          </a:xfrm>
          <a:prstGeom prst="roundRect">
            <a:avLst>
              <a:gd name="adj" fmla="val 50000"/>
            </a:avLst>
          </a:prstGeom>
          <a:solidFill>
            <a:srgbClr val="C9D6E3"/>
          </a:solidFill>
          <a:ln/>
        </p:spPr>
      </p:sp>
      <p:sp>
        <p:nvSpPr>
          <p:cNvPr id="50" name="Shape 48"/>
          <p:cNvSpPr/>
          <p:nvPr/>
        </p:nvSpPr>
        <p:spPr>
          <a:xfrm>
            <a:off x="1879600" y="3207941"/>
            <a:ext cx="203200" cy="203200"/>
          </a:xfrm>
          <a:prstGeom prst="roundRect">
            <a:avLst>
              <a:gd name="adj" fmla="val 50000"/>
            </a:avLst>
          </a:prstGeom>
          <a:solidFill>
            <a:srgbClr val="C9D6E3"/>
          </a:solidFill>
          <a:ln/>
        </p:spPr>
      </p:sp>
      <p:sp>
        <p:nvSpPr>
          <p:cNvPr id="51" name="Shape 49"/>
          <p:cNvSpPr/>
          <p:nvPr/>
        </p:nvSpPr>
        <p:spPr>
          <a:xfrm>
            <a:off x="2146300" y="3207941"/>
            <a:ext cx="203200" cy="203200"/>
          </a:xfrm>
          <a:prstGeom prst="roundRect">
            <a:avLst>
              <a:gd name="adj" fmla="val 50000"/>
            </a:avLst>
          </a:prstGeom>
          <a:solidFill>
            <a:srgbClr val="C9D6E3"/>
          </a:solidFill>
          <a:ln/>
        </p:spPr>
      </p:sp>
      <p:sp>
        <p:nvSpPr>
          <p:cNvPr id="52" name="Shape 50"/>
          <p:cNvSpPr/>
          <p:nvPr/>
        </p:nvSpPr>
        <p:spPr>
          <a:xfrm>
            <a:off x="2413000" y="3207941"/>
            <a:ext cx="203200" cy="203200"/>
          </a:xfrm>
          <a:prstGeom prst="roundRect">
            <a:avLst>
              <a:gd name="adj" fmla="val 50000"/>
            </a:avLst>
          </a:prstGeom>
          <a:solidFill>
            <a:srgbClr val="C9D6E3"/>
          </a:solidFill>
          <a:ln/>
        </p:spPr>
      </p:sp>
      <p:sp>
        <p:nvSpPr>
          <p:cNvPr id="53" name="Shape 51"/>
          <p:cNvSpPr/>
          <p:nvPr/>
        </p:nvSpPr>
        <p:spPr>
          <a:xfrm>
            <a:off x="2679700" y="3207941"/>
            <a:ext cx="203200" cy="203200"/>
          </a:xfrm>
          <a:prstGeom prst="roundRect">
            <a:avLst>
              <a:gd name="adj" fmla="val 50000"/>
            </a:avLst>
          </a:prstGeom>
          <a:solidFill>
            <a:srgbClr val="C9D6E3"/>
          </a:solidFill>
          <a:ln/>
        </p:spPr>
      </p:sp>
      <p:sp>
        <p:nvSpPr>
          <p:cNvPr id="54" name="Shape 52"/>
          <p:cNvSpPr/>
          <p:nvPr/>
        </p:nvSpPr>
        <p:spPr>
          <a:xfrm>
            <a:off x="2946400" y="3207941"/>
            <a:ext cx="203200" cy="203200"/>
          </a:xfrm>
          <a:prstGeom prst="roundRect">
            <a:avLst>
              <a:gd name="adj" fmla="val 50000"/>
            </a:avLst>
          </a:prstGeom>
          <a:solidFill>
            <a:srgbClr val="C9D6E3"/>
          </a:solidFill>
          <a:ln/>
        </p:spPr>
      </p:sp>
      <p:sp>
        <p:nvSpPr>
          <p:cNvPr id="55" name="Shape 53"/>
          <p:cNvSpPr/>
          <p:nvPr/>
        </p:nvSpPr>
        <p:spPr>
          <a:xfrm>
            <a:off x="3213100" y="3207941"/>
            <a:ext cx="203200" cy="203200"/>
          </a:xfrm>
          <a:prstGeom prst="roundRect">
            <a:avLst>
              <a:gd name="adj" fmla="val 50000"/>
            </a:avLst>
          </a:prstGeom>
          <a:solidFill>
            <a:srgbClr val="C9D6E3"/>
          </a:solidFill>
          <a:ln/>
        </p:spPr>
      </p:sp>
      <p:sp>
        <p:nvSpPr>
          <p:cNvPr id="56" name="Shape 54"/>
          <p:cNvSpPr/>
          <p:nvPr/>
        </p:nvSpPr>
        <p:spPr>
          <a:xfrm>
            <a:off x="812800" y="3474641"/>
            <a:ext cx="203200" cy="203200"/>
          </a:xfrm>
          <a:prstGeom prst="roundRect">
            <a:avLst>
              <a:gd name="adj" fmla="val 50000"/>
            </a:avLst>
          </a:prstGeom>
          <a:solidFill>
            <a:srgbClr val="C9D6E3"/>
          </a:solidFill>
          <a:ln/>
        </p:spPr>
      </p:sp>
      <p:sp>
        <p:nvSpPr>
          <p:cNvPr id="57" name="Shape 55"/>
          <p:cNvSpPr/>
          <p:nvPr/>
        </p:nvSpPr>
        <p:spPr>
          <a:xfrm>
            <a:off x="1079500" y="3474641"/>
            <a:ext cx="203200" cy="203200"/>
          </a:xfrm>
          <a:prstGeom prst="roundRect">
            <a:avLst>
              <a:gd name="adj" fmla="val 50000"/>
            </a:avLst>
          </a:prstGeom>
          <a:solidFill>
            <a:srgbClr val="C9D6E3"/>
          </a:solidFill>
          <a:ln/>
        </p:spPr>
      </p:sp>
      <p:sp>
        <p:nvSpPr>
          <p:cNvPr id="58" name="Shape 56"/>
          <p:cNvSpPr/>
          <p:nvPr/>
        </p:nvSpPr>
        <p:spPr>
          <a:xfrm>
            <a:off x="1346200" y="3474641"/>
            <a:ext cx="203200" cy="203200"/>
          </a:xfrm>
          <a:prstGeom prst="roundRect">
            <a:avLst>
              <a:gd name="adj" fmla="val 50000"/>
            </a:avLst>
          </a:prstGeom>
          <a:solidFill>
            <a:srgbClr val="C9D6E3"/>
          </a:solidFill>
          <a:ln/>
        </p:spPr>
      </p:sp>
      <p:sp>
        <p:nvSpPr>
          <p:cNvPr id="59" name="Shape 57"/>
          <p:cNvSpPr/>
          <p:nvPr/>
        </p:nvSpPr>
        <p:spPr>
          <a:xfrm>
            <a:off x="1612900" y="3474641"/>
            <a:ext cx="203200" cy="203200"/>
          </a:xfrm>
          <a:prstGeom prst="roundRect">
            <a:avLst>
              <a:gd name="adj" fmla="val 50000"/>
            </a:avLst>
          </a:prstGeom>
          <a:solidFill>
            <a:srgbClr val="C9D6E3"/>
          </a:solidFill>
          <a:ln/>
        </p:spPr>
      </p:sp>
      <p:sp>
        <p:nvSpPr>
          <p:cNvPr id="60" name="Shape 58"/>
          <p:cNvSpPr/>
          <p:nvPr/>
        </p:nvSpPr>
        <p:spPr>
          <a:xfrm>
            <a:off x="1879600" y="3474641"/>
            <a:ext cx="203200" cy="203200"/>
          </a:xfrm>
          <a:prstGeom prst="roundRect">
            <a:avLst>
              <a:gd name="adj" fmla="val 50000"/>
            </a:avLst>
          </a:prstGeom>
          <a:solidFill>
            <a:srgbClr val="C9D6E3"/>
          </a:solidFill>
          <a:ln/>
        </p:spPr>
      </p:sp>
      <p:sp>
        <p:nvSpPr>
          <p:cNvPr id="61" name="Shape 59"/>
          <p:cNvSpPr/>
          <p:nvPr/>
        </p:nvSpPr>
        <p:spPr>
          <a:xfrm>
            <a:off x="2146300" y="3474641"/>
            <a:ext cx="203200" cy="203200"/>
          </a:xfrm>
          <a:prstGeom prst="roundRect">
            <a:avLst>
              <a:gd name="adj" fmla="val 50000"/>
            </a:avLst>
          </a:prstGeom>
          <a:solidFill>
            <a:srgbClr val="C9D6E3"/>
          </a:solidFill>
          <a:ln/>
        </p:spPr>
      </p:sp>
      <p:sp>
        <p:nvSpPr>
          <p:cNvPr id="62" name="Shape 60"/>
          <p:cNvSpPr/>
          <p:nvPr/>
        </p:nvSpPr>
        <p:spPr>
          <a:xfrm>
            <a:off x="2413000" y="3474641"/>
            <a:ext cx="203200" cy="203200"/>
          </a:xfrm>
          <a:prstGeom prst="roundRect">
            <a:avLst>
              <a:gd name="adj" fmla="val 50000"/>
            </a:avLst>
          </a:prstGeom>
          <a:solidFill>
            <a:srgbClr val="C9D6E3"/>
          </a:solidFill>
          <a:ln/>
        </p:spPr>
      </p:sp>
      <p:sp>
        <p:nvSpPr>
          <p:cNvPr id="63" name="Shape 61"/>
          <p:cNvSpPr/>
          <p:nvPr/>
        </p:nvSpPr>
        <p:spPr>
          <a:xfrm>
            <a:off x="2679700" y="3474641"/>
            <a:ext cx="203200" cy="203200"/>
          </a:xfrm>
          <a:prstGeom prst="roundRect">
            <a:avLst>
              <a:gd name="adj" fmla="val 50000"/>
            </a:avLst>
          </a:prstGeom>
          <a:solidFill>
            <a:srgbClr val="C9D6E3"/>
          </a:solidFill>
          <a:ln/>
        </p:spPr>
      </p:sp>
      <p:sp>
        <p:nvSpPr>
          <p:cNvPr id="64" name="Shape 62"/>
          <p:cNvSpPr/>
          <p:nvPr/>
        </p:nvSpPr>
        <p:spPr>
          <a:xfrm>
            <a:off x="2946400" y="3474641"/>
            <a:ext cx="203200" cy="203200"/>
          </a:xfrm>
          <a:prstGeom prst="roundRect">
            <a:avLst>
              <a:gd name="adj" fmla="val 50000"/>
            </a:avLst>
          </a:prstGeom>
          <a:solidFill>
            <a:srgbClr val="C9D6E3"/>
          </a:solidFill>
          <a:ln/>
        </p:spPr>
      </p:sp>
      <p:sp>
        <p:nvSpPr>
          <p:cNvPr id="65" name="Shape 63"/>
          <p:cNvSpPr/>
          <p:nvPr/>
        </p:nvSpPr>
        <p:spPr>
          <a:xfrm>
            <a:off x="3213100" y="3474641"/>
            <a:ext cx="203200" cy="203200"/>
          </a:xfrm>
          <a:prstGeom prst="roundRect">
            <a:avLst>
              <a:gd name="adj" fmla="val 50000"/>
            </a:avLst>
          </a:prstGeom>
          <a:solidFill>
            <a:srgbClr val="C9D6E3"/>
          </a:solidFill>
          <a:ln/>
        </p:spPr>
      </p:sp>
      <p:sp>
        <p:nvSpPr>
          <p:cNvPr id="66" name="Shape 64"/>
          <p:cNvSpPr/>
          <p:nvPr/>
        </p:nvSpPr>
        <p:spPr>
          <a:xfrm>
            <a:off x="812800" y="3741341"/>
            <a:ext cx="203200" cy="203200"/>
          </a:xfrm>
          <a:prstGeom prst="roundRect">
            <a:avLst>
              <a:gd name="adj" fmla="val 50000"/>
            </a:avLst>
          </a:prstGeom>
          <a:solidFill>
            <a:srgbClr val="C9D6E3"/>
          </a:solidFill>
          <a:ln/>
        </p:spPr>
      </p:sp>
      <p:sp>
        <p:nvSpPr>
          <p:cNvPr id="67" name="Shape 65"/>
          <p:cNvSpPr/>
          <p:nvPr/>
        </p:nvSpPr>
        <p:spPr>
          <a:xfrm>
            <a:off x="1079500" y="3741341"/>
            <a:ext cx="203200" cy="203200"/>
          </a:xfrm>
          <a:prstGeom prst="roundRect">
            <a:avLst>
              <a:gd name="adj" fmla="val 50000"/>
            </a:avLst>
          </a:prstGeom>
          <a:solidFill>
            <a:srgbClr val="C9D6E3"/>
          </a:solidFill>
          <a:ln/>
        </p:spPr>
      </p:sp>
      <p:sp>
        <p:nvSpPr>
          <p:cNvPr id="68" name="Shape 66"/>
          <p:cNvSpPr/>
          <p:nvPr/>
        </p:nvSpPr>
        <p:spPr>
          <a:xfrm>
            <a:off x="1346200" y="3741341"/>
            <a:ext cx="203200" cy="203200"/>
          </a:xfrm>
          <a:prstGeom prst="roundRect">
            <a:avLst>
              <a:gd name="adj" fmla="val 50000"/>
            </a:avLst>
          </a:prstGeom>
          <a:solidFill>
            <a:srgbClr val="C9D6E3"/>
          </a:solidFill>
          <a:ln/>
        </p:spPr>
      </p:sp>
      <p:sp>
        <p:nvSpPr>
          <p:cNvPr id="69" name="Shape 67"/>
          <p:cNvSpPr/>
          <p:nvPr/>
        </p:nvSpPr>
        <p:spPr>
          <a:xfrm>
            <a:off x="1612900" y="3741341"/>
            <a:ext cx="203200" cy="203200"/>
          </a:xfrm>
          <a:prstGeom prst="roundRect">
            <a:avLst>
              <a:gd name="adj" fmla="val 50000"/>
            </a:avLst>
          </a:prstGeom>
          <a:solidFill>
            <a:srgbClr val="C9D6E3"/>
          </a:solidFill>
          <a:ln/>
        </p:spPr>
      </p:sp>
      <p:sp>
        <p:nvSpPr>
          <p:cNvPr id="70" name="Shape 68"/>
          <p:cNvSpPr/>
          <p:nvPr/>
        </p:nvSpPr>
        <p:spPr>
          <a:xfrm>
            <a:off x="1879600" y="3741341"/>
            <a:ext cx="203200" cy="203200"/>
          </a:xfrm>
          <a:prstGeom prst="roundRect">
            <a:avLst>
              <a:gd name="adj" fmla="val 50000"/>
            </a:avLst>
          </a:prstGeom>
          <a:solidFill>
            <a:srgbClr val="C9D6E3"/>
          </a:solidFill>
          <a:ln/>
        </p:spPr>
      </p:sp>
      <p:sp>
        <p:nvSpPr>
          <p:cNvPr id="71" name="Shape 69"/>
          <p:cNvSpPr/>
          <p:nvPr/>
        </p:nvSpPr>
        <p:spPr>
          <a:xfrm>
            <a:off x="2146300" y="3741341"/>
            <a:ext cx="203200" cy="203200"/>
          </a:xfrm>
          <a:prstGeom prst="roundRect">
            <a:avLst>
              <a:gd name="adj" fmla="val 50000"/>
            </a:avLst>
          </a:prstGeom>
          <a:solidFill>
            <a:srgbClr val="C9D6E3"/>
          </a:solidFill>
          <a:ln/>
        </p:spPr>
      </p:sp>
      <p:sp>
        <p:nvSpPr>
          <p:cNvPr id="72" name="Shape 70"/>
          <p:cNvSpPr/>
          <p:nvPr/>
        </p:nvSpPr>
        <p:spPr>
          <a:xfrm>
            <a:off x="2413000" y="3741341"/>
            <a:ext cx="203200" cy="203200"/>
          </a:xfrm>
          <a:prstGeom prst="roundRect">
            <a:avLst>
              <a:gd name="adj" fmla="val 50000"/>
            </a:avLst>
          </a:prstGeom>
          <a:solidFill>
            <a:srgbClr val="C9D6E3"/>
          </a:solidFill>
          <a:ln/>
        </p:spPr>
      </p:sp>
      <p:sp>
        <p:nvSpPr>
          <p:cNvPr id="73" name="Shape 71"/>
          <p:cNvSpPr/>
          <p:nvPr/>
        </p:nvSpPr>
        <p:spPr>
          <a:xfrm>
            <a:off x="2679700" y="3741341"/>
            <a:ext cx="203200" cy="203200"/>
          </a:xfrm>
          <a:prstGeom prst="roundRect">
            <a:avLst>
              <a:gd name="adj" fmla="val 50000"/>
            </a:avLst>
          </a:prstGeom>
          <a:solidFill>
            <a:srgbClr val="C9D6E3"/>
          </a:solidFill>
          <a:ln/>
        </p:spPr>
      </p:sp>
      <p:sp>
        <p:nvSpPr>
          <p:cNvPr id="74" name="Shape 72"/>
          <p:cNvSpPr/>
          <p:nvPr/>
        </p:nvSpPr>
        <p:spPr>
          <a:xfrm>
            <a:off x="2946400" y="3741341"/>
            <a:ext cx="203200" cy="203200"/>
          </a:xfrm>
          <a:prstGeom prst="roundRect">
            <a:avLst>
              <a:gd name="adj" fmla="val 50000"/>
            </a:avLst>
          </a:prstGeom>
          <a:solidFill>
            <a:srgbClr val="C9D6E3"/>
          </a:solidFill>
          <a:ln/>
        </p:spPr>
      </p:sp>
      <p:sp>
        <p:nvSpPr>
          <p:cNvPr id="75" name="Shape 73"/>
          <p:cNvSpPr/>
          <p:nvPr/>
        </p:nvSpPr>
        <p:spPr>
          <a:xfrm>
            <a:off x="3213100" y="3741341"/>
            <a:ext cx="203200" cy="203200"/>
          </a:xfrm>
          <a:prstGeom prst="roundRect">
            <a:avLst>
              <a:gd name="adj" fmla="val 50000"/>
            </a:avLst>
          </a:prstGeom>
          <a:solidFill>
            <a:srgbClr val="C9D6E3"/>
          </a:solidFill>
          <a:ln/>
        </p:spPr>
      </p:sp>
      <p:sp>
        <p:nvSpPr>
          <p:cNvPr id="76" name="Shape 74"/>
          <p:cNvSpPr/>
          <p:nvPr/>
        </p:nvSpPr>
        <p:spPr>
          <a:xfrm>
            <a:off x="812800" y="4008041"/>
            <a:ext cx="203200" cy="203200"/>
          </a:xfrm>
          <a:prstGeom prst="roundRect">
            <a:avLst>
              <a:gd name="adj" fmla="val 50000"/>
            </a:avLst>
          </a:prstGeom>
          <a:solidFill>
            <a:srgbClr val="C9D6E3"/>
          </a:solidFill>
          <a:ln/>
        </p:spPr>
      </p:sp>
      <p:sp>
        <p:nvSpPr>
          <p:cNvPr id="77" name="Shape 75"/>
          <p:cNvSpPr/>
          <p:nvPr/>
        </p:nvSpPr>
        <p:spPr>
          <a:xfrm>
            <a:off x="1079500" y="4008041"/>
            <a:ext cx="203200" cy="203200"/>
          </a:xfrm>
          <a:prstGeom prst="roundRect">
            <a:avLst>
              <a:gd name="adj" fmla="val 50000"/>
            </a:avLst>
          </a:prstGeom>
          <a:solidFill>
            <a:srgbClr val="C9D6E3"/>
          </a:solidFill>
          <a:ln/>
        </p:spPr>
      </p:sp>
      <p:sp>
        <p:nvSpPr>
          <p:cNvPr id="78" name="Shape 76"/>
          <p:cNvSpPr/>
          <p:nvPr/>
        </p:nvSpPr>
        <p:spPr>
          <a:xfrm>
            <a:off x="1346200" y="4008041"/>
            <a:ext cx="203200" cy="203200"/>
          </a:xfrm>
          <a:prstGeom prst="roundRect">
            <a:avLst>
              <a:gd name="adj" fmla="val 50000"/>
            </a:avLst>
          </a:prstGeom>
          <a:solidFill>
            <a:srgbClr val="C9D6E3"/>
          </a:solidFill>
          <a:ln/>
        </p:spPr>
      </p:sp>
      <p:sp>
        <p:nvSpPr>
          <p:cNvPr id="79" name="Shape 77"/>
          <p:cNvSpPr/>
          <p:nvPr/>
        </p:nvSpPr>
        <p:spPr>
          <a:xfrm>
            <a:off x="1612900" y="4008041"/>
            <a:ext cx="203200" cy="203200"/>
          </a:xfrm>
          <a:prstGeom prst="roundRect">
            <a:avLst>
              <a:gd name="adj" fmla="val 50000"/>
            </a:avLst>
          </a:prstGeom>
          <a:solidFill>
            <a:srgbClr val="C9D6E3"/>
          </a:solidFill>
          <a:ln/>
        </p:spPr>
      </p:sp>
      <p:sp>
        <p:nvSpPr>
          <p:cNvPr id="80" name="Shape 78"/>
          <p:cNvSpPr/>
          <p:nvPr/>
        </p:nvSpPr>
        <p:spPr>
          <a:xfrm>
            <a:off x="1879600" y="4008041"/>
            <a:ext cx="203200" cy="203200"/>
          </a:xfrm>
          <a:prstGeom prst="roundRect">
            <a:avLst>
              <a:gd name="adj" fmla="val 50000"/>
            </a:avLst>
          </a:prstGeom>
          <a:solidFill>
            <a:srgbClr val="C9D6E3"/>
          </a:solidFill>
          <a:ln/>
        </p:spPr>
      </p:sp>
      <p:sp>
        <p:nvSpPr>
          <p:cNvPr id="81" name="Shape 79"/>
          <p:cNvSpPr/>
          <p:nvPr/>
        </p:nvSpPr>
        <p:spPr>
          <a:xfrm>
            <a:off x="2146300" y="4008041"/>
            <a:ext cx="203200" cy="203200"/>
          </a:xfrm>
          <a:prstGeom prst="roundRect">
            <a:avLst>
              <a:gd name="adj" fmla="val 50000"/>
            </a:avLst>
          </a:prstGeom>
          <a:solidFill>
            <a:srgbClr val="C9D6E3"/>
          </a:solidFill>
          <a:ln/>
        </p:spPr>
      </p:sp>
      <p:sp>
        <p:nvSpPr>
          <p:cNvPr id="82" name="Shape 80"/>
          <p:cNvSpPr/>
          <p:nvPr/>
        </p:nvSpPr>
        <p:spPr>
          <a:xfrm>
            <a:off x="2413000" y="4008041"/>
            <a:ext cx="203200" cy="203200"/>
          </a:xfrm>
          <a:prstGeom prst="roundRect">
            <a:avLst>
              <a:gd name="adj" fmla="val 50000"/>
            </a:avLst>
          </a:prstGeom>
          <a:solidFill>
            <a:srgbClr val="C9D6E3"/>
          </a:solidFill>
          <a:ln/>
        </p:spPr>
      </p:sp>
      <p:sp>
        <p:nvSpPr>
          <p:cNvPr id="83" name="Shape 81"/>
          <p:cNvSpPr/>
          <p:nvPr/>
        </p:nvSpPr>
        <p:spPr>
          <a:xfrm>
            <a:off x="2679700" y="4008041"/>
            <a:ext cx="203200" cy="203200"/>
          </a:xfrm>
          <a:prstGeom prst="roundRect">
            <a:avLst>
              <a:gd name="adj" fmla="val 50000"/>
            </a:avLst>
          </a:prstGeom>
          <a:solidFill>
            <a:srgbClr val="C9D6E3"/>
          </a:solidFill>
          <a:ln/>
        </p:spPr>
      </p:sp>
      <p:sp>
        <p:nvSpPr>
          <p:cNvPr id="84" name="Shape 82"/>
          <p:cNvSpPr/>
          <p:nvPr/>
        </p:nvSpPr>
        <p:spPr>
          <a:xfrm>
            <a:off x="2946400" y="4008041"/>
            <a:ext cx="203200" cy="203200"/>
          </a:xfrm>
          <a:prstGeom prst="roundRect">
            <a:avLst>
              <a:gd name="adj" fmla="val 50000"/>
            </a:avLst>
          </a:prstGeom>
          <a:solidFill>
            <a:srgbClr val="C9D6E3"/>
          </a:solidFill>
          <a:ln/>
        </p:spPr>
      </p:sp>
      <p:sp>
        <p:nvSpPr>
          <p:cNvPr id="85" name="Shape 83"/>
          <p:cNvSpPr/>
          <p:nvPr/>
        </p:nvSpPr>
        <p:spPr>
          <a:xfrm>
            <a:off x="3213100" y="4008041"/>
            <a:ext cx="203200" cy="203200"/>
          </a:xfrm>
          <a:prstGeom prst="roundRect">
            <a:avLst>
              <a:gd name="adj" fmla="val 50000"/>
            </a:avLst>
          </a:prstGeom>
          <a:solidFill>
            <a:srgbClr val="C9D6E3"/>
          </a:solidFill>
          <a:ln/>
        </p:spPr>
      </p:sp>
      <p:sp>
        <p:nvSpPr>
          <p:cNvPr id="86" name="Shape 84"/>
          <p:cNvSpPr/>
          <p:nvPr/>
        </p:nvSpPr>
        <p:spPr>
          <a:xfrm>
            <a:off x="812800" y="4274741"/>
            <a:ext cx="203200" cy="203200"/>
          </a:xfrm>
          <a:prstGeom prst="roundRect">
            <a:avLst>
              <a:gd name="adj" fmla="val 50000"/>
            </a:avLst>
          </a:prstGeom>
          <a:solidFill>
            <a:srgbClr val="C9D6E3"/>
          </a:solidFill>
          <a:ln/>
        </p:spPr>
      </p:sp>
      <p:sp>
        <p:nvSpPr>
          <p:cNvPr id="87" name="Shape 85"/>
          <p:cNvSpPr/>
          <p:nvPr/>
        </p:nvSpPr>
        <p:spPr>
          <a:xfrm>
            <a:off x="1079500" y="4274741"/>
            <a:ext cx="203200" cy="203200"/>
          </a:xfrm>
          <a:prstGeom prst="roundRect">
            <a:avLst>
              <a:gd name="adj" fmla="val 50000"/>
            </a:avLst>
          </a:prstGeom>
          <a:solidFill>
            <a:srgbClr val="C9D6E3"/>
          </a:solidFill>
          <a:ln/>
        </p:spPr>
      </p:sp>
      <p:sp>
        <p:nvSpPr>
          <p:cNvPr id="88" name="Shape 86"/>
          <p:cNvSpPr/>
          <p:nvPr/>
        </p:nvSpPr>
        <p:spPr>
          <a:xfrm>
            <a:off x="1346200" y="4274741"/>
            <a:ext cx="203200" cy="203200"/>
          </a:xfrm>
          <a:prstGeom prst="roundRect">
            <a:avLst>
              <a:gd name="adj" fmla="val 50000"/>
            </a:avLst>
          </a:prstGeom>
          <a:solidFill>
            <a:srgbClr val="C9D6E3"/>
          </a:solidFill>
          <a:ln/>
        </p:spPr>
      </p:sp>
      <p:sp>
        <p:nvSpPr>
          <p:cNvPr id="89" name="Shape 87"/>
          <p:cNvSpPr/>
          <p:nvPr/>
        </p:nvSpPr>
        <p:spPr>
          <a:xfrm>
            <a:off x="1612900" y="4274741"/>
            <a:ext cx="203200" cy="203200"/>
          </a:xfrm>
          <a:prstGeom prst="roundRect">
            <a:avLst>
              <a:gd name="adj" fmla="val 50000"/>
            </a:avLst>
          </a:prstGeom>
          <a:solidFill>
            <a:srgbClr val="C9D6E3"/>
          </a:solidFill>
          <a:ln/>
        </p:spPr>
      </p:sp>
      <p:sp>
        <p:nvSpPr>
          <p:cNvPr id="90" name="Shape 88"/>
          <p:cNvSpPr/>
          <p:nvPr/>
        </p:nvSpPr>
        <p:spPr>
          <a:xfrm>
            <a:off x="1879600" y="4274741"/>
            <a:ext cx="203200" cy="203200"/>
          </a:xfrm>
          <a:prstGeom prst="roundRect">
            <a:avLst>
              <a:gd name="adj" fmla="val 50000"/>
            </a:avLst>
          </a:prstGeom>
          <a:solidFill>
            <a:srgbClr val="C9D6E3"/>
          </a:solidFill>
          <a:ln/>
        </p:spPr>
      </p:sp>
      <p:sp>
        <p:nvSpPr>
          <p:cNvPr id="91" name="Shape 89"/>
          <p:cNvSpPr/>
          <p:nvPr/>
        </p:nvSpPr>
        <p:spPr>
          <a:xfrm>
            <a:off x="2146300" y="4274741"/>
            <a:ext cx="203200" cy="203200"/>
          </a:xfrm>
          <a:prstGeom prst="roundRect">
            <a:avLst>
              <a:gd name="adj" fmla="val 50000"/>
            </a:avLst>
          </a:prstGeom>
          <a:solidFill>
            <a:srgbClr val="C9D6E3"/>
          </a:solidFill>
          <a:ln/>
        </p:spPr>
      </p:sp>
      <p:sp>
        <p:nvSpPr>
          <p:cNvPr id="92" name="Shape 90"/>
          <p:cNvSpPr/>
          <p:nvPr/>
        </p:nvSpPr>
        <p:spPr>
          <a:xfrm>
            <a:off x="2413000" y="4274741"/>
            <a:ext cx="203200" cy="203200"/>
          </a:xfrm>
          <a:prstGeom prst="roundRect">
            <a:avLst>
              <a:gd name="adj" fmla="val 50000"/>
            </a:avLst>
          </a:prstGeom>
          <a:solidFill>
            <a:srgbClr val="C9D6E3"/>
          </a:solidFill>
          <a:ln/>
        </p:spPr>
      </p:sp>
      <p:sp>
        <p:nvSpPr>
          <p:cNvPr id="93" name="Shape 91"/>
          <p:cNvSpPr/>
          <p:nvPr/>
        </p:nvSpPr>
        <p:spPr>
          <a:xfrm>
            <a:off x="2679700" y="4274741"/>
            <a:ext cx="203200" cy="203200"/>
          </a:xfrm>
          <a:prstGeom prst="roundRect">
            <a:avLst>
              <a:gd name="adj" fmla="val 50000"/>
            </a:avLst>
          </a:prstGeom>
          <a:solidFill>
            <a:srgbClr val="C9D6E3"/>
          </a:solidFill>
          <a:ln/>
        </p:spPr>
      </p:sp>
      <p:sp>
        <p:nvSpPr>
          <p:cNvPr id="94" name="Shape 92"/>
          <p:cNvSpPr/>
          <p:nvPr/>
        </p:nvSpPr>
        <p:spPr>
          <a:xfrm>
            <a:off x="2946400" y="4274741"/>
            <a:ext cx="203200" cy="203200"/>
          </a:xfrm>
          <a:prstGeom prst="roundRect">
            <a:avLst>
              <a:gd name="adj" fmla="val 50000"/>
            </a:avLst>
          </a:prstGeom>
          <a:solidFill>
            <a:srgbClr val="C9D6E3"/>
          </a:solidFill>
          <a:ln/>
        </p:spPr>
      </p:sp>
      <p:sp>
        <p:nvSpPr>
          <p:cNvPr id="95" name="Shape 93"/>
          <p:cNvSpPr/>
          <p:nvPr/>
        </p:nvSpPr>
        <p:spPr>
          <a:xfrm>
            <a:off x="3213100" y="4274741"/>
            <a:ext cx="203200" cy="203200"/>
          </a:xfrm>
          <a:prstGeom prst="roundRect">
            <a:avLst>
              <a:gd name="adj" fmla="val 50000"/>
            </a:avLst>
          </a:prstGeom>
          <a:solidFill>
            <a:srgbClr val="C9D6E3"/>
          </a:solidFill>
          <a:ln/>
        </p:spPr>
      </p:sp>
      <p:sp>
        <p:nvSpPr>
          <p:cNvPr id="96" name="Shape 94"/>
          <p:cNvSpPr/>
          <p:nvPr/>
        </p:nvSpPr>
        <p:spPr>
          <a:xfrm>
            <a:off x="812800" y="4541441"/>
            <a:ext cx="203200" cy="203200"/>
          </a:xfrm>
          <a:prstGeom prst="roundRect">
            <a:avLst>
              <a:gd name="adj" fmla="val 50000"/>
            </a:avLst>
          </a:prstGeom>
          <a:solidFill>
            <a:srgbClr val="C9D6E3"/>
          </a:solidFill>
          <a:ln/>
        </p:spPr>
      </p:sp>
      <p:sp>
        <p:nvSpPr>
          <p:cNvPr id="97" name="Shape 95"/>
          <p:cNvSpPr/>
          <p:nvPr/>
        </p:nvSpPr>
        <p:spPr>
          <a:xfrm>
            <a:off x="1079500" y="4541441"/>
            <a:ext cx="203200" cy="203200"/>
          </a:xfrm>
          <a:prstGeom prst="roundRect">
            <a:avLst>
              <a:gd name="adj" fmla="val 50000"/>
            </a:avLst>
          </a:prstGeom>
          <a:solidFill>
            <a:srgbClr val="C9D6E3"/>
          </a:solidFill>
          <a:ln/>
        </p:spPr>
      </p:sp>
      <p:sp>
        <p:nvSpPr>
          <p:cNvPr id="98" name="Shape 96"/>
          <p:cNvSpPr/>
          <p:nvPr/>
        </p:nvSpPr>
        <p:spPr>
          <a:xfrm>
            <a:off x="1346200" y="4541441"/>
            <a:ext cx="203200" cy="203200"/>
          </a:xfrm>
          <a:prstGeom prst="roundRect">
            <a:avLst>
              <a:gd name="adj" fmla="val 50000"/>
            </a:avLst>
          </a:prstGeom>
          <a:solidFill>
            <a:srgbClr val="C9D6E3"/>
          </a:solidFill>
          <a:ln/>
        </p:spPr>
      </p:sp>
      <p:sp>
        <p:nvSpPr>
          <p:cNvPr id="99" name="Shape 97"/>
          <p:cNvSpPr/>
          <p:nvPr/>
        </p:nvSpPr>
        <p:spPr>
          <a:xfrm>
            <a:off x="1612900" y="4541441"/>
            <a:ext cx="203200" cy="203200"/>
          </a:xfrm>
          <a:prstGeom prst="roundRect">
            <a:avLst>
              <a:gd name="adj" fmla="val 50000"/>
            </a:avLst>
          </a:prstGeom>
          <a:solidFill>
            <a:srgbClr val="C9D6E3"/>
          </a:solidFill>
          <a:ln/>
        </p:spPr>
      </p:sp>
      <p:sp>
        <p:nvSpPr>
          <p:cNvPr id="100" name="Shape 98"/>
          <p:cNvSpPr/>
          <p:nvPr/>
        </p:nvSpPr>
        <p:spPr>
          <a:xfrm>
            <a:off x="1879600" y="4541441"/>
            <a:ext cx="203200" cy="203200"/>
          </a:xfrm>
          <a:prstGeom prst="roundRect">
            <a:avLst>
              <a:gd name="adj" fmla="val 50000"/>
            </a:avLst>
          </a:prstGeom>
          <a:solidFill>
            <a:srgbClr val="C9D6E3"/>
          </a:solidFill>
          <a:ln/>
        </p:spPr>
      </p:sp>
      <p:sp>
        <p:nvSpPr>
          <p:cNvPr id="101" name="Shape 99"/>
          <p:cNvSpPr/>
          <p:nvPr/>
        </p:nvSpPr>
        <p:spPr>
          <a:xfrm>
            <a:off x="2146300" y="4541441"/>
            <a:ext cx="203200" cy="203200"/>
          </a:xfrm>
          <a:prstGeom prst="roundRect">
            <a:avLst>
              <a:gd name="adj" fmla="val 50000"/>
            </a:avLst>
          </a:prstGeom>
          <a:solidFill>
            <a:srgbClr val="C9D6E3"/>
          </a:solidFill>
          <a:ln/>
        </p:spPr>
      </p:sp>
      <p:sp>
        <p:nvSpPr>
          <p:cNvPr id="102" name="Shape 100"/>
          <p:cNvSpPr/>
          <p:nvPr/>
        </p:nvSpPr>
        <p:spPr>
          <a:xfrm>
            <a:off x="2413000" y="4541441"/>
            <a:ext cx="203200" cy="203200"/>
          </a:xfrm>
          <a:prstGeom prst="roundRect">
            <a:avLst>
              <a:gd name="adj" fmla="val 50000"/>
            </a:avLst>
          </a:prstGeom>
          <a:solidFill>
            <a:srgbClr val="C9D6E3"/>
          </a:solidFill>
          <a:ln/>
        </p:spPr>
      </p:sp>
      <p:sp>
        <p:nvSpPr>
          <p:cNvPr id="103" name="Shape 101"/>
          <p:cNvSpPr/>
          <p:nvPr/>
        </p:nvSpPr>
        <p:spPr>
          <a:xfrm>
            <a:off x="2679700" y="4541441"/>
            <a:ext cx="203200" cy="203200"/>
          </a:xfrm>
          <a:prstGeom prst="roundRect">
            <a:avLst>
              <a:gd name="adj" fmla="val 50000"/>
            </a:avLst>
          </a:prstGeom>
          <a:solidFill>
            <a:srgbClr val="C9D6E3"/>
          </a:solidFill>
          <a:ln/>
        </p:spPr>
      </p:sp>
      <p:sp>
        <p:nvSpPr>
          <p:cNvPr id="104" name="Shape 102"/>
          <p:cNvSpPr/>
          <p:nvPr/>
        </p:nvSpPr>
        <p:spPr>
          <a:xfrm>
            <a:off x="2946400" y="4541441"/>
            <a:ext cx="203200" cy="203200"/>
          </a:xfrm>
          <a:prstGeom prst="roundRect">
            <a:avLst>
              <a:gd name="adj" fmla="val 50000"/>
            </a:avLst>
          </a:prstGeom>
          <a:solidFill>
            <a:srgbClr val="C9D6E3"/>
          </a:solidFill>
          <a:ln/>
        </p:spPr>
      </p:sp>
      <p:sp>
        <p:nvSpPr>
          <p:cNvPr id="105" name="Shape 103"/>
          <p:cNvSpPr/>
          <p:nvPr/>
        </p:nvSpPr>
        <p:spPr>
          <a:xfrm>
            <a:off x="3213100" y="4541441"/>
            <a:ext cx="203200" cy="203200"/>
          </a:xfrm>
          <a:prstGeom prst="roundRect">
            <a:avLst>
              <a:gd name="adj" fmla="val 50000"/>
            </a:avLst>
          </a:prstGeom>
          <a:solidFill>
            <a:srgbClr val="C9D6E3"/>
          </a:solidFill>
          <a:ln/>
        </p:spPr>
      </p:sp>
      <p:sp>
        <p:nvSpPr>
          <p:cNvPr id="106" name="Shape 104"/>
          <p:cNvSpPr/>
          <p:nvPr/>
        </p:nvSpPr>
        <p:spPr>
          <a:xfrm>
            <a:off x="812800" y="4864001"/>
            <a:ext cx="152400" cy="152400"/>
          </a:xfrm>
          <a:prstGeom prst="roundRect">
            <a:avLst>
              <a:gd name="adj" fmla="val 50000"/>
            </a:avLst>
          </a:prstGeom>
          <a:solidFill>
            <a:srgbClr val="005DAA"/>
          </a:solidFill>
          <a:ln/>
        </p:spPr>
      </p:sp>
      <p:sp>
        <p:nvSpPr>
          <p:cNvPr id="107" name="Text 105"/>
          <p:cNvSpPr/>
          <p:nvPr/>
        </p:nvSpPr>
        <p:spPr>
          <a:xfrm>
            <a:off x="1041400" y="4833541"/>
            <a:ext cx="2461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B6B"/>
                </a:solidFill>
                <a:latin typeface="Public Sans" pitchFamily="34" charset="0"/>
                <a:ea typeface="Public Sans" pitchFamily="34" charset="-122"/>
                <a:cs typeface="Public Sans" pitchFamily="34" charset="-120"/>
              </a:rPr>
              <a:t>Live with family and stay (20)</a:t>
            </a:r>
            <a:endParaRPr lang="en-US" sz="1200" dirty="0"/>
          </a:p>
        </p:txBody>
      </p:sp>
      <p:sp>
        <p:nvSpPr>
          <p:cNvPr id="108" name="Shape 106"/>
          <p:cNvSpPr/>
          <p:nvPr/>
        </p:nvSpPr>
        <p:spPr>
          <a:xfrm>
            <a:off x="822325" y="5156696"/>
            <a:ext cx="95250" cy="95250"/>
          </a:xfrm>
          <a:prstGeom prst="roundRect">
            <a:avLst>
              <a:gd name="adj" fmla="val 50000"/>
            </a:avLst>
          </a:prstGeom>
          <a:solidFill>
            <a:srgbClr val="FFDD00"/>
          </a:solidFill>
          <a:ln w="19050">
            <a:solidFill>
              <a:srgbClr val="0A2240"/>
            </a:solidFill>
            <a:prstDash val="solid"/>
          </a:ln>
        </p:spPr>
      </p:sp>
      <p:sp>
        <p:nvSpPr>
          <p:cNvPr id="109" name="Text 107"/>
          <p:cNvSpPr/>
          <p:nvPr/>
        </p:nvSpPr>
        <p:spPr>
          <a:xfrm>
            <a:off x="1003300" y="5097661"/>
            <a:ext cx="23258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B6B"/>
                </a:solidFill>
                <a:latin typeface="Public Sans" pitchFamily="34" charset="0"/>
                <a:ea typeface="Public Sans" pitchFamily="34" charset="-122"/>
                <a:cs typeface="Public Sans" pitchFamily="34" charset="-120"/>
              </a:rPr>
              <a:t>Move out in the scenario (2)</a:t>
            </a:r>
            <a:endParaRPr lang="en-US" sz="1200" dirty="0"/>
          </a:p>
        </p:txBody>
      </p:sp>
      <p:sp>
        <p:nvSpPr>
          <p:cNvPr id="110" name="Shape 108"/>
          <p:cNvSpPr/>
          <p:nvPr/>
        </p:nvSpPr>
        <p:spPr>
          <a:xfrm>
            <a:off x="812800" y="5392241"/>
            <a:ext cx="152400" cy="152400"/>
          </a:xfrm>
          <a:prstGeom prst="roundRect">
            <a:avLst>
              <a:gd name="adj" fmla="val 50000"/>
            </a:avLst>
          </a:prstGeom>
          <a:solidFill>
            <a:srgbClr val="C9D6E3"/>
          </a:solidFill>
          <a:ln/>
        </p:spPr>
      </p:sp>
      <p:sp>
        <p:nvSpPr>
          <p:cNvPr id="111" name="Text 109"/>
          <p:cNvSpPr/>
          <p:nvPr/>
        </p:nvSpPr>
        <p:spPr>
          <a:xfrm>
            <a:off x="1041400" y="5361781"/>
            <a:ext cx="26437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B6B"/>
                </a:solidFill>
                <a:latin typeface="Public Sans" pitchFamily="34" charset="0"/>
                <a:ea typeface="Public Sans" pitchFamily="34" charset="-122"/>
                <a:cs typeface="Public Sans" pitchFamily="34" charset="-120"/>
              </a:rPr>
              <a:t>Already live independently (78)</a:t>
            </a:r>
            <a:endParaRPr lang="en-US" sz="1200" dirty="0"/>
          </a:p>
        </p:txBody>
      </p:sp>
      <p:sp>
        <p:nvSpPr>
          <p:cNvPr id="112" name="Text 110"/>
          <p:cNvSpPr/>
          <p:nvPr/>
        </p:nvSpPr>
        <p:spPr>
          <a:xfrm>
            <a:off x="4775200" y="1803350"/>
            <a:ext cx="68021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05DAA"/>
                </a:solidFill>
                <a:latin typeface="Public Sans" pitchFamily="34" charset="0"/>
                <a:ea typeface="Public Sans" pitchFamily="34" charset="-122"/>
                <a:cs typeface="Public Sans" pitchFamily="34" charset="-120"/>
              </a:rPr>
              <a:t>IF THE LIVING-AT-HOME SHARE FALLS 2 POINTS</a:t>
            </a:r>
            <a:endParaRPr lang="en-US" sz="1200" dirty="0"/>
          </a:p>
        </p:txBody>
      </p:sp>
      <p:sp>
        <p:nvSpPr>
          <p:cNvPr id="113" name="Text 111"/>
          <p:cNvSpPr/>
          <p:nvPr/>
        </p:nvSpPr>
        <p:spPr>
          <a:xfrm>
            <a:off x="4775200" y="2092871"/>
            <a:ext cx="183748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05DAA"/>
                </a:solidFill>
                <a:latin typeface="Public Sans" pitchFamily="34" charset="0"/>
                <a:ea typeface="Public Sans" pitchFamily="34" charset="-122"/>
                <a:cs typeface="Public Sans" pitchFamily="34" charset="-120"/>
              </a:rPr>
              <a:t>675K</a:t>
            </a:r>
            <a:endParaRPr lang="en-US" sz="4800" dirty="0"/>
          </a:p>
        </p:txBody>
      </p:sp>
      <p:sp>
        <p:nvSpPr>
          <p:cNvPr id="114" name="Text 112"/>
          <p:cNvSpPr/>
          <p:nvPr/>
        </p:nvSpPr>
        <p:spPr>
          <a:xfrm>
            <a:off x="6612682" y="2277666"/>
            <a:ext cx="4909514"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A2240"/>
                </a:solidFill>
                <a:latin typeface="Public Sans" pitchFamily="34" charset="0"/>
                <a:ea typeface="Public Sans" pitchFamily="34" charset="-122"/>
                <a:cs typeface="Public Sans" pitchFamily="34" charset="-120"/>
              </a:rPr>
              <a:t>units of added housing demand</a:t>
            </a:r>
            <a:endParaRPr lang="en-US" sz="1400" dirty="0"/>
          </a:p>
        </p:txBody>
      </p:sp>
      <p:sp>
        <p:nvSpPr>
          <p:cNvPr id="115" name="Text 113"/>
          <p:cNvSpPr/>
          <p:nvPr/>
        </p:nvSpPr>
        <p:spPr>
          <a:xfrm>
            <a:off x="4775200" y="2778671"/>
            <a:ext cx="4261098" cy="375890"/>
          </a:xfrm>
          <a:prstGeom prst="rect">
            <a:avLst/>
          </a:prstGeom>
          <a:solidFill>
            <a:srgbClr val="005DAA"/>
          </a:solidFill>
          <a:ln/>
        </p:spPr>
        <p:txBody>
          <a:bodyPr wrap="square" lIns="152400" tIns="63500" rIns="33711" bIns="38100" rtlCol="0" anchor="t">
            <a:normAutofit/>
          </a:bodyPr>
          <a:lstStyle/>
          <a:p>
            <a:pPr algn="l" indent="0" marL="0">
              <a:lnSpc>
                <a:spcPts val="1960"/>
              </a:lnSpc>
              <a:buNone/>
            </a:pPr>
            <a:r>
              <a:rPr lang="en-US" sz="1400" b="1" dirty="0">
                <a:solidFill>
                  <a:srgbClr val="F4F6F9"/>
                </a:solidFill>
                <a:latin typeface="Public Sans" pitchFamily="34" charset="0"/>
                <a:ea typeface="Public Sans" pitchFamily="34" charset="-122"/>
                <a:cs typeface="Public Sans" pitchFamily="34" charset="-120"/>
              </a:rPr>
              <a:t>66% rental</a:t>
            </a:r>
            <a:endParaRPr lang="en-US" sz="1400" dirty="0"/>
          </a:p>
        </p:txBody>
      </p:sp>
      <p:sp>
        <p:nvSpPr>
          <p:cNvPr id="116" name="Text 114"/>
          <p:cNvSpPr/>
          <p:nvPr/>
        </p:nvSpPr>
        <p:spPr>
          <a:xfrm>
            <a:off x="9036298" y="2778671"/>
            <a:ext cx="2342902" cy="375890"/>
          </a:xfrm>
          <a:prstGeom prst="rect">
            <a:avLst/>
          </a:prstGeom>
          <a:solidFill>
            <a:srgbClr val="FFDD00"/>
          </a:solidFill>
          <a:ln/>
        </p:spPr>
        <p:txBody>
          <a:bodyPr wrap="square" lIns="152400" tIns="63500" rIns="91257" bIns="38100" rtlCol="0" anchor="t">
            <a:normAutofit/>
          </a:bodyPr>
          <a:lstStyle/>
          <a:p>
            <a:pPr algn="l" indent="0" marL="0">
              <a:lnSpc>
                <a:spcPts val="1960"/>
              </a:lnSpc>
              <a:buNone/>
            </a:pPr>
            <a:r>
              <a:rPr lang="en-US" sz="1400" b="1" dirty="0">
                <a:solidFill>
                  <a:srgbClr val="0A2240"/>
                </a:solidFill>
                <a:latin typeface="Public Sans" pitchFamily="34" charset="0"/>
                <a:ea typeface="Public Sans" pitchFamily="34" charset="-122"/>
                <a:cs typeface="Public Sans" pitchFamily="34" charset="-120"/>
              </a:rPr>
              <a:t>34% owner</a:t>
            </a:r>
            <a:endParaRPr lang="en-US" sz="1400" dirty="0"/>
          </a:p>
        </p:txBody>
      </p:sp>
      <p:sp>
        <p:nvSpPr>
          <p:cNvPr id="117" name="Text 115"/>
          <p:cNvSpPr/>
          <p:nvPr/>
        </p:nvSpPr>
        <p:spPr>
          <a:xfrm>
            <a:off x="4775200" y="3230761"/>
            <a:ext cx="680212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B5B6B"/>
                </a:solidFill>
                <a:latin typeface="Public Sans" pitchFamily="34" charset="0"/>
                <a:ea typeface="Public Sans" pitchFamily="34" charset="-122"/>
                <a:cs typeface="Public Sans" pitchFamily="34" charset="-120"/>
              </a:rPr>
              <a:t>Rental vacancy is 7.3%, the highest since 2019, so there is room to absorb it.</a:t>
            </a:r>
            <a:endParaRPr lang="en-US" sz="1200" dirty="0"/>
          </a:p>
        </p:txBody>
      </p:sp>
      <p:sp>
        <p:nvSpPr>
          <p:cNvPr id="118" name="Text 116"/>
          <p:cNvSpPr/>
          <p:nvPr/>
        </p:nvSpPr>
        <p:spPr>
          <a:xfrm>
            <a:off x="4775200" y="3512691"/>
            <a:ext cx="68021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05DAA"/>
                </a:solidFill>
                <a:latin typeface="Public Sans" pitchFamily="34" charset="0"/>
                <a:ea typeface="Public Sans" pitchFamily="34" charset="-122"/>
                <a:cs typeface="Public Sans" pitchFamily="34" charset="-120"/>
              </a:rPr>
              <a:t>WHAT HOLDS YOUNG ADULTS BACK</a:t>
            </a:r>
            <a:endParaRPr lang="en-US" sz="1200" dirty="0"/>
          </a:p>
        </p:txBody>
      </p:sp>
      <p:sp>
        <p:nvSpPr>
          <p:cNvPr id="119" name="Shape 117"/>
          <p:cNvSpPr/>
          <p:nvPr/>
        </p:nvSpPr>
        <p:spPr>
          <a:xfrm>
            <a:off x="4778375" y="3805386"/>
            <a:ext cx="6597650" cy="519410"/>
          </a:xfrm>
          <a:prstGeom prst="rect">
            <a:avLst/>
          </a:prstGeom>
          <a:solidFill>
            <a:srgbClr val="FBFCFD"/>
          </a:solidFill>
          <a:ln w="6350">
            <a:solidFill>
              <a:srgbClr val="D5DEE8"/>
            </a:solidFill>
            <a:prstDash val="solid"/>
          </a:ln>
        </p:spPr>
      </p:sp>
      <p:sp>
        <p:nvSpPr>
          <p:cNvPr id="120" name="Text 118"/>
          <p:cNvSpPr/>
          <p:nvPr/>
        </p:nvSpPr>
        <p:spPr>
          <a:xfrm>
            <a:off x="4933950" y="3887291"/>
            <a:ext cx="15113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05DAA"/>
                </a:solidFill>
                <a:latin typeface="Public Sans" pitchFamily="34" charset="0"/>
                <a:ea typeface="Public Sans" pitchFamily="34" charset="-122"/>
                <a:cs typeface="Public Sans" pitchFamily="34" charset="-120"/>
              </a:rPr>
              <a:t>+36%</a:t>
            </a:r>
            <a:endParaRPr lang="en-US" sz="2000" dirty="0"/>
          </a:p>
        </p:txBody>
      </p:sp>
      <p:sp>
        <p:nvSpPr>
          <p:cNvPr id="121" name="Text 119"/>
          <p:cNvSpPr/>
          <p:nvPr/>
        </p:nvSpPr>
        <p:spPr>
          <a:xfrm>
            <a:off x="6546850" y="3859361"/>
            <a:ext cx="4813808"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0A2240"/>
                </a:solidFill>
                <a:latin typeface="Public Sans" pitchFamily="34" charset="0"/>
                <a:ea typeface="Public Sans" pitchFamily="34" charset="-122"/>
                <a:cs typeface="Public Sans" pitchFamily="34" charset="-120"/>
              </a:rPr>
              <a:t>Housing costs since 2019, against +35% for young-adult weekly earnings.</a:t>
            </a:r>
            <a:endParaRPr lang="en-US" sz="1200" dirty="0"/>
          </a:p>
        </p:txBody>
      </p:sp>
      <p:sp>
        <p:nvSpPr>
          <p:cNvPr id="122" name="Shape 120"/>
          <p:cNvSpPr/>
          <p:nvPr/>
        </p:nvSpPr>
        <p:spPr>
          <a:xfrm>
            <a:off x="4778375" y="4407346"/>
            <a:ext cx="6597650" cy="463550"/>
          </a:xfrm>
          <a:prstGeom prst="rect">
            <a:avLst/>
          </a:prstGeom>
          <a:solidFill>
            <a:srgbClr val="FBFCFD"/>
          </a:solidFill>
          <a:ln w="6350">
            <a:solidFill>
              <a:srgbClr val="D5DEE8"/>
            </a:solidFill>
            <a:prstDash val="solid"/>
          </a:ln>
        </p:spPr>
      </p:sp>
      <p:sp>
        <p:nvSpPr>
          <p:cNvPr id="123" name="Text 121"/>
          <p:cNvSpPr/>
          <p:nvPr/>
        </p:nvSpPr>
        <p:spPr>
          <a:xfrm>
            <a:off x="4933950" y="4461321"/>
            <a:ext cx="15113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05DAA"/>
                </a:solidFill>
                <a:latin typeface="Public Sans" pitchFamily="34" charset="0"/>
                <a:ea typeface="Public Sans" pitchFamily="34" charset="-122"/>
                <a:cs typeface="Public Sans" pitchFamily="34" charset="-120"/>
              </a:rPr>
              <a:t>5%+</a:t>
            </a:r>
            <a:endParaRPr lang="en-US" sz="2000" dirty="0"/>
          </a:p>
        </p:txBody>
      </p:sp>
      <p:sp>
        <p:nvSpPr>
          <p:cNvPr id="124" name="Text 122"/>
          <p:cNvSpPr/>
          <p:nvPr/>
        </p:nvSpPr>
        <p:spPr>
          <a:xfrm>
            <a:off x="6546850" y="4536232"/>
            <a:ext cx="4813808"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0A2240"/>
                </a:solidFill>
                <a:latin typeface="Public Sans" pitchFamily="34" charset="0"/>
                <a:ea typeface="Public Sans" pitchFamily="34" charset="-122"/>
                <a:cs typeface="Public Sans" pitchFamily="34" charset="-120"/>
              </a:rPr>
              <a:t>Unemployment for recent grads, versus 4.1% for all workers.</a:t>
            </a:r>
            <a:endParaRPr lang="en-US" sz="1200" dirty="0"/>
          </a:p>
        </p:txBody>
      </p:sp>
      <p:sp>
        <p:nvSpPr>
          <p:cNvPr id="125" name="Shape 123"/>
          <p:cNvSpPr/>
          <p:nvPr/>
        </p:nvSpPr>
        <p:spPr>
          <a:xfrm>
            <a:off x="4778375" y="4953446"/>
            <a:ext cx="6597650" cy="463550"/>
          </a:xfrm>
          <a:prstGeom prst="rect">
            <a:avLst/>
          </a:prstGeom>
          <a:solidFill>
            <a:srgbClr val="FBFCFD"/>
          </a:solidFill>
          <a:ln w="6350">
            <a:solidFill>
              <a:srgbClr val="D5DEE8"/>
            </a:solidFill>
            <a:prstDash val="solid"/>
          </a:ln>
        </p:spPr>
      </p:sp>
      <p:sp>
        <p:nvSpPr>
          <p:cNvPr id="126" name="Text 124"/>
          <p:cNvSpPr/>
          <p:nvPr/>
        </p:nvSpPr>
        <p:spPr>
          <a:xfrm>
            <a:off x="4933950" y="5007421"/>
            <a:ext cx="15113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05DAA"/>
                </a:solidFill>
                <a:latin typeface="Public Sans" pitchFamily="34" charset="0"/>
                <a:ea typeface="Public Sans" pitchFamily="34" charset="-122"/>
                <a:cs typeface="Public Sans" pitchFamily="34" charset="-120"/>
              </a:rPr>
              <a:t>Mid-6%</a:t>
            </a:r>
            <a:endParaRPr lang="en-US" sz="2000" dirty="0"/>
          </a:p>
        </p:txBody>
      </p:sp>
      <p:sp>
        <p:nvSpPr>
          <p:cNvPr id="127" name="Text 125"/>
          <p:cNvSpPr/>
          <p:nvPr/>
        </p:nvSpPr>
        <p:spPr>
          <a:xfrm>
            <a:off x="6546850" y="5082332"/>
            <a:ext cx="4813808"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0A2240"/>
                </a:solidFill>
                <a:latin typeface="Public Sans" pitchFamily="34" charset="0"/>
                <a:ea typeface="Public Sans" pitchFamily="34" charset="-122"/>
                <a:cs typeface="Public Sans" pitchFamily="34" charset="-120"/>
              </a:rPr>
              <a:t>Mortgage rates, versus a record-low 2.96% average in 2021.</a:t>
            </a:r>
            <a:endParaRPr lang="en-US" sz="1200" dirty="0"/>
          </a:p>
        </p:txBody>
      </p:sp>
      <p:sp>
        <p:nvSpPr>
          <p:cNvPr id="128" name="Text 126"/>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B"/>
                </a:solidFill>
                <a:latin typeface="Public Sans" pitchFamily="34" charset="0"/>
                <a:ea typeface="Public Sans" pitchFamily="34" charset="-122"/>
                <a:cs typeface="Public Sans" pitchFamily="34" charset="-120"/>
              </a:rPr>
              <a:t>Source: RBC Economics, “How much housing demand in the US still lives at home?” (Sep 2026)</a:t>
            </a:r>
            <a:endParaRPr lang="en-US" sz="1200" dirty="0"/>
          </a:p>
        </p:txBody>
      </p:sp>
      <p:sp>
        <p:nvSpPr>
          <p:cNvPr id="129" name="Text 127"/>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B"/>
                </a:solidFill>
                <a:latin typeface="Public Sans" pitchFamily="34" charset="0"/>
                <a:ea typeface="Public Sans" pitchFamily="34" charset="-122"/>
                <a:cs typeface="Public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2240"/>
        </a:solidFill>
      </p:bgPr>
    </p:bg>
    <p:spTree>
      <p:nvGrpSpPr>
        <p:cNvPr id="1" name=""/>
        <p:cNvGrpSpPr/>
        <p:nvPr/>
      </p:nvGrpSpPr>
      <p:grpSpPr>
        <a:xfrm>
          <a:off x="0" y="0"/>
          <a:ext cx="0" cy="0"/>
          <a:chOff x="0" y="0"/>
          <a:chExt cx="0" cy="0"/>
        </a:xfrm>
      </p:grpSpPr>
      <p:sp>
        <p:nvSpPr>
          <p:cNvPr id="2" name="Shape 0"/>
          <p:cNvSpPr/>
          <p:nvPr/>
        </p:nvSpPr>
        <p:spPr>
          <a:xfrm>
            <a:off x="812800" y="894060"/>
            <a:ext cx="355600" cy="50800"/>
          </a:xfrm>
          <a:prstGeom prst="rect">
            <a:avLst/>
          </a:prstGeom>
          <a:solidFill>
            <a:srgbClr val="FFDD00"/>
          </a:solidFill>
          <a:ln/>
        </p:spPr>
      </p:sp>
      <p:sp>
        <p:nvSpPr>
          <p:cNvPr id="3" name="Text 1"/>
          <p:cNvSpPr/>
          <p:nvPr/>
        </p:nvSpPr>
        <p:spPr>
          <a:xfrm>
            <a:off x="1295400" y="812800"/>
            <a:ext cx="311491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DD00"/>
                </a:solidFill>
                <a:latin typeface="Public Sans" pitchFamily="34" charset="0"/>
                <a:ea typeface="Public Sans" pitchFamily="34" charset="-122"/>
                <a:cs typeface="Public Sans" pitchFamily="34" charset="-120"/>
              </a:rPr>
              <a:t>03 · THE K-SHAPED ECONOMY</a:t>
            </a:r>
            <a:endParaRPr lang="en-US" sz="1200" dirty="0"/>
          </a:p>
        </p:txBody>
      </p:sp>
      <p:sp>
        <p:nvSpPr>
          <p:cNvPr id="4" name="Text 2"/>
          <p:cNvSpPr/>
          <p:nvPr>
            <p:ph type="title"/>
          </p:nvPr>
        </p:nvSpPr>
        <p:spPr>
          <a:xfrm>
            <a:off x="812800" y="1203920"/>
            <a:ext cx="4578350" cy="153407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6F9"/>
                </a:solidFill>
                <a:latin typeface="Public Sans" pitchFamily="34" charset="0"/>
                <a:ea typeface="Public Sans" pitchFamily="34" charset="-122"/>
                <a:cs typeface="Public Sans" pitchFamily="34" charset="-120"/>
              </a:rPr>
              <a:t>The K-shaped economy is redefining America</a:t>
            </a:r>
            <a:endParaRPr lang="en-US" sz="3600" dirty="0"/>
          </a:p>
        </p:txBody>
      </p:sp>
      <p:sp>
        <p:nvSpPr>
          <p:cNvPr id="5" name="Text 3"/>
          <p:cNvSpPr/>
          <p:nvPr/>
        </p:nvSpPr>
        <p:spPr>
          <a:xfrm>
            <a:off x="812800" y="2890391"/>
            <a:ext cx="457835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8E8"/>
                </a:solidFill>
                <a:latin typeface="Public Sans" pitchFamily="34" charset="0"/>
                <a:ea typeface="Public Sans" pitchFamily="34" charset="-122"/>
                <a:cs typeface="Public Sans" pitchFamily="34" charset="-120"/>
              </a:rPr>
              <a:t>Aggregate growth looks steady, but households are moving along very different paths.</a:t>
            </a:r>
            <a:endParaRPr lang="en-US" sz="1400" dirty="0"/>
          </a:p>
        </p:txBody>
      </p:sp>
      <p:sp>
        <p:nvSpPr>
          <p:cNvPr id="6" name="Shape 4"/>
          <p:cNvSpPr/>
          <p:nvPr/>
        </p:nvSpPr>
        <p:spPr>
          <a:xfrm>
            <a:off x="812800" y="3565971"/>
            <a:ext cx="4445000" cy="751780"/>
          </a:xfrm>
          <a:prstGeom prst="rect">
            <a:avLst/>
          </a:prstGeom>
          <a:solidFill>
            <a:srgbClr val="123560"/>
          </a:solidFill>
          <a:ln/>
        </p:spPr>
      </p:sp>
      <p:sp>
        <p:nvSpPr>
          <p:cNvPr id="7" name="Shape 5"/>
          <p:cNvSpPr/>
          <p:nvPr/>
        </p:nvSpPr>
        <p:spPr>
          <a:xfrm>
            <a:off x="812800" y="3565971"/>
            <a:ext cx="50800" cy="751780"/>
          </a:xfrm>
          <a:prstGeom prst="rect">
            <a:avLst/>
          </a:prstGeom>
          <a:solidFill>
            <a:srgbClr val="FFDD00"/>
          </a:solidFill>
          <a:ln/>
        </p:spPr>
      </p:sp>
      <p:sp>
        <p:nvSpPr>
          <p:cNvPr id="8" name="Text 6"/>
          <p:cNvSpPr/>
          <p:nvPr/>
        </p:nvSpPr>
        <p:spPr>
          <a:xfrm>
            <a:off x="1016000" y="3692971"/>
            <a:ext cx="421208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6F9"/>
                </a:solidFill>
                <a:latin typeface="Public Sans" pitchFamily="34" charset="0"/>
                <a:ea typeface="Public Sans" pitchFamily="34" charset="-122"/>
                <a:cs typeface="Public Sans" pitchFamily="34" charset="-120"/>
              </a:rPr>
              <a:t>Consumer sentiment has weakened as a predictor of aggregate spending.</a:t>
            </a:r>
            <a:endParaRPr lang="en-US" sz="1400" dirty="0"/>
          </a:p>
        </p:txBody>
      </p:sp>
      <p:pic>
        <p:nvPicPr>
          <p:cNvPr id="9" name="Image 0" descr="A large letter K: the upper arm rises for top earners, the lower arm falls for the bottom 80% of households">    </p:cNvPr>
          <p:cNvPicPr>
            <a:picLocks noChangeAspect="1"/>
          </p:cNvPicPr>
          <p:nvPr/>
        </p:nvPicPr>
        <p:blipFill>
          <a:blip r:embed="rId1"/>
          <a:srcRect l="0" r="0" t="0" b="0"/>
          <a:stretch/>
        </p:blipFill>
        <p:spPr>
          <a:xfrm>
            <a:off x="5664200" y="812800"/>
            <a:ext cx="5334000" cy="4470400"/>
          </a:xfrm>
          <a:prstGeom prst="rect">
            <a:avLst/>
          </a:prstGeom>
        </p:spPr>
      </p:pic>
      <p:sp>
        <p:nvSpPr>
          <p:cNvPr id="10" name="Text 7"/>
          <p:cNvSpPr/>
          <p:nvPr/>
        </p:nvSpPr>
        <p:spPr>
          <a:xfrm>
            <a:off x="8966200" y="1066800"/>
            <a:ext cx="2092960"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FDD00"/>
                </a:solidFill>
                <a:latin typeface="Public Sans" pitchFamily="34" charset="0"/>
                <a:ea typeface="Public Sans" pitchFamily="34" charset="-122"/>
                <a:cs typeface="Public Sans" pitchFamily="34" charset="-120"/>
              </a:rPr>
              <a:t>Top 10–20%</a:t>
            </a:r>
            <a:endParaRPr lang="en-US" sz="2000" dirty="0"/>
          </a:p>
        </p:txBody>
      </p:sp>
      <p:sp>
        <p:nvSpPr>
          <p:cNvPr id="11" name="Text 8"/>
          <p:cNvSpPr/>
          <p:nvPr/>
        </p:nvSpPr>
        <p:spPr>
          <a:xfrm>
            <a:off x="8966200" y="1422400"/>
            <a:ext cx="20929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8E8"/>
                </a:solidFill>
                <a:latin typeface="Public Sans" pitchFamily="34" charset="0"/>
                <a:ea typeface="Public Sans" pitchFamily="34" charset="-122"/>
                <a:cs typeface="Public Sans" pitchFamily="34" charset="-120"/>
              </a:rPr>
              <a:t>of households drive consumption growth</a:t>
            </a:r>
            <a:endParaRPr lang="en-US" sz="1200" dirty="0"/>
          </a:p>
        </p:txBody>
      </p:sp>
      <p:sp>
        <p:nvSpPr>
          <p:cNvPr id="12" name="Text 9"/>
          <p:cNvSpPr/>
          <p:nvPr/>
        </p:nvSpPr>
        <p:spPr>
          <a:xfrm>
            <a:off x="8966200" y="4241800"/>
            <a:ext cx="2092960"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9CC3E6"/>
                </a:solidFill>
                <a:latin typeface="Public Sans" pitchFamily="34" charset="0"/>
                <a:ea typeface="Public Sans" pitchFamily="34" charset="-122"/>
                <a:cs typeface="Public Sans" pitchFamily="34" charset="-120"/>
              </a:rPr>
              <a:t>Bottom 80%</a:t>
            </a:r>
            <a:endParaRPr lang="en-US" sz="2000" dirty="0"/>
          </a:p>
        </p:txBody>
      </p:sp>
      <p:sp>
        <p:nvSpPr>
          <p:cNvPr id="13" name="Text 10"/>
          <p:cNvSpPr/>
          <p:nvPr/>
        </p:nvSpPr>
        <p:spPr>
          <a:xfrm>
            <a:off x="8966200" y="4597400"/>
            <a:ext cx="20929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8E8"/>
                </a:solidFill>
                <a:latin typeface="Public Sans" pitchFamily="34" charset="0"/>
                <a:ea typeface="Public Sans" pitchFamily="34" charset="-122"/>
                <a:cs typeface="Public Sans" pitchFamily="34" charset="-120"/>
              </a:rPr>
              <a:t>have minimal reserves and falling real wages</a:t>
            </a:r>
            <a:endParaRPr lang="en-US" sz="1200" dirty="0"/>
          </a:p>
        </p:txBody>
      </p:sp>
      <p:sp>
        <p:nvSpPr>
          <p:cNvPr id="14" name="Text 11"/>
          <p:cNvSpPr/>
          <p:nvPr/>
        </p:nvSpPr>
        <p:spPr>
          <a:xfrm>
            <a:off x="5854700" y="4965700"/>
            <a:ext cx="274701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FB4CA"/>
                </a:solidFill>
                <a:latin typeface="Public Sans" pitchFamily="34" charset="0"/>
                <a:ea typeface="Public Sans" pitchFamily="34" charset="-122"/>
                <a:cs typeface="Public Sans" pitchFamily="34" charset="-120"/>
              </a:rPr>
              <a:t>ONE ECONOMY, TWO PATHS</a:t>
            </a:r>
            <a:endParaRPr lang="en-US" sz="1200" dirty="0"/>
          </a:p>
        </p:txBody>
      </p:sp>
      <p:sp>
        <p:nvSpPr>
          <p:cNvPr id="15" name="Text 12"/>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4CA"/>
                </a:solidFill>
                <a:latin typeface="Public Sans" pitchFamily="34" charset="0"/>
                <a:ea typeface="Public Sans" pitchFamily="34" charset="-122"/>
                <a:cs typeface="Public Sans" pitchFamily="34" charset="-120"/>
              </a:rPr>
              <a:t>Source: RBC Economics (Nov 2025; Jun, Sep 2026)</a:t>
            </a:r>
            <a:endParaRPr lang="en-US" sz="1200" dirty="0"/>
          </a:p>
        </p:txBody>
      </p:sp>
      <p:sp>
        <p:nvSpPr>
          <p:cNvPr id="16" name="Text 13"/>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4CA"/>
                </a:solidFill>
                <a:latin typeface="Public Sans" pitchFamily="34" charset="0"/>
                <a:ea typeface="Public Sans" pitchFamily="34" charset="-122"/>
                <a:cs typeface="Public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812800" y="894060"/>
            <a:ext cx="355600" cy="50800"/>
          </a:xfrm>
          <a:prstGeom prst="rect">
            <a:avLst/>
          </a:prstGeom>
          <a:solidFill>
            <a:srgbClr val="FFDD00"/>
          </a:solidFill>
          <a:ln/>
        </p:spPr>
      </p:sp>
      <p:sp>
        <p:nvSpPr>
          <p:cNvPr id="3" name="Text 1"/>
          <p:cNvSpPr/>
          <p:nvPr/>
        </p:nvSpPr>
        <p:spPr>
          <a:xfrm>
            <a:off x="1295400" y="812800"/>
            <a:ext cx="311491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05DAA"/>
                </a:solidFill>
                <a:latin typeface="Public Sans" pitchFamily="34" charset="0"/>
                <a:ea typeface="Public Sans" pitchFamily="34" charset="-122"/>
                <a:cs typeface="Public Sans" pitchFamily="34" charset="-120"/>
              </a:rPr>
              <a:t>03 · THE K-SHAPED ECONOMY</a:t>
            </a:r>
            <a:endParaRPr lang="en-US" sz="1200" dirty="0"/>
          </a:p>
        </p:txBody>
      </p:sp>
      <p:sp>
        <p:nvSpPr>
          <p:cNvPr id="4" name="Text 2"/>
          <p:cNvSpPr/>
          <p:nvPr>
            <p:ph type="title"/>
          </p:nvPr>
        </p:nvSpPr>
        <p:spPr>
          <a:xfrm>
            <a:off x="812800" y="1153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A2240"/>
                </a:solidFill>
                <a:latin typeface="Public Sans" pitchFamily="34" charset="0"/>
                <a:ea typeface="Public Sans" pitchFamily="34" charset="-122"/>
                <a:cs typeface="Public Sans" pitchFamily="34" charset="-120"/>
              </a:rPr>
              <a:t>The top of the K carries the spending</a:t>
            </a:r>
            <a:endParaRPr lang="en-US" sz="3200" dirty="0"/>
          </a:p>
        </p:txBody>
      </p:sp>
      <p:sp>
        <p:nvSpPr>
          <p:cNvPr id="5" name="Text 3"/>
          <p:cNvSpPr/>
          <p:nvPr/>
        </p:nvSpPr>
        <p:spPr>
          <a:xfrm>
            <a:off x="812800" y="180335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A2240"/>
                </a:solidFill>
                <a:latin typeface="Public Sans" pitchFamily="34" charset="0"/>
                <a:ea typeface="Public Sans" pitchFamily="34" charset="-122"/>
                <a:cs typeface="Public Sans" pitchFamily="34" charset="-120"/>
              </a:rPr>
              <a:t>Who owns US corporate equities</a:t>
            </a:r>
            <a:endParaRPr lang="en-US" sz="1400" dirty="0"/>
          </a:p>
        </p:txBody>
      </p:sp>
      <p:sp>
        <p:nvSpPr>
          <p:cNvPr id="6" name="Shape 4"/>
          <p:cNvSpPr/>
          <p:nvPr/>
        </p:nvSpPr>
        <p:spPr>
          <a:xfrm>
            <a:off x="812800" y="2128441"/>
            <a:ext cx="9062194" cy="584200"/>
          </a:xfrm>
          <a:prstGeom prst="rect">
            <a:avLst/>
          </a:prstGeom>
          <a:solidFill>
            <a:srgbClr val="0A2240"/>
          </a:solidFill>
          <a:ln/>
        </p:spPr>
      </p:sp>
      <p:sp>
        <p:nvSpPr>
          <p:cNvPr id="7" name="Text 5"/>
          <p:cNvSpPr/>
          <p:nvPr/>
        </p:nvSpPr>
        <p:spPr>
          <a:xfrm>
            <a:off x="990600" y="2242741"/>
            <a:ext cx="930176"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FDD00"/>
                </a:solidFill>
                <a:latin typeface="Public Sans" pitchFamily="34" charset="0"/>
                <a:ea typeface="Public Sans" pitchFamily="34" charset="-122"/>
                <a:cs typeface="Public Sans" pitchFamily="34" charset="-120"/>
              </a:rPr>
              <a:t>87%</a:t>
            </a:r>
            <a:endParaRPr lang="en-US" sz="2800" dirty="0"/>
          </a:p>
        </p:txBody>
      </p:sp>
      <p:sp>
        <p:nvSpPr>
          <p:cNvPr id="8" name="Text 6"/>
          <p:cNvSpPr/>
          <p:nvPr/>
        </p:nvSpPr>
        <p:spPr>
          <a:xfrm>
            <a:off x="1920776" y="2296071"/>
            <a:ext cx="235356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6F9"/>
                </a:solidFill>
                <a:latin typeface="Public Sans" pitchFamily="34" charset="0"/>
                <a:ea typeface="Public Sans" pitchFamily="34" charset="-122"/>
                <a:cs typeface="Public Sans" pitchFamily="34" charset="-120"/>
              </a:rPr>
              <a:t>Top 20% of households</a:t>
            </a:r>
            <a:endParaRPr lang="en-US" sz="1400" dirty="0"/>
          </a:p>
        </p:txBody>
      </p:sp>
      <p:sp>
        <p:nvSpPr>
          <p:cNvPr id="9" name="Text 7"/>
          <p:cNvSpPr/>
          <p:nvPr/>
        </p:nvSpPr>
        <p:spPr>
          <a:xfrm>
            <a:off x="9874994" y="2128441"/>
            <a:ext cx="1504206" cy="584200"/>
          </a:xfrm>
          <a:prstGeom prst="rect">
            <a:avLst/>
          </a:prstGeom>
          <a:solidFill>
            <a:srgbClr val="9CC3E6"/>
          </a:solidFill>
          <a:ln/>
        </p:spPr>
        <p:txBody>
          <a:bodyPr wrap="square" lIns="101600" tIns="114300" rIns="101600" bIns="114300" rtlCol="0" anchor="ctr">
            <a:normAutofit/>
          </a:bodyPr>
          <a:lstStyle/>
          <a:p>
            <a:pPr algn="l" indent="0" marL="0">
              <a:lnSpc>
                <a:spcPts val="2520"/>
              </a:lnSpc>
              <a:buNone/>
            </a:pPr>
            <a:r>
              <a:rPr lang="en-US" sz="1800" b="1" dirty="0">
                <a:solidFill>
                  <a:srgbClr val="0A2240"/>
                </a:solidFill>
                <a:latin typeface="Public Sans" pitchFamily="34" charset="0"/>
                <a:ea typeface="Public Sans" pitchFamily="34" charset="-122"/>
                <a:cs typeface="Public Sans" pitchFamily="34" charset="-120"/>
              </a:rPr>
              <a:t>13%</a:t>
            </a:r>
            <a:endParaRPr lang="en-US" sz="1800" dirty="0"/>
          </a:p>
        </p:txBody>
      </p:sp>
      <p:sp>
        <p:nvSpPr>
          <p:cNvPr id="10" name="Text 8"/>
          <p:cNvSpPr/>
          <p:nvPr/>
        </p:nvSpPr>
        <p:spPr>
          <a:xfrm>
            <a:off x="812800" y="278884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B6B"/>
                </a:solidFill>
                <a:latin typeface="Public Sans" pitchFamily="34" charset="0"/>
                <a:ea typeface="Public Sans" pitchFamily="34" charset="-122"/>
                <a:cs typeface="Public Sans" pitchFamily="34" charset="-120"/>
              </a:rPr>
              <a:t>The other 80% of households hold the remaining 13%.</a:t>
            </a:r>
            <a:endParaRPr lang="en-US" sz="1200" dirty="0"/>
          </a:p>
        </p:txBody>
      </p:sp>
      <p:sp>
        <p:nvSpPr>
          <p:cNvPr id="11" name="Shape 9"/>
          <p:cNvSpPr/>
          <p:nvPr/>
        </p:nvSpPr>
        <p:spPr>
          <a:xfrm>
            <a:off x="812800" y="3205361"/>
            <a:ext cx="5175250" cy="1939429"/>
          </a:xfrm>
          <a:prstGeom prst="rect">
            <a:avLst/>
          </a:prstGeom>
          <a:solidFill>
            <a:srgbClr val="0A2240"/>
          </a:solidFill>
          <a:ln/>
        </p:spPr>
      </p:sp>
      <p:pic>
        <p:nvPicPr>
          <p:cNvPr id="12" name="Image 0" descr="arrow-up">    </p:cNvPr>
          <p:cNvPicPr>
            <a:picLocks noChangeAspect="1"/>
          </p:cNvPicPr>
          <p:nvPr/>
        </p:nvPicPr>
        <p:blipFill>
          <a:blip r:embed="rId1"/>
          <a:srcRect l="0" r="0" t="0" b="0"/>
          <a:stretch/>
        </p:blipFill>
        <p:spPr>
          <a:xfrm>
            <a:off x="1016000" y="3368725"/>
            <a:ext cx="228600" cy="304800"/>
          </a:xfrm>
          <a:prstGeom prst="rect">
            <a:avLst/>
          </a:prstGeom>
        </p:spPr>
      </p:pic>
      <p:sp>
        <p:nvSpPr>
          <p:cNvPr id="13" name="Text 10"/>
          <p:cNvSpPr/>
          <p:nvPr/>
        </p:nvSpPr>
        <p:spPr>
          <a:xfrm>
            <a:off x="1371600" y="3368725"/>
            <a:ext cx="17209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FDD00"/>
                </a:solidFill>
                <a:latin typeface="Public Sans" pitchFamily="34" charset="0"/>
                <a:ea typeface="Public Sans" pitchFamily="34" charset="-122"/>
                <a:cs typeface="Public Sans" pitchFamily="34" charset="-120"/>
              </a:rPr>
              <a:t>Top of the K</a:t>
            </a:r>
            <a:endParaRPr lang="en-US" sz="2000" dirty="0"/>
          </a:p>
        </p:txBody>
      </p:sp>
      <p:sp>
        <p:nvSpPr>
          <p:cNvPr id="14" name="Text 11"/>
          <p:cNvSpPr/>
          <p:nvPr/>
        </p:nvSpPr>
        <p:spPr>
          <a:xfrm>
            <a:off x="1016000" y="3747988"/>
            <a:ext cx="4911916" cy="242689"/>
          </a:xfrm>
          <a:prstGeom prst="rect">
            <a:avLst/>
          </a:prstGeom>
          <a:noFill/>
          <a:ln/>
        </p:spPr>
        <p:txBody>
          <a:bodyPr wrap="square" lIns="0" tIns="0" rIns="0" bIns="0" rtlCol="0" anchor="t">
            <a:normAutofit/>
          </a:bodyPr>
          <a:lstStyle/>
          <a:p>
            <a:pPr algn="l" indent="0" marL="0">
              <a:lnSpc>
                <a:spcPts val="1725"/>
              </a:lnSpc>
              <a:buNone/>
            </a:pPr>
            <a:r>
              <a:rPr lang="en-US" sz="1278" dirty="0">
                <a:solidFill>
                  <a:srgbClr val="F4F6F9"/>
                </a:solidFill>
                <a:latin typeface="Public Sans" pitchFamily="34" charset="0"/>
                <a:ea typeface="Public Sans" pitchFamily="34" charset="-122"/>
                <a:cs typeface="Public Sans" pitchFamily="34" charset="-120"/>
              </a:rPr>
              <a:t>Income from dividends, rent and interest.</a:t>
            </a:r>
            <a:endParaRPr lang="en-US" sz="1278" dirty="0"/>
          </a:p>
        </p:txBody>
      </p:sp>
      <p:sp>
        <p:nvSpPr>
          <p:cNvPr id="15" name="Text 12"/>
          <p:cNvSpPr/>
          <p:nvPr/>
        </p:nvSpPr>
        <p:spPr>
          <a:xfrm>
            <a:off x="1016000" y="4054177"/>
            <a:ext cx="2364391"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FDD00"/>
                </a:solidFill>
                <a:latin typeface="Public Sans" pitchFamily="34" charset="0"/>
                <a:ea typeface="Public Sans" pitchFamily="34" charset="-122"/>
                <a:cs typeface="Public Sans" pitchFamily="34" charset="-120"/>
              </a:rPr>
              <a:t>$30T</a:t>
            </a:r>
            <a:endParaRPr lang="en-US" sz="4400" dirty="0"/>
          </a:p>
        </p:txBody>
      </p:sp>
      <p:sp>
        <p:nvSpPr>
          <p:cNvPr id="16" name="Text 13"/>
          <p:cNvSpPr/>
          <p:nvPr/>
        </p:nvSpPr>
        <p:spPr>
          <a:xfrm>
            <a:off x="1016000" y="4651077"/>
            <a:ext cx="2364391"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8E8"/>
                </a:solidFill>
                <a:latin typeface="Public Sans" pitchFamily="34" charset="0"/>
                <a:ea typeface="Public Sans" pitchFamily="34" charset="-122"/>
                <a:cs typeface="Public Sans" pitchFamily="34" charset="-120"/>
              </a:rPr>
              <a:t>added to liquid assets by the top 10% since 2020.</a:t>
            </a:r>
            <a:endParaRPr lang="en-US" sz="1200" dirty="0"/>
          </a:p>
        </p:txBody>
      </p:sp>
      <p:sp>
        <p:nvSpPr>
          <p:cNvPr id="17" name="Text 14"/>
          <p:cNvSpPr/>
          <p:nvPr/>
        </p:nvSpPr>
        <p:spPr>
          <a:xfrm>
            <a:off x="3489325" y="4054177"/>
            <a:ext cx="2364391"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FDD00"/>
                </a:solidFill>
                <a:latin typeface="Public Sans" pitchFamily="34" charset="0"/>
                <a:ea typeface="Public Sans" pitchFamily="34" charset="-122"/>
                <a:cs typeface="Public Sans" pitchFamily="34" charset="-120"/>
              </a:rPr>
              <a:t>~$5T</a:t>
            </a:r>
            <a:endParaRPr lang="en-US" sz="4400" dirty="0"/>
          </a:p>
        </p:txBody>
      </p:sp>
      <p:sp>
        <p:nvSpPr>
          <p:cNvPr id="18" name="Text 15"/>
          <p:cNvSpPr/>
          <p:nvPr/>
        </p:nvSpPr>
        <p:spPr>
          <a:xfrm>
            <a:off x="3489325" y="4651077"/>
            <a:ext cx="249872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8E8"/>
                </a:solidFill>
                <a:latin typeface="Public Sans" pitchFamily="34" charset="0"/>
                <a:ea typeface="Public Sans" pitchFamily="34" charset="-122"/>
                <a:cs typeface="Public Sans" pitchFamily="34" charset="-120"/>
              </a:rPr>
              <a:t>the most any other group added.</a:t>
            </a:r>
            <a:endParaRPr lang="en-US" sz="1200" dirty="0"/>
          </a:p>
        </p:txBody>
      </p:sp>
      <p:sp>
        <p:nvSpPr>
          <p:cNvPr id="19" name="Shape 16"/>
          <p:cNvSpPr/>
          <p:nvPr/>
        </p:nvSpPr>
        <p:spPr>
          <a:xfrm>
            <a:off x="6194425" y="3208536"/>
            <a:ext cx="5181600" cy="1933079"/>
          </a:xfrm>
          <a:prstGeom prst="rect">
            <a:avLst/>
          </a:prstGeom>
          <a:solidFill>
            <a:srgbClr val="FBFCFD"/>
          </a:solidFill>
          <a:ln w="6350">
            <a:solidFill>
              <a:srgbClr val="D5DEE8"/>
            </a:solidFill>
            <a:prstDash val="solid"/>
          </a:ln>
        </p:spPr>
      </p:sp>
      <p:pic>
        <p:nvPicPr>
          <p:cNvPr id="20" name="Image 1" descr="arrow-down">    </p:cNvPr>
          <p:cNvPicPr>
            <a:picLocks noChangeAspect="1"/>
          </p:cNvPicPr>
          <p:nvPr/>
        </p:nvPicPr>
        <p:blipFill>
          <a:blip r:embed="rId2"/>
          <a:srcRect l="0" r="0" t="0" b="0"/>
          <a:stretch/>
        </p:blipFill>
        <p:spPr>
          <a:xfrm>
            <a:off x="6400800" y="3373834"/>
            <a:ext cx="228600" cy="304800"/>
          </a:xfrm>
          <a:prstGeom prst="rect">
            <a:avLst/>
          </a:prstGeom>
        </p:spPr>
      </p:pic>
      <p:sp>
        <p:nvSpPr>
          <p:cNvPr id="21" name="Text 17"/>
          <p:cNvSpPr/>
          <p:nvPr/>
        </p:nvSpPr>
        <p:spPr>
          <a:xfrm>
            <a:off x="6756400" y="3373834"/>
            <a:ext cx="226480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05DAA"/>
                </a:solidFill>
                <a:latin typeface="Public Sans" pitchFamily="34" charset="0"/>
                <a:ea typeface="Public Sans" pitchFamily="34" charset="-122"/>
                <a:cs typeface="Public Sans" pitchFamily="34" charset="-120"/>
              </a:rPr>
              <a:t>Bottom of the K</a:t>
            </a:r>
            <a:endParaRPr lang="en-US" sz="2000" dirty="0"/>
          </a:p>
        </p:txBody>
      </p:sp>
      <p:sp>
        <p:nvSpPr>
          <p:cNvPr id="22" name="Text 18"/>
          <p:cNvSpPr/>
          <p:nvPr/>
        </p:nvSpPr>
        <p:spPr>
          <a:xfrm>
            <a:off x="6400800" y="3751858"/>
            <a:ext cx="4911916" cy="240705"/>
          </a:xfrm>
          <a:prstGeom prst="rect">
            <a:avLst/>
          </a:prstGeom>
          <a:noFill/>
          <a:ln/>
        </p:spPr>
        <p:txBody>
          <a:bodyPr wrap="square" lIns="0" tIns="0" rIns="0" bIns="0" rtlCol="0" anchor="t">
            <a:normAutofit/>
          </a:bodyPr>
          <a:lstStyle/>
          <a:p>
            <a:pPr algn="l" indent="0" marL="0">
              <a:lnSpc>
                <a:spcPts val="1725"/>
              </a:lnSpc>
              <a:buNone/>
            </a:pPr>
            <a:r>
              <a:rPr lang="en-US" sz="1278" dirty="0">
                <a:solidFill>
                  <a:srgbClr val="0A2240"/>
                </a:solidFill>
                <a:latin typeface="Public Sans" pitchFamily="34" charset="0"/>
                <a:ea typeface="Public Sans" pitchFamily="34" charset="-122"/>
                <a:cs typeface="Public Sans" pitchFamily="34" charset="-120"/>
              </a:rPr>
              <a:t>Income from paychecks; real wages negative since April.</a:t>
            </a:r>
            <a:endParaRPr lang="en-US" sz="1278" dirty="0"/>
          </a:p>
        </p:txBody>
      </p:sp>
      <p:sp>
        <p:nvSpPr>
          <p:cNvPr id="23" name="Text 19"/>
          <p:cNvSpPr/>
          <p:nvPr/>
        </p:nvSpPr>
        <p:spPr>
          <a:xfrm>
            <a:off x="6400800" y="4056063"/>
            <a:ext cx="2364391"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005DAA"/>
                </a:solidFill>
                <a:latin typeface="Public Sans" pitchFamily="34" charset="0"/>
                <a:ea typeface="Public Sans" pitchFamily="34" charset="-122"/>
                <a:cs typeface="Public Sans" pitchFamily="34" charset="-120"/>
              </a:rPr>
              <a:t>2.6%</a:t>
            </a:r>
            <a:endParaRPr lang="en-US" sz="4400" dirty="0"/>
          </a:p>
        </p:txBody>
      </p:sp>
      <p:sp>
        <p:nvSpPr>
          <p:cNvPr id="24" name="Text 20"/>
          <p:cNvSpPr/>
          <p:nvPr/>
        </p:nvSpPr>
        <p:spPr>
          <a:xfrm>
            <a:off x="6400800" y="4652963"/>
            <a:ext cx="2364391"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B5B6B"/>
                </a:solidFill>
                <a:latin typeface="Public Sans" pitchFamily="34" charset="0"/>
                <a:ea typeface="Public Sans" pitchFamily="34" charset="-122"/>
                <a:cs typeface="Public Sans" pitchFamily="34" charset="-120"/>
              </a:rPr>
              <a:t>saving rate in April, a point below February.</a:t>
            </a:r>
            <a:endParaRPr lang="en-US" sz="1200" dirty="0"/>
          </a:p>
        </p:txBody>
      </p:sp>
      <p:sp>
        <p:nvSpPr>
          <p:cNvPr id="25" name="Text 21"/>
          <p:cNvSpPr/>
          <p:nvPr/>
        </p:nvSpPr>
        <p:spPr>
          <a:xfrm>
            <a:off x="8874125" y="4056063"/>
            <a:ext cx="2364391"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005DAA"/>
                </a:solidFill>
                <a:latin typeface="Public Sans" pitchFamily="34" charset="0"/>
                <a:ea typeface="Public Sans" pitchFamily="34" charset="-122"/>
                <a:cs typeface="Public Sans" pitchFamily="34" charset="-120"/>
              </a:rPr>
              <a:t>2.5%</a:t>
            </a:r>
            <a:endParaRPr lang="en-US" sz="4400" dirty="0"/>
          </a:p>
        </p:txBody>
      </p:sp>
      <p:sp>
        <p:nvSpPr>
          <p:cNvPr id="26" name="Text 22"/>
          <p:cNvSpPr/>
          <p:nvPr/>
        </p:nvSpPr>
        <p:spPr>
          <a:xfrm>
            <a:off x="8874125" y="4652963"/>
            <a:ext cx="2364391"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B5B6B"/>
                </a:solidFill>
                <a:latin typeface="Public Sans" pitchFamily="34" charset="0"/>
                <a:ea typeface="Public Sans" pitchFamily="34" charset="-122"/>
                <a:cs typeface="Public Sans" pitchFamily="34" charset="-120"/>
              </a:rPr>
              <a:t>of income goes to interest; 2.8% preceded past recessions.</a:t>
            </a:r>
            <a:endParaRPr lang="en-US" sz="1200" dirty="0"/>
          </a:p>
        </p:txBody>
      </p:sp>
      <p:sp>
        <p:nvSpPr>
          <p:cNvPr id="27" name="Text 23"/>
          <p:cNvSpPr/>
          <p:nvPr/>
        </p:nvSpPr>
        <p:spPr>
          <a:xfrm>
            <a:off x="812800" y="5347990"/>
            <a:ext cx="10566400" cy="494010"/>
          </a:xfrm>
          <a:prstGeom prst="rect">
            <a:avLst/>
          </a:prstGeom>
          <a:solidFill>
            <a:srgbClr val="FFDD00"/>
          </a:solidFill>
          <a:ln/>
        </p:spPr>
        <p:txBody>
          <a:bodyPr wrap="square" lIns="228600" tIns="127000" rIns="0" bIns="101600" rtlCol="0" anchor="t">
            <a:normAutofit/>
          </a:bodyPr>
          <a:lstStyle/>
          <a:p>
            <a:pPr algn="l" indent="0" marL="0">
              <a:lnSpc>
                <a:spcPts val="1890"/>
              </a:lnSpc>
              <a:buNone/>
            </a:pPr>
            <a:r>
              <a:rPr lang="en-US" sz="1400" b="1" dirty="0">
                <a:solidFill>
                  <a:srgbClr val="0A2240"/>
                </a:solidFill>
                <a:latin typeface="Public Sans" pitchFamily="34" charset="0"/>
                <a:ea typeface="Public Sans" pitchFamily="34" charset="-122"/>
                <a:cs typeface="Public Sans" pitchFamily="34" charset="-120"/>
              </a:rPr>
              <a:t>Spending power is concentrated where wealth is, so a stock market correction hits the spending engine directly.</a:t>
            </a:r>
            <a:endParaRPr lang="en-US" sz="1400" dirty="0"/>
          </a:p>
        </p:txBody>
      </p:sp>
      <p:sp>
        <p:nvSpPr>
          <p:cNvPr id="28" name="Text 24"/>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B"/>
                </a:solidFill>
                <a:latin typeface="Public Sans" pitchFamily="34" charset="0"/>
                <a:ea typeface="Public Sans" pitchFamily="34" charset="-122"/>
                <a:cs typeface="Public Sans" pitchFamily="34" charset="-120"/>
              </a:rPr>
              <a:t>Source: RBC Economics (Nov 2025; Jun, Sep 2026)</a:t>
            </a:r>
            <a:endParaRPr lang="en-US" sz="1200" dirty="0"/>
          </a:p>
        </p:txBody>
      </p:sp>
      <p:sp>
        <p:nvSpPr>
          <p:cNvPr id="29" name="Text 25"/>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B"/>
                </a:solidFill>
                <a:latin typeface="Public Sans" pitchFamily="34" charset="0"/>
                <a:ea typeface="Public Sans" pitchFamily="34" charset="-122"/>
                <a:cs typeface="Public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812800" y="894060"/>
            <a:ext cx="355600" cy="50800"/>
          </a:xfrm>
          <a:prstGeom prst="rect">
            <a:avLst/>
          </a:prstGeom>
          <a:solidFill>
            <a:srgbClr val="FFDD00"/>
          </a:solidFill>
          <a:ln/>
        </p:spPr>
      </p:sp>
      <p:sp>
        <p:nvSpPr>
          <p:cNvPr id="3" name="Text 1"/>
          <p:cNvSpPr/>
          <p:nvPr/>
        </p:nvSpPr>
        <p:spPr>
          <a:xfrm>
            <a:off x="1295400" y="812800"/>
            <a:ext cx="311491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05DAA"/>
                </a:solidFill>
                <a:latin typeface="Public Sans" pitchFamily="34" charset="0"/>
                <a:ea typeface="Public Sans" pitchFamily="34" charset="-122"/>
                <a:cs typeface="Public Sans" pitchFamily="34" charset="-120"/>
              </a:rPr>
              <a:t>03 · THE K-SHAPED ECONOMY</a:t>
            </a:r>
            <a:endParaRPr lang="en-US" sz="1200" dirty="0"/>
          </a:p>
        </p:txBody>
      </p:sp>
      <p:sp>
        <p:nvSpPr>
          <p:cNvPr id="4" name="Text 2"/>
          <p:cNvSpPr/>
          <p:nvPr>
            <p:ph type="title"/>
          </p:nvPr>
        </p:nvSpPr>
        <p:spPr>
          <a:xfrm>
            <a:off x="812800" y="1153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A2240"/>
                </a:solidFill>
                <a:latin typeface="Public Sans" pitchFamily="34" charset="0"/>
                <a:ea typeface="Public Sans" pitchFamily="34" charset="-122"/>
                <a:cs typeface="Public Sans" pitchFamily="34" charset="-120"/>
              </a:rPr>
              <a:t>Two households, two sets of decisions</a:t>
            </a:r>
            <a:endParaRPr lang="en-US" sz="3200" dirty="0"/>
          </a:p>
        </p:txBody>
      </p:sp>
      <p:sp>
        <p:nvSpPr>
          <p:cNvPr id="5" name="Shape 3"/>
          <p:cNvSpPr/>
          <p:nvPr/>
        </p:nvSpPr>
        <p:spPr>
          <a:xfrm>
            <a:off x="812800" y="1803350"/>
            <a:ext cx="5181600" cy="3316039"/>
          </a:xfrm>
          <a:prstGeom prst="rect">
            <a:avLst/>
          </a:prstGeom>
          <a:solidFill>
            <a:srgbClr val="0A2240"/>
          </a:solidFill>
          <a:ln/>
        </p:spPr>
      </p:sp>
      <p:pic>
        <p:nvPicPr>
          <p:cNvPr id="6" name="Image 0" descr="arrow-up">    </p:cNvPr>
          <p:cNvPicPr>
            <a:picLocks noChangeAspect="1"/>
          </p:cNvPicPr>
          <p:nvPr/>
        </p:nvPicPr>
        <p:blipFill>
          <a:blip r:embed="rId1"/>
          <a:srcRect l="0" r="0" t="0" b="0"/>
          <a:stretch/>
        </p:blipFill>
        <p:spPr>
          <a:xfrm>
            <a:off x="990600" y="1981150"/>
            <a:ext cx="203200" cy="279400"/>
          </a:xfrm>
          <a:prstGeom prst="rect">
            <a:avLst/>
          </a:prstGeom>
        </p:spPr>
      </p:pic>
      <p:sp>
        <p:nvSpPr>
          <p:cNvPr id="7" name="Text 4"/>
          <p:cNvSpPr/>
          <p:nvPr/>
        </p:nvSpPr>
        <p:spPr>
          <a:xfrm>
            <a:off x="1295400" y="1983680"/>
            <a:ext cx="1548884"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DD00"/>
                </a:solidFill>
                <a:latin typeface="Public Sans" pitchFamily="34" charset="0"/>
                <a:ea typeface="Public Sans" pitchFamily="34" charset="-122"/>
                <a:cs typeface="Public Sans" pitchFamily="34" charset="-120"/>
              </a:rPr>
              <a:t>Top of the K</a:t>
            </a:r>
            <a:endParaRPr lang="en-US" sz="1800" dirty="0"/>
          </a:p>
        </p:txBody>
      </p:sp>
      <p:sp>
        <p:nvSpPr>
          <p:cNvPr id="8" name="Shape 5"/>
          <p:cNvSpPr/>
          <p:nvPr/>
        </p:nvSpPr>
        <p:spPr>
          <a:xfrm>
            <a:off x="993775" y="2352625"/>
            <a:ext cx="4819650" cy="798413"/>
          </a:xfrm>
          <a:prstGeom prst="rect">
            <a:avLst/>
          </a:prstGeom>
          <a:solidFill>
            <a:srgbClr val="123560"/>
          </a:solidFill>
          <a:ln w="6350">
            <a:solidFill>
              <a:srgbClr val="1E4A80"/>
            </a:solidFill>
            <a:prstDash val="solid"/>
          </a:ln>
        </p:spPr>
      </p:sp>
      <p:sp>
        <p:nvSpPr>
          <p:cNvPr id="9" name="Text 6"/>
          <p:cNvSpPr/>
          <p:nvPr/>
        </p:nvSpPr>
        <p:spPr>
          <a:xfrm>
            <a:off x="1149350" y="2574032"/>
            <a:ext cx="355600" cy="355600"/>
          </a:xfrm>
          <a:prstGeom prst="roundRect">
            <a:avLst>
              <a:gd name="adj" fmla="val 50000"/>
            </a:avLst>
          </a:prstGeom>
          <a:solidFill>
            <a:srgbClr val="FFDD00"/>
          </a:solidFill>
          <a:ln/>
        </p:spPr>
        <p:txBody>
          <a:bodyPr wrap="square" lIns="0" tIns="0" rIns="0" bIns="0" rtlCol="0" anchor="ctr">
            <a:normAutofit/>
          </a:bodyPr>
          <a:lstStyle/>
          <a:p>
            <a:pPr algn="ctr" indent="0" marL="0">
              <a:lnSpc>
                <a:spcPts val="1960"/>
              </a:lnSpc>
              <a:buNone/>
            </a:pPr>
            <a:r>
              <a:rPr lang="en-US" sz="1400" b="1" dirty="0">
                <a:solidFill>
                  <a:srgbClr val="0A2240"/>
                </a:solidFill>
                <a:latin typeface="Public Sans" pitchFamily="34" charset="0"/>
                <a:ea typeface="Public Sans" pitchFamily="34" charset="-122"/>
                <a:cs typeface="Public Sans" pitchFamily="34" charset="-120"/>
              </a:rPr>
              <a:t>1</a:t>
            </a:r>
            <a:endParaRPr lang="en-US" sz="1400" dirty="0"/>
          </a:p>
        </p:txBody>
      </p:sp>
      <p:sp>
        <p:nvSpPr>
          <p:cNvPr id="10" name="Text 7"/>
          <p:cNvSpPr/>
          <p:nvPr/>
        </p:nvSpPr>
        <p:spPr>
          <a:xfrm>
            <a:off x="1631950" y="2518172"/>
            <a:ext cx="414667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6F9"/>
                </a:solidFill>
                <a:latin typeface="Public Sans" pitchFamily="34" charset="0"/>
                <a:ea typeface="Public Sans" pitchFamily="34" charset="-122"/>
                <a:cs typeface="Public Sans" pitchFamily="34" charset="-120"/>
              </a:rPr>
              <a:t>Spend from asset income</a:t>
            </a:r>
            <a:endParaRPr lang="en-US" sz="1400" dirty="0"/>
          </a:p>
        </p:txBody>
      </p:sp>
      <p:sp>
        <p:nvSpPr>
          <p:cNvPr id="11" name="Text 8"/>
          <p:cNvSpPr/>
          <p:nvPr/>
        </p:nvSpPr>
        <p:spPr>
          <a:xfrm>
            <a:off x="1631950" y="2779762"/>
            <a:ext cx="4146677"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8E8"/>
                </a:solidFill>
                <a:latin typeface="Public Sans" pitchFamily="34" charset="0"/>
                <a:ea typeface="Public Sans" pitchFamily="34" charset="-122"/>
                <a:cs typeface="Public Sans" pitchFamily="34" charset="-120"/>
              </a:rPr>
              <a:t>Dividends, rent and interest keep growing.</a:t>
            </a:r>
            <a:endParaRPr lang="en-US" sz="1200" dirty="0"/>
          </a:p>
        </p:txBody>
      </p:sp>
      <p:sp>
        <p:nvSpPr>
          <p:cNvPr id="12" name="Shape 9"/>
          <p:cNvSpPr/>
          <p:nvPr/>
        </p:nvSpPr>
        <p:spPr>
          <a:xfrm>
            <a:off x="993775" y="3246289"/>
            <a:ext cx="4819650" cy="798463"/>
          </a:xfrm>
          <a:prstGeom prst="rect">
            <a:avLst/>
          </a:prstGeom>
          <a:solidFill>
            <a:srgbClr val="123560"/>
          </a:solidFill>
          <a:ln w="6350">
            <a:solidFill>
              <a:srgbClr val="1E4A80"/>
            </a:solidFill>
            <a:prstDash val="solid"/>
          </a:ln>
        </p:spPr>
      </p:sp>
      <p:sp>
        <p:nvSpPr>
          <p:cNvPr id="13" name="Text 10"/>
          <p:cNvSpPr/>
          <p:nvPr/>
        </p:nvSpPr>
        <p:spPr>
          <a:xfrm>
            <a:off x="1149350" y="3467695"/>
            <a:ext cx="355600" cy="355600"/>
          </a:xfrm>
          <a:prstGeom prst="roundRect">
            <a:avLst>
              <a:gd name="adj" fmla="val 50000"/>
            </a:avLst>
          </a:prstGeom>
          <a:solidFill>
            <a:srgbClr val="FFDD00"/>
          </a:solidFill>
          <a:ln/>
        </p:spPr>
        <p:txBody>
          <a:bodyPr wrap="square" lIns="0" tIns="0" rIns="0" bIns="0" rtlCol="0" anchor="ctr">
            <a:normAutofit/>
          </a:bodyPr>
          <a:lstStyle/>
          <a:p>
            <a:pPr algn="ctr" indent="0" marL="0">
              <a:lnSpc>
                <a:spcPts val="1960"/>
              </a:lnSpc>
              <a:buNone/>
            </a:pPr>
            <a:r>
              <a:rPr lang="en-US" sz="1400" b="1" dirty="0">
                <a:solidFill>
                  <a:srgbClr val="0A2240"/>
                </a:solidFill>
                <a:latin typeface="Public Sans" pitchFamily="34" charset="0"/>
                <a:ea typeface="Public Sans" pitchFamily="34" charset="-122"/>
                <a:cs typeface="Public Sans" pitchFamily="34" charset="-120"/>
              </a:rPr>
              <a:t>2</a:t>
            </a:r>
            <a:endParaRPr lang="en-US" sz="1400" dirty="0"/>
          </a:p>
        </p:txBody>
      </p:sp>
      <p:sp>
        <p:nvSpPr>
          <p:cNvPr id="14" name="Text 11"/>
          <p:cNvSpPr/>
          <p:nvPr/>
        </p:nvSpPr>
        <p:spPr>
          <a:xfrm>
            <a:off x="1631950" y="3411835"/>
            <a:ext cx="414667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6F9"/>
                </a:solidFill>
                <a:latin typeface="Public Sans" pitchFamily="34" charset="0"/>
                <a:ea typeface="Public Sans" pitchFamily="34" charset="-122"/>
                <a:cs typeface="Public Sans" pitchFamily="34" charset="-120"/>
              </a:rPr>
              <a:t>Shrug off inflation</a:t>
            </a:r>
            <a:endParaRPr lang="en-US" sz="1400" dirty="0"/>
          </a:p>
        </p:txBody>
      </p:sp>
      <p:sp>
        <p:nvSpPr>
          <p:cNvPr id="15" name="Text 12"/>
          <p:cNvSpPr/>
          <p:nvPr/>
        </p:nvSpPr>
        <p:spPr>
          <a:xfrm>
            <a:off x="1631950" y="3673425"/>
            <a:ext cx="4146677"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8E8"/>
                </a:solidFill>
                <a:latin typeface="Public Sans" pitchFamily="34" charset="0"/>
                <a:ea typeface="Public Sans" pitchFamily="34" charset="-122"/>
                <a:cs typeface="Public Sans" pitchFamily="34" charset="-120"/>
              </a:rPr>
              <a:t>Less affected by higher prices.</a:t>
            </a:r>
            <a:endParaRPr lang="en-US" sz="1200" dirty="0"/>
          </a:p>
        </p:txBody>
      </p:sp>
      <p:sp>
        <p:nvSpPr>
          <p:cNvPr id="16" name="Shape 13"/>
          <p:cNvSpPr/>
          <p:nvPr/>
        </p:nvSpPr>
        <p:spPr>
          <a:xfrm>
            <a:off x="993775" y="4140002"/>
            <a:ext cx="4819650" cy="798413"/>
          </a:xfrm>
          <a:prstGeom prst="rect">
            <a:avLst/>
          </a:prstGeom>
          <a:solidFill>
            <a:srgbClr val="123560"/>
          </a:solidFill>
          <a:ln w="6350">
            <a:solidFill>
              <a:srgbClr val="1E4A80"/>
            </a:solidFill>
            <a:prstDash val="solid"/>
          </a:ln>
        </p:spPr>
      </p:sp>
      <p:sp>
        <p:nvSpPr>
          <p:cNvPr id="17" name="Text 14"/>
          <p:cNvSpPr/>
          <p:nvPr/>
        </p:nvSpPr>
        <p:spPr>
          <a:xfrm>
            <a:off x="1149350" y="4361408"/>
            <a:ext cx="355600" cy="355600"/>
          </a:xfrm>
          <a:prstGeom prst="roundRect">
            <a:avLst>
              <a:gd name="adj" fmla="val 50000"/>
            </a:avLst>
          </a:prstGeom>
          <a:solidFill>
            <a:srgbClr val="FFDD00"/>
          </a:solidFill>
          <a:ln/>
        </p:spPr>
        <p:txBody>
          <a:bodyPr wrap="square" lIns="0" tIns="0" rIns="0" bIns="0" rtlCol="0" anchor="ctr">
            <a:normAutofit/>
          </a:bodyPr>
          <a:lstStyle/>
          <a:p>
            <a:pPr algn="ctr" indent="0" marL="0">
              <a:lnSpc>
                <a:spcPts val="1960"/>
              </a:lnSpc>
              <a:buNone/>
            </a:pPr>
            <a:r>
              <a:rPr lang="en-US" sz="1400" b="1" dirty="0">
                <a:solidFill>
                  <a:srgbClr val="0A2240"/>
                </a:solidFill>
                <a:latin typeface="Public Sans" pitchFamily="34" charset="0"/>
                <a:ea typeface="Public Sans" pitchFamily="34" charset="-122"/>
                <a:cs typeface="Public Sans" pitchFamily="34" charset="-120"/>
              </a:rPr>
              <a:t>3</a:t>
            </a:r>
            <a:endParaRPr lang="en-US" sz="1400" dirty="0"/>
          </a:p>
        </p:txBody>
      </p:sp>
      <p:sp>
        <p:nvSpPr>
          <p:cNvPr id="18" name="Text 15"/>
          <p:cNvSpPr/>
          <p:nvPr/>
        </p:nvSpPr>
        <p:spPr>
          <a:xfrm>
            <a:off x="1631950" y="4305548"/>
            <a:ext cx="414667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6F9"/>
                </a:solidFill>
                <a:latin typeface="Public Sans" pitchFamily="34" charset="0"/>
                <a:ea typeface="Public Sans" pitchFamily="34" charset="-122"/>
                <a:cs typeface="Public Sans" pitchFamily="34" charset="-120"/>
              </a:rPr>
              <a:t>Watch the market</a:t>
            </a:r>
            <a:endParaRPr lang="en-US" sz="1400" dirty="0"/>
          </a:p>
        </p:txBody>
      </p:sp>
      <p:sp>
        <p:nvSpPr>
          <p:cNvPr id="19" name="Text 16"/>
          <p:cNvSpPr/>
          <p:nvPr/>
        </p:nvSpPr>
        <p:spPr>
          <a:xfrm>
            <a:off x="1631950" y="4567138"/>
            <a:ext cx="4146677"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8E8"/>
                </a:solidFill>
                <a:latin typeface="Public Sans" pitchFamily="34" charset="0"/>
                <a:ea typeface="Public Sans" pitchFamily="34" charset="-122"/>
                <a:cs typeface="Public Sans" pitchFamily="34" charset="-120"/>
              </a:rPr>
              <a:t>A stock correction is the risk to spending.</a:t>
            </a:r>
            <a:endParaRPr lang="en-US" sz="1200" dirty="0"/>
          </a:p>
        </p:txBody>
      </p:sp>
      <p:sp>
        <p:nvSpPr>
          <p:cNvPr id="20" name="Shape 17"/>
          <p:cNvSpPr/>
          <p:nvPr/>
        </p:nvSpPr>
        <p:spPr>
          <a:xfrm>
            <a:off x="6197600" y="1803350"/>
            <a:ext cx="5181600" cy="3316039"/>
          </a:xfrm>
          <a:prstGeom prst="rect">
            <a:avLst/>
          </a:prstGeom>
          <a:solidFill>
            <a:srgbClr val="E7EEF6"/>
          </a:solidFill>
          <a:ln/>
        </p:spPr>
      </p:sp>
      <p:pic>
        <p:nvPicPr>
          <p:cNvPr id="21" name="Image 1" descr="arrow-down">    </p:cNvPr>
          <p:cNvPicPr>
            <a:picLocks noChangeAspect="1"/>
          </p:cNvPicPr>
          <p:nvPr/>
        </p:nvPicPr>
        <p:blipFill>
          <a:blip r:embed="rId2"/>
          <a:srcRect l="0" r="0" t="0" b="0"/>
          <a:stretch/>
        </p:blipFill>
        <p:spPr>
          <a:xfrm>
            <a:off x="6375400" y="1981150"/>
            <a:ext cx="203200" cy="279400"/>
          </a:xfrm>
          <a:prstGeom prst="rect">
            <a:avLst/>
          </a:prstGeom>
        </p:spPr>
      </p:pic>
      <p:sp>
        <p:nvSpPr>
          <p:cNvPr id="22" name="Text 18"/>
          <p:cNvSpPr/>
          <p:nvPr/>
        </p:nvSpPr>
        <p:spPr>
          <a:xfrm>
            <a:off x="6680200" y="1983680"/>
            <a:ext cx="203835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5DAA"/>
                </a:solidFill>
                <a:latin typeface="Public Sans" pitchFamily="34" charset="0"/>
                <a:ea typeface="Public Sans" pitchFamily="34" charset="-122"/>
                <a:cs typeface="Public Sans" pitchFamily="34" charset="-120"/>
              </a:rPr>
              <a:t>Bottom of the K</a:t>
            </a:r>
            <a:endParaRPr lang="en-US" sz="1800" dirty="0"/>
          </a:p>
        </p:txBody>
      </p:sp>
      <p:sp>
        <p:nvSpPr>
          <p:cNvPr id="23" name="Shape 19"/>
          <p:cNvSpPr/>
          <p:nvPr/>
        </p:nvSpPr>
        <p:spPr>
          <a:xfrm>
            <a:off x="6378575" y="2352625"/>
            <a:ext cx="4819650" cy="798413"/>
          </a:xfrm>
          <a:prstGeom prst="rect">
            <a:avLst/>
          </a:prstGeom>
          <a:solidFill>
            <a:srgbClr val="FBFCFD"/>
          </a:solidFill>
          <a:ln w="6350">
            <a:solidFill>
              <a:srgbClr val="D5DEE8"/>
            </a:solidFill>
            <a:prstDash val="solid"/>
          </a:ln>
        </p:spPr>
      </p:sp>
      <p:sp>
        <p:nvSpPr>
          <p:cNvPr id="24" name="Text 20"/>
          <p:cNvSpPr/>
          <p:nvPr/>
        </p:nvSpPr>
        <p:spPr>
          <a:xfrm>
            <a:off x="6534150" y="2574032"/>
            <a:ext cx="355600" cy="355600"/>
          </a:xfrm>
          <a:prstGeom prst="roundRect">
            <a:avLst>
              <a:gd name="adj" fmla="val 50000"/>
            </a:avLst>
          </a:prstGeom>
          <a:solidFill>
            <a:srgbClr val="005DAA"/>
          </a:solidFill>
          <a:ln/>
        </p:spPr>
        <p:txBody>
          <a:bodyPr wrap="square" lIns="0" tIns="0" rIns="0" bIns="0" rtlCol="0" anchor="ctr">
            <a:normAutofit/>
          </a:bodyPr>
          <a:lstStyle/>
          <a:p>
            <a:pPr algn="ctr" indent="0" marL="0">
              <a:lnSpc>
                <a:spcPts val="1960"/>
              </a:lnSpc>
              <a:buNone/>
            </a:pPr>
            <a:r>
              <a:rPr lang="en-US" sz="1400" b="1" dirty="0">
                <a:solidFill>
                  <a:srgbClr val="F4F6F9"/>
                </a:solidFill>
                <a:latin typeface="Public Sans" pitchFamily="34" charset="0"/>
                <a:ea typeface="Public Sans" pitchFamily="34" charset="-122"/>
                <a:cs typeface="Public Sans" pitchFamily="34" charset="-120"/>
              </a:rPr>
              <a:t>1</a:t>
            </a:r>
            <a:endParaRPr lang="en-US" sz="1400" dirty="0"/>
          </a:p>
        </p:txBody>
      </p:sp>
      <p:sp>
        <p:nvSpPr>
          <p:cNvPr id="25" name="Text 21"/>
          <p:cNvSpPr/>
          <p:nvPr/>
        </p:nvSpPr>
        <p:spPr>
          <a:xfrm>
            <a:off x="7016750" y="2518172"/>
            <a:ext cx="414667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A2240"/>
                </a:solidFill>
                <a:latin typeface="Public Sans" pitchFamily="34" charset="0"/>
                <a:ea typeface="Public Sans" pitchFamily="34" charset="-122"/>
                <a:cs typeface="Public Sans" pitchFamily="34" charset="-120"/>
              </a:rPr>
              <a:t>Draw down savings</a:t>
            </a:r>
            <a:endParaRPr lang="en-US" sz="1400" dirty="0"/>
          </a:p>
        </p:txBody>
      </p:sp>
      <p:sp>
        <p:nvSpPr>
          <p:cNvPr id="26" name="Text 22"/>
          <p:cNvSpPr/>
          <p:nvPr/>
        </p:nvSpPr>
        <p:spPr>
          <a:xfrm>
            <a:off x="7016750" y="2779762"/>
            <a:ext cx="4146677"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B5B6B"/>
                </a:solidFill>
                <a:latin typeface="Public Sans" pitchFamily="34" charset="0"/>
                <a:ea typeface="Public Sans" pitchFamily="34" charset="-122"/>
                <a:cs typeface="Public Sans" pitchFamily="34" charset="-120"/>
              </a:rPr>
              <a:t>The saving rate was 2.6% in April.</a:t>
            </a:r>
            <a:endParaRPr lang="en-US" sz="1200" dirty="0"/>
          </a:p>
        </p:txBody>
      </p:sp>
      <p:sp>
        <p:nvSpPr>
          <p:cNvPr id="27" name="Shape 23"/>
          <p:cNvSpPr/>
          <p:nvPr/>
        </p:nvSpPr>
        <p:spPr>
          <a:xfrm>
            <a:off x="6378575" y="3246289"/>
            <a:ext cx="4819650" cy="798463"/>
          </a:xfrm>
          <a:prstGeom prst="rect">
            <a:avLst/>
          </a:prstGeom>
          <a:solidFill>
            <a:srgbClr val="FBFCFD"/>
          </a:solidFill>
          <a:ln w="6350">
            <a:solidFill>
              <a:srgbClr val="D5DEE8"/>
            </a:solidFill>
            <a:prstDash val="solid"/>
          </a:ln>
        </p:spPr>
      </p:sp>
      <p:sp>
        <p:nvSpPr>
          <p:cNvPr id="28" name="Text 24"/>
          <p:cNvSpPr/>
          <p:nvPr/>
        </p:nvSpPr>
        <p:spPr>
          <a:xfrm>
            <a:off x="6534150" y="3467695"/>
            <a:ext cx="355600" cy="355600"/>
          </a:xfrm>
          <a:prstGeom prst="roundRect">
            <a:avLst>
              <a:gd name="adj" fmla="val 50000"/>
            </a:avLst>
          </a:prstGeom>
          <a:solidFill>
            <a:srgbClr val="005DAA"/>
          </a:solidFill>
          <a:ln/>
        </p:spPr>
        <p:txBody>
          <a:bodyPr wrap="square" lIns="0" tIns="0" rIns="0" bIns="0" rtlCol="0" anchor="ctr">
            <a:normAutofit/>
          </a:bodyPr>
          <a:lstStyle/>
          <a:p>
            <a:pPr algn="ctr" indent="0" marL="0">
              <a:lnSpc>
                <a:spcPts val="1960"/>
              </a:lnSpc>
              <a:buNone/>
            </a:pPr>
            <a:r>
              <a:rPr lang="en-US" sz="1400" b="1" dirty="0">
                <a:solidFill>
                  <a:srgbClr val="F4F6F9"/>
                </a:solidFill>
                <a:latin typeface="Public Sans" pitchFamily="34" charset="0"/>
                <a:ea typeface="Public Sans" pitchFamily="34" charset="-122"/>
                <a:cs typeface="Public Sans" pitchFamily="34" charset="-120"/>
              </a:rPr>
              <a:t>2</a:t>
            </a:r>
            <a:endParaRPr lang="en-US" sz="1400" dirty="0"/>
          </a:p>
        </p:txBody>
      </p:sp>
      <p:sp>
        <p:nvSpPr>
          <p:cNvPr id="29" name="Text 25"/>
          <p:cNvSpPr/>
          <p:nvPr/>
        </p:nvSpPr>
        <p:spPr>
          <a:xfrm>
            <a:off x="7016750" y="3411835"/>
            <a:ext cx="414667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A2240"/>
                </a:solidFill>
                <a:latin typeface="Public Sans" pitchFamily="34" charset="0"/>
                <a:ea typeface="Public Sans" pitchFamily="34" charset="-122"/>
                <a:cs typeface="Public Sans" pitchFamily="34" charset="-120"/>
              </a:rPr>
              <a:t>Borrow more</a:t>
            </a:r>
            <a:endParaRPr lang="en-US" sz="1400" dirty="0"/>
          </a:p>
        </p:txBody>
      </p:sp>
      <p:sp>
        <p:nvSpPr>
          <p:cNvPr id="30" name="Text 26"/>
          <p:cNvSpPr/>
          <p:nvPr/>
        </p:nvSpPr>
        <p:spPr>
          <a:xfrm>
            <a:off x="7016750" y="3673425"/>
            <a:ext cx="4146677"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B5B6B"/>
                </a:solidFill>
                <a:latin typeface="Public Sans" pitchFamily="34" charset="0"/>
                <a:ea typeface="Public Sans" pitchFamily="34" charset="-122"/>
                <a:cs typeface="Public Sans" pitchFamily="34" charset="-120"/>
              </a:rPr>
              <a:t>Revolving credit ran 3.8% above a year earlier in Q2.</a:t>
            </a:r>
            <a:endParaRPr lang="en-US" sz="1200" dirty="0"/>
          </a:p>
        </p:txBody>
      </p:sp>
      <p:sp>
        <p:nvSpPr>
          <p:cNvPr id="31" name="Shape 27"/>
          <p:cNvSpPr/>
          <p:nvPr/>
        </p:nvSpPr>
        <p:spPr>
          <a:xfrm>
            <a:off x="6378575" y="4140002"/>
            <a:ext cx="4819650" cy="798413"/>
          </a:xfrm>
          <a:prstGeom prst="rect">
            <a:avLst/>
          </a:prstGeom>
          <a:solidFill>
            <a:srgbClr val="FBFCFD"/>
          </a:solidFill>
          <a:ln w="6350">
            <a:solidFill>
              <a:srgbClr val="D5DEE8"/>
            </a:solidFill>
            <a:prstDash val="solid"/>
          </a:ln>
        </p:spPr>
      </p:sp>
      <p:sp>
        <p:nvSpPr>
          <p:cNvPr id="32" name="Text 28"/>
          <p:cNvSpPr/>
          <p:nvPr/>
        </p:nvSpPr>
        <p:spPr>
          <a:xfrm>
            <a:off x="6534150" y="4361408"/>
            <a:ext cx="355600" cy="355600"/>
          </a:xfrm>
          <a:prstGeom prst="roundRect">
            <a:avLst>
              <a:gd name="adj" fmla="val 50000"/>
            </a:avLst>
          </a:prstGeom>
          <a:solidFill>
            <a:srgbClr val="005DAA"/>
          </a:solidFill>
          <a:ln/>
        </p:spPr>
        <p:txBody>
          <a:bodyPr wrap="square" lIns="0" tIns="0" rIns="0" bIns="0" rtlCol="0" anchor="ctr">
            <a:normAutofit/>
          </a:bodyPr>
          <a:lstStyle/>
          <a:p>
            <a:pPr algn="ctr" indent="0" marL="0">
              <a:lnSpc>
                <a:spcPts val="1960"/>
              </a:lnSpc>
              <a:buNone/>
            </a:pPr>
            <a:r>
              <a:rPr lang="en-US" sz="1400" b="1" dirty="0">
                <a:solidFill>
                  <a:srgbClr val="F4F6F9"/>
                </a:solidFill>
                <a:latin typeface="Public Sans" pitchFamily="34" charset="0"/>
                <a:ea typeface="Public Sans" pitchFamily="34" charset="-122"/>
                <a:cs typeface="Public Sans" pitchFamily="34" charset="-120"/>
              </a:rPr>
              <a:t>3</a:t>
            </a:r>
            <a:endParaRPr lang="en-US" sz="1400" dirty="0"/>
          </a:p>
        </p:txBody>
      </p:sp>
      <p:sp>
        <p:nvSpPr>
          <p:cNvPr id="33" name="Text 29"/>
          <p:cNvSpPr/>
          <p:nvPr/>
        </p:nvSpPr>
        <p:spPr>
          <a:xfrm>
            <a:off x="7016750" y="4305548"/>
            <a:ext cx="414667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A2240"/>
                </a:solidFill>
                <a:latin typeface="Public Sans" pitchFamily="34" charset="0"/>
                <a:ea typeface="Public Sans" pitchFamily="34" charset="-122"/>
                <a:cs typeface="Public Sans" pitchFamily="34" charset="-120"/>
              </a:rPr>
              <a:t>Trade down or cut back</a:t>
            </a:r>
            <a:endParaRPr lang="en-US" sz="1400" dirty="0"/>
          </a:p>
        </p:txBody>
      </p:sp>
      <p:sp>
        <p:nvSpPr>
          <p:cNvPr id="34" name="Text 30"/>
          <p:cNvSpPr/>
          <p:nvPr/>
        </p:nvSpPr>
        <p:spPr>
          <a:xfrm>
            <a:off x="7016750" y="4567138"/>
            <a:ext cx="4146677"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B5B6B"/>
                </a:solidFill>
                <a:latin typeface="Public Sans" pitchFamily="34" charset="0"/>
                <a:ea typeface="Public Sans" pitchFamily="34" charset="-122"/>
                <a:cs typeface="Public Sans" pitchFamily="34" charset="-120"/>
              </a:rPr>
              <a:t>Lower-quality goods, less discretionary spending.</a:t>
            </a:r>
            <a:endParaRPr lang="en-US" sz="1200" dirty="0"/>
          </a:p>
        </p:txBody>
      </p:sp>
      <p:sp>
        <p:nvSpPr>
          <p:cNvPr id="35" name="Text 31"/>
          <p:cNvSpPr/>
          <p:nvPr/>
        </p:nvSpPr>
        <p:spPr>
          <a:xfrm>
            <a:off x="812800" y="5322590"/>
            <a:ext cx="10566400" cy="519410"/>
          </a:xfrm>
          <a:prstGeom prst="rect">
            <a:avLst/>
          </a:prstGeom>
          <a:solidFill>
            <a:srgbClr val="FFDD00"/>
          </a:solidFill>
          <a:ln/>
        </p:spPr>
        <p:txBody>
          <a:bodyPr wrap="square" lIns="228600" tIns="139700" rIns="0" bIns="114300" rtlCol="0" anchor="t">
            <a:normAutofit/>
          </a:bodyPr>
          <a:lstStyle/>
          <a:p>
            <a:pPr algn="l" indent="0" marL="0">
              <a:lnSpc>
                <a:spcPts val="1890"/>
              </a:lnSpc>
              <a:buNone/>
            </a:pPr>
            <a:r>
              <a:rPr lang="en-US" sz="1400" b="1" dirty="0">
                <a:solidFill>
                  <a:srgbClr val="0A2240"/>
                </a:solidFill>
                <a:latin typeface="Public Sans" pitchFamily="34" charset="0"/>
                <a:ea typeface="Public Sans" pitchFamily="34" charset="-122"/>
                <a:cs typeface="Public Sans" pitchFamily="34" charset="-120"/>
              </a:rPr>
              <a:t>The “average” consumer hides two very different customers: steady growth on top, diverging choices underneath.</a:t>
            </a:r>
            <a:endParaRPr lang="en-US" sz="1400" dirty="0"/>
          </a:p>
        </p:txBody>
      </p:sp>
      <p:sp>
        <p:nvSpPr>
          <p:cNvPr id="36" name="Text 32"/>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B"/>
                </a:solidFill>
                <a:latin typeface="Public Sans" pitchFamily="34" charset="0"/>
                <a:ea typeface="Public Sans" pitchFamily="34" charset="-122"/>
                <a:cs typeface="Public Sans" pitchFamily="34" charset="-120"/>
              </a:rPr>
              <a:t>Source: RBC Economics (Nov 2025; Jun, Sep 2026)</a:t>
            </a:r>
            <a:endParaRPr lang="en-US" sz="1200" dirty="0"/>
          </a:p>
        </p:txBody>
      </p:sp>
      <p:sp>
        <p:nvSpPr>
          <p:cNvPr id="37" name="Text 33"/>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B"/>
                </a:solidFill>
                <a:latin typeface="Public Sans" pitchFamily="34" charset="0"/>
                <a:ea typeface="Public Sans" pitchFamily="34" charset="-122"/>
                <a:cs typeface="Public Sans" pitchFamily="34" charset="-120"/>
              </a:rPr>
              <a:t>9</a:t>
            </a:r>
            <a:endParaRPr lang="en-US" sz="1200" dirty="0"/>
          </a:p>
        </p:txBody>
      </p:sp>
    </p:spTree>
  </p:cSld>
  <p:clrMapOvr>
    <a:masterClrMapping/>
  </p:clrMapOvr>
</p:sld>
</file>

<file path=ppt/theme/theme1.xml><?xml version="1.0" encoding="utf-8"?>
<a:theme xmlns:a="http://schemas.openxmlformats.org/drawingml/2006/main" name="US Economy: Three Themes">
  <a:themeElements>
    <a:clrScheme name="US Economy: Three Themes">
      <a:dk1>
        <a:srgbClr val="0A2240"/>
      </a:dk1>
      <a:lt1>
        <a:srgbClr val="F4F6F9"/>
      </a:lt1>
      <a:dk2>
        <a:srgbClr val="45576E"/>
      </a:dk2>
      <a:lt2>
        <a:srgbClr val="DDE1E7"/>
      </a:lt2>
      <a:accent1>
        <a:srgbClr val="005DAA"/>
      </a:accent1>
      <a:accent2>
        <a:srgbClr val="FFDD00"/>
      </a:accent2>
      <a:accent3>
        <a:srgbClr val="9FB4CA"/>
      </a:accent3>
      <a:accent4>
        <a:srgbClr val="123560"/>
      </a:accent4>
      <a:accent5>
        <a:srgbClr val="9CC3E6"/>
      </a:accent5>
      <a:accent6>
        <a:srgbClr val="5C9BD6"/>
      </a:accent6>
      <a:hlink>
        <a:srgbClr val="0563C1"/>
      </a:hlink>
      <a:folHlink>
        <a:srgbClr val="954F72"/>
      </a:folHlink>
    </a:clrScheme>
    <a:fontScheme name="US Economy: Three Themes">
      <a:majorFont>
        <a:latin typeface="Public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 Economy: Three Themes</dc:title>
  <dc:subject/>
  <dc:creator/>
  <cp:lastModifiedBy/>
  <cp:revision>1</cp:revision>
  <dcterms:created xsi:type="dcterms:W3CDTF">2026-10-02T02:05:44Z</dcterms:created>
  <dcterms:modified xsi:type="dcterms:W3CDTF">2026-10-02T02:05:44Z</dcterms:modified>
</cp:coreProperties>
</file>